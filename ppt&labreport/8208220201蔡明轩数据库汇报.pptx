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7" r:id="rId3"/>
    <p:sldId id="259" r:id="rId5"/>
    <p:sldId id="260" r:id="rId6"/>
    <p:sldId id="269" r:id="rId7"/>
    <p:sldId id="270" r:id="rId8"/>
    <p:sldId id="271" r:id="rId9"/>
    <p:sldId id="272" r:id="rId10"/>
    <p:sldId id="273" r:id="rId11"/>
    <p:sldId id="274" r:id="rId12"/>
    <p:sldId id="278" r:id="rId13"/>
    <p:sldId id="279" r:id="rId14"/>
    <p:sldId id="280" r:id="rId15"/>
    <p:sldId id="281" r:id="rId16"/>
    <p:sldId id="284" r:id="rId17"/>
    <p:sldId id="285" r:id="rId18"/>
    <p:sldId id="286" r:id="rId19"/>
    <p:sldId id="319" r:id="rId20"/>
    <p:sldId id="320" r:id="rId21"/>
    <p:sldId id="321" r:id="rId22"/>
    <p:sldId id="322" r:id="rId23"/>
    <p:sldId id="323" r:id="rId24"/>
    <p:sldId id="324" r:id="rId25"/>
    <p:sldId id="328" r:id="rId26"/>
    <p:sldId id="290" r:id="rId27"/>
    <p:sldId id="292" r:id="rId28"/>
    <p:sldId id="325" r:id="rId29"/>
    <p:sldId id="326" r:id="rId30"/>
    <p:sldId id="327" r:id="rId31"/>
    <p:sldId id="329" r:id="rId32"/>
    <p:sldId id="331" r:id="rId33"/>
    <p:sldId id="330" r:id="rId34"/>
    <p:sldId id="297" r:id="rId35"/>
    <p:sldId id="298" r:id="rId36"/>
    <p:sldId id="335" r:id="rId37"/>
    <p:sldId id="299" r:id="rId38"/>
    <p:sldId id="333" r:id="rId39"/>
    <p:sldId id="302" r:id="rId40"/>
  </p:sldIdLst>
  <p:sldSz cx="12192000" cy="6858000"/>
  <p:notesSz cx="6858000" cy="9144000"/>
  <p:embeddedFontLst>
    <p:embeddedFont>
      <p:font typeface="华文新魏" panose="02010800040101010101" charset="-122"/>
      <p:regular r:id="rId44"/>
    </p:embeddedFont>
    <p:embeddedFont>
      <p:font typeface="微软雅黑" panose="020B0503020204020204" charset="-122"/>
      <p:regular r:id="rId45"/>
    </p:embeddedFont>
    <p:embeddedFont>
      <p:font typeface="等线" panose="02010600030101010101" charset="-122"/>
      <p:regular r:id="rId46"/>
    </p:embeddedFont>
    <p:embeddedFont>
      <p:font typeface="隶书" panose="02010509060101010101" charset="-122"/>
      <p:regular r:id="rId47"/>
    </p:embeddedFont>
    <p:embeddedFont>
      <p:font typeface="Consolas" panose="020B0609020204030204" charset="0"/>
      <p:regular r:id="rId48"/>
      <p:bold r:id="rId49"/>
      <p:italic r:id="rId50"/>
      <p:boldItalic r:id="rId51"/>
    </p:embeddedFont>
  </p:embeddedFontLst>
  <p:custDataLst>
    <p:tags r:id="rId5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744" y="108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2" Type="http://schemas.openxmlformats.org/officeDocument/2006/relationships/tags" Target="tags/tag196.xml"/><Relationship Id="rId51" Type="http://schemas.openxmlformats.org/officeDocument/2006/relationships/font" Target="fonts/font8.fntdata"/><Relationship Id="rId50" Type="http://schemas.openxmlformats.org/officeDocument/2006/relationships/font" Target="fonts/font7.fntdata"/><Relationship Id="rId5" Type="http://schemas.openxmlformats.org/officeDocument/2006/relationships/slide" Target="slides/slide2.xml"/><Relationship Id="rId49" Type="http://schemas.openxmlformats.org/officeDocument/2006/relationships/font" Target="fonts/font6.fntdata"/><Relationship Id="rId48" Type="http://schemas.openxmlformats.org/officeDocument/2006/relationships/font" Target="fonts/font5.fntdata"/><Relationship Id="rId47" Type="http://schemas.openxmlformats.org/officeDocument/2006/relationships/font" Target="fonts/font4.fntdata"/><Relationship Id="rId46" Type="http://schemas.openxmlformats.org/officeDocument/2006/relationships/font" Target="fonts/font3.fntdata"/><Relationship Id="rId45" Type="http://schemas.openxmlformats.org/officeDocument/2006/relationships/font" Target="fonts/font2.fntdata"/><Relationship Id="rId44" Type="http://schemas.openxmlformats.org/officeDocument/2006/relationships/font" Target="fonts/font1.fntdata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FD8436-C1C4-43A7-B5D7-A8BCFEDD7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8A5557-2F79-4D8C-9270-060B10AF3F1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A5557-2F79-4D8C-9270-060B10AF3F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A5557-2F79-4D8C-9270-060B10AF3F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A5557-2F79-4D8C-9270-060B10AF3F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A5557-2F79-4D8C-9270-060B10AF3F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A5557-2F79-4D8C-9270-060B10AF3F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A5557-2F79-4D8C-9270-060B10AF3F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A5557-2F79-4D8C-9270-060B10AF3F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A5557-2F79-4D8C-9270-060B10AF3F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A5557-2F79-4D8C-9270-060B10AF3F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A5557-2F79-4D8C-9270-060B10AF3F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A5557-2F79-4D8C-9270-060B10AF3F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A5557-2F79-4D8C-9270-060B10AF3F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A5557-2F79-4D8C-9270-060B10AF3F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A5557-2F79-4D8C-9270-060B10AF3F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A5557-2F79-4D8C-9270-060B10AF3F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A5557-2F79-4D8C-9270-060B10AF3F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A5557-2F79-4D8C-9270-060B10AF3F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A5557-2F79-4D8C-9270-060B10AF3F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A5557-2F79-4D8C-9270-060B10AF3F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A5557-2F79-4D8C-9270-060B10AF3F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A5557-2F79-4D8C-9270-060B10AF3F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A5557-2F79-4D8C-9270-060B10AF3F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A5557-2F79-4D8C-9270-060B10AF3F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A5557-2F79-4D8C-9270-060B10AF3F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A5557-2F79-4D8C-9270-060B10AF3F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A5557-2F79-4D8C-9270-060B10AF3F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A5557-2F79-4D8C-9270-060B10AF3F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A5557-2F79-4D8C-9270-060B10AF3F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A5557-2F79-4D8C-9270-060B10AF3F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A5557-2F79-4D8C-9270-060B10AF3F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A5557-2F79-4D8C-9270-060B10AF3F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A5557-2F79-4D8C-9270-060B10AF3F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A5557-2F79-4D8C-9270-060B10AF3F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A5557-2F79-4D8C-9270-060B10AF3F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A5557-2F79-4D8C-9270-060B10AF3F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A5557-2F79-4D8C-9270-060B10AF3F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A5557-2F79-4D8C-9270-060B10AF3F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image" Target="../media/image2.png"/><Relationship Id="rId2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image" Target="../media/image3.png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image" Target="../media/image1.png"/><Relationship Id="rId2" Type="http://schemas.openxmlformats.org/officeDocument/2006/relationships/tags" Target="../tags/tag23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fdfffff"/>
          <p:cNvPicPr/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 flipH="1">
            <a:off x="1200" y="0"/>
            <a:ext cx="121896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  <p:custDataLst>
              <p:tags r:id="rId4"/>
            </p:custDataLst>
          </p:nvPr>
        </p:nvSpPr>
        <p:spPr>
          <a:xfrm>
            <a:off x="1104900" y="609600"/>
            <a:ext cx="7226300" cy="3165138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000">
                <a:gradFill>
                  <a:gsLst>
                    <a:gs pos="0">
                      <a:schemeClr val="accent1"/>
                    </a:gs>
                    <a:gs pos="99000">
                      <a:schemeClr val="accent1">
                        <a:lumMod val="75000"/>
                      </a:schemeClr>
                    </a:gs>
                  </a:gsLst>
                  <a:lin ang="10800000" scaled="0"/>
                </a:gra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1104900" y="3893725"/>
            <a:ext cx="7226300" cy="710175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ea"/>
                <a:ea typeface="+mn-ea"/>
                <a:cs typeface="+mn-ea"/>
                <a:sym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1104900" y="4821950"/>
            <a:ext cx="7226300" cy="5040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1"/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fffsf"/>
          <p:cNvPicPr/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200" y="0"/>
            <a:ext cx="121896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790700" y="635000"/>
            <a:ext cx="1992588" cy="4457700"/>
          </a:xfrm>
        </p:spPr>
        <p:txBody>
          <a:bodyPr vert="eaVert" wrap="square" anchor="b">
            <a:normAutofit/>
          </a:bodyPr>
          <a:lstStyle>
            <a:lvl1pPr algn="ctr">
              <a:defRPr sz="8000">
                <a:gradFill>
                  <a:gsLst>
                    <a:gs pos="0">
                      <a:schemeClr val="accent1"/>
                    </a:gs>
                    <a:gs pos="99000">
                      <a:schemeClr val="accent1">
                        <a:lumMod val="75000"/>
                      </a:schemeClr>
                    </a:gs>
                  </a:gsLst>
                  <a:lin ang="10800000" scaled="0"/>
                </a:gra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1"/>
          <p:cNvPicPr/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200" y="0"/>
            <a:ext cx="121896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1019504" y="3160175"/>
            <a:ext cx="10181896" cy="1541033"/>
          </a:xfrm>
        </p:spPr>
        <p:txBody>
          <a:bodyPr vert="horz" wrap="square" lIns="0" tIns="0" rIns="0" bIns="0" rtlCol="0" anchor="t">
            <a:normAutofit/>
          </a:bodyPr>
          <a:lstStyle>
            <a:lvl1pPr>
              <a:defRPr lang="zh-CN" altLang="en-US" sz="6000" dirty="0">
                <a:gradFill>
                  <a:gsLst>
                    <a:gs pos="0">
                      <a:schemeClr val="accent1"/>
                    </a:gs>
                    <a:gs pos="99000">
                      <a:schemeClr val="accent1">
                        <a:lumMod val="75000"/>
                      </a:schemeClr>
                    </a:gs>
                  </a:gsLst>
                  <a:lin ang="10800000" scaled="0"/>
                </a:gra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1019504" y="747588"/>
            <a:ext cx="10181896" cy="2288155"/>
          </a:xfrm>
        </p:spPr>
        <p:txBody>
          <a:bodyPr wrap="square" anchor="b">
            <a:normAutofit/>
          </a:bodyPr>
          <a:lstStyle>
            <a:lvl1pPr marL="0" indent="0" algn="l">
              <a:buNone/>
              <a:defRPr sz="3200">
                <a:gradFill>
                  <a:gsLst>
                    <a:gs pos="0">
                      <a:schemeClr val="accent1"/>
                    </a:gs>
                    <a:gs pos="99000">
                      <a:schemeClr val="accent1">
                        <a:lumMod val="75000"/>
                      </a:schemeClr>
                    </a:gs>
                  </a:gsLst>
                  <a:lin ang="10800000" scaled="0"/>
                </a:gra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49288" y="132950"/>
            <a:ext cx="10515600" cy="864000"/>
          </a:xfrm>
        </p:spPr>
        <p:txBody>
          <a:bodyPr wrap="square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fdfffff"/>
          <p:cNvPicPr/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200" y="0"/>
            <a:ext cx="121896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512900" y="1220789"/>
            <a:ext cx="10515000" cy="2642462"/>
          </a:xfrm>
        </p:spPr>
        <p:txBody>
          <a:bodyPr wrap="square" anchor="b">
            <a:normAutofit/>
          </a:bodyPr>
          <a:lstStyle>
            <a:lvl1pPr algn="r">
              <a:lnSpc>
                <a:spcPct val="100000"/>
              </a:lnSpc>
              <a:defRPr sz="79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</a:t>
            </a:r>
            <a:br>
              <a:rPr lang="zh-CN" altLang="en-US"/>
            </a:br>
            <a:r>
              <a:rPr lang="zh-CN" altLang="en-US"/>
              <a:t>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8"/>
            </p:custDataLst>
          </p:nvPr>
        </p:nvSpPr>
        <p:spPr>
          <a:xfrm>
            <a:off x="4305300" y="4064000"/>
            <a:ext cx="6722600" cy="1573210"/>
          </a:xfrm>
        </p:spPr>
        <p:txBody>
          <a:bodyPr wrap="square" anchor="t">
            <a:normAutofit/>
          </a:bodyPr>
          <a:lstStyle>
            <a:lvl1pPr marL="0" indent="0" algn="r">
              <a:lnSpc>
                <a:spcPct val="100000"/>
              </a:lnSpc>
              <a:buNone/>
              <a:defRPr sz="2000"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image" Target="../media/image4.png"/><Relationship Id="rId6" Type="http://schemas.openxmlformats.org/officeDocument/2006/relationships/tags" Target="../tags/tag29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35.xml"/><Relationship Id="rId12" Type="http://schemas.openxmlformats.org/officeDocument/2006/relationships/tags" Target="../tags/tag34.xml"/><Relationship Id="rId11" Type="http://schemas.openxmlformats.org/officeDocument/2006/relationships/tags" Target="../tags/tag33.xml"/><Relationship Id="rId10" Type="http://schemas.openxmlformats.org/officeDocument/2006/relationships/tags" Target="../tags/tag3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fsfsfsfsfsfsfs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200" y="497"/>
            <a:ext cx="12189600" cy="6857007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47700" y="149224"/>
            <a:ext cx="10706100" cy="810775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"/>
            </p:custDataLst>
          </p:nvPr>
        </p:nvSpPr>
        <p:spPr>
          <a:xfrm>
            <a:off x="647700" y="1172226"/>
            <a:ext cx="10706100" cy="5068874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gradFill>
            <a:gsLst>
              <a:gs pos="0">
                <a:schemeClr val="accent1"/>
              </a:gs>
              <a:gs pos="99000">
                <a:schemeClr val="accent1">
                  <a:lumMod val="75000"/>
                </a:schemeClr>
              </a:gs>
            </a:gsLst>
            <a:lin ang="10800000" scaled="0"/>
          </a:gradFill>
          <a:latin typeface="+mn-ea"/>
          <a:ea typeface="+mn-ea"/>
          <a:cs typeface="+mn-ea"/>
          <a:sym typeface="+mn-ea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1"/>
          </a:solidFill>
          <a:latin typeface="+mn-ea"/>
          <a:ea typeface="+mn-ea"/>
          <a:cs typeface="+mn-ea"/>
          <a:sym typeface="+mn-ea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accent1"/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accent1"/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accent1"/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8" Type="http://schemas.openxmlformats.org/officeDocument/2006/relationships/notesSlide" Target="../notesSlides/notesSlide2.xml"/><Relationship Id="rId27" Type="http://schemas.openxmlformats.org/officeDocument/2006/relationships/slideLayout" Target="../slideLayouts/slideLayout2.xml"/><Relationship Id="rId26" Type="http://schemas.openxmlformats.org/officeDocument/2006/relationships/tags" Target="../tags/tag64.xml"/><Relationship Id="rId25" Type="http://schemas.openxmlformats.org/officeDocument/2006/relationships/tags" Target="../tags/tag63.xml"/><Relationship Id="rId24" Type="http://schemas.openxmlformats.org/officeDocument/2006/relationships/tags" Target="../tags/tag62.xml"/><Relationship Id="rId23" Type="http://schemas.openxmlformats.org/officeDocument/2006/relationships/tags" Target="../tags/tag61.xml"/><Relationship Id="rId22" Type="http://schemas.openxmlformats.org/officeDocument/2006/relationships/tags" Target="../tags/tag60.xml"/><Relationship Id="rId21" Type="http://schemas.openxmlformats.org/officeDocument/2006/relationships/tags" Target="../tags/tag59.xml"/><Relationship Id="rId20" Type="http://schemas.openxmlformats.org/officeDocument/2006/relationships/tags" Target="../tags/tag58.xml"/><Relationship Id="rId2" Type="http://schemas.openxmlformats.org/officeDocument/2006/relationships/tags" Target="../tags/tag40.xml"/><Relationship Id="rId19" Type="http://schemas.openxmlformats.org/officeDocument/2006/relationships/tags" Target="../tags/tag57.xml"/><Relationship Id="rId18" Type="http://schemas.openxmlformats.org/officeDocument/2006/relationships/tags" Target="../tags/tag56.xml"/><Relationship Id="rId17" Type="http://schemas.openxmlformats.org/officeDocument/2006/relationships/tags" Target="../tags/tag55.xml"/><Relationship Id="rId16" Type="http://schemas.openxmlformats.org/officeDocument/2006/relationships/tags" Target="../tags/tag54.xml"/><Relationship Id="rId15" Type="http://schemas.openxmlformats.org/officeDocument/2006/relationships/tags" Target="../tags/tag53.xml"/><Relationship Id="rId14" Type="http://schemas.openxmlformats.org/officeDocument/2006/relationships/tags" Target="../tags/tag52.xml"/><Relationship Id="rId13" Type="http://schemas.openxmlformats.org/officeDocument/2006/relationships/tags" Target="../tags/tag51.xml"/><Relationship Id="rId12" Type="http://schemas.openxmlformats.org/officeDocument/2006/relationships/tags" Target="../tags/tag50.xml"/><Relationship Id="rId11" Type="http://schemas.openxmlformats.org/officeDocument/2006/relationships/tags" Target="../tags/tag49.xml"/><Relationship Id="rId10" Type="http://schemas.openxmlformats.org/officeDocument/2006/relationships/tags" Target="../tags/tag48.xml"/><Relationship Id="rId1" Type="http://schemas.openxmlformats.org/officeDocument/2006/relationships/tags" Target="../tags/tag39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3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4.xml"/><Relationship Id="rId6" Type="http://schemas.openxmlformats.org/officeDocument/2006/relationships/tags" Target="../tags/tag71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3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4.xml"/><Relationship Id="rId7" Type="http://schemas.openxmlformats.org/officeDocument/2006/relationships/tags" Target="../tags/tag8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4.xml"/><Relationship Id="rId5" Type="http://schemas.openxmlformats.org/officeDocument/2006/relationships/tags" Target="../tags/tag86.xml"/><Relationship Id="rId4" Type="http://schemas.openxmlformats.org/officeDocument/2006/relationships/image" Target="../media/image10.png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tags" Target="../tags/tag83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.xml"/><Relationship Id="rId8" Type="http://schemas.openxmlformats.org/officeDocument/2006/relationships/vmlDrawing" Target="../drawings/vmlDrawing1.vml"/><Relationship Id="rId7" Type="http://schemas.openxmlformats.org/officeDocument/2006/relationships/slideLayout" Target="../slideLayouts/slideLayout4.xml"/><Relationship Id="rId6" Type="http://schemas.openxmlformats.org/officeDocument/2006/relationships/tags" Target="../tags/tag90.xml"/><Relationship Id="rId5" Type="http://schemas.openxmlformats.org/officeDocument/2006/relationships/image" Target="../media/image11.emf"/><Relationship Id="rId4" Type="http://schemas.openxmlformats.org/officeDocument/2006/relationships/oleObject" Target="../embeddings/oleObject1.bin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3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tags" Target="../tags/tag91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97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tags" Target="../tags/tag94.xm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4.xml"/><Relationship Id="rId5" Type="http://schemas.openxmlformats.org/officeDocument/2006/relationships/tags" Target="../tags/tag101.xml"/><Relationship Id="rId4" Type="http://schemas.openxmlformats.org/officeDocument/2006/relationships/image" Target="../media/image12.png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tags" Target="../tags/tag98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105.xml"/><Relationship Id="rId8" Type="http://schemas.openxmlformats.org/officeDocument/2006/relationships/image" Target="../media/image17.png"/><Relationship Id="rId7" Type="http://schemas.openxmlformats.org/officeDocument/2006/relationships/image" Target="../media/image16.png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1" Type="http://schemas.openxmlformats.org/officeDocument/2006/relationships/notesSlide" Target="../notesSlides/notesSlide13.xml"/><Relationship Id="rId10" Type="http://schemas.openxmlformats.org/officeDocument/2006/relationships/slideLayout" Target="../slideLayouts/slideLayout4.xml"/><Relationship Id="rId1" Type="http://schemas.openxmlformats.org/officeDocument/2006/relationships/tags" Target="../tags/tag102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3.xml"/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" Type="http://schemas.openxmlformats.org/officeDocument/2006/relationships/tags" Target="../tags/tag106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4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tags" Target="../tags/tag109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115.xml"/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" Type="http://schemas.openxmlformats.org/officeDocument/2006/relationships/tags" Target="../tags/tag112.xml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7.xml"/><Relationship Id="rId6" Type="http://schemas.openxmlformats.org/officeDocument/2006/relationships/slideLayout" Target="../slideLayouts/slideLayout4.xml"/><Relationship Id="rId5" Type="http://schemas.openxmlformats.org/officeDocument/2006/relationships/tags" Target="../tags/tag119.xml"/><Relationship Id="rId4" Type="http://schemas.openxmlformats.org/officeDocument/2006/relationships/image" Target="../media/image18.png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tags" Target="../tags/tag116.xml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123.xml"/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" Type="http://schemas.openxmlformats.org/officeDocument/2006/relationships/tags" Target="../tags/tag120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9.xml"/><Relationship Id="rId7" Type="http://schemas.openxmlformats.org/officeDocument/2006/relationships/slideLayout" Target="../slideLayouts/slideLayout4.xml"/><Relationship Id="rId6" Type="http://schemas.openxmlformats.org/officeDocument/2006/relationships/tags" Target="../tags/tag12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" Type="http://schemas.openxmlformats.org/officeDocument/2006/relationships/tags" Target="../tags/tag124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0.xml"/><Relationship Id="rId7" Type="http://schemas.openxmlformats.org/officeDocument/2006/relationships/slideLayout" Target="../slideLayouts/slideLayout4.xml"/><Relationship Id="rId6" Type="http://schemas.openxmlformats.org/officeDocument/2006/relationships/tags" Target="../tags/tag13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tags" Target="../tags/tag130.xml"/><Relationship Id="rId2" Type="http://schemas.openxmlformats.org/officeDocument/2006/relationships/tags" Target="../tags/tag129.xml"/><Relationship Id="rId1" Type="http://schemas.openxmlformats.org/officeDocument/2006/relationships/tags" Target="../tags/tag128.xml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135.xml"/><Relationship Id="rId3" Type="http://schemas.openxmlformats.org/officeDocument/2006/relationships/tags" Target="../tags/tag134.xml"/><Relationship Id="rId2" Type="http://schemas.openxmlformats.org/officeDocument/2006/relationships/tags" Target="../tags/tag133.xml"/><Relationship Id="rId1" Type="http://schemas.openxmlformats.org/officeDocument/2006/relationships/tags" Target="../tags/tag132.xml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139.xml"/><Relationship Id="rId3" Type="http://schemas.openxmlformats.org/officeDocument/2006/relationships/tags" Target="../tags/tag138.xml"/><Relationship Id="rId2" Type="http://schemas.openxmlformats.org/officeDocument/2006/relationships/tags" Target="../tags/tag137.xml"/><Relationship Id="rId1" Type="http://schemas.openxmlformats.org/officeDocument/2006/relationships/tags" Target="../tags/tag136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png"/><Relationship Id="rId8" Type="http://schemas.openxmlformats.org/officeDocument/2006/relationships/image" Target="../media/image27.png"/><Relationship Id="rId7" Type="http://schemas.openxmlformats.org/officeDocument/2006/relationships/image" Target="../media/image26.png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tags" Target="../tags/tag142.xml"/><Relationship Id="rId2" Type="http://schemas.openxmlformats.org/officeDocument/2006/relationships/tags" Target="../tags/tag141.xml"/><Relationship Id="rId12" Type="http://schemas.openxmlformats.org/officeDocument/2006/relationships/notesSlide" Target="../notesSlides/notesSlide23.xml"/><Relationship Id="rId11" Type="http://schemas.openxmlformats.org/officeDocument/2006/relationships/slideLayout" Target="../slideLayouts/slideLayout4.xml"/><Relationship Id="rId10" Type="http://schemas.openxmlformats.org/officeDocument/2006/relationships/tags" Target="../tags/tag143.xml"/><Relationship Id="rId1" Type="http://schemas.openxmlformats.org/officeDocument/2006/relationships/tags" Target="../tags/tag140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3.xml"/><Relationship Id="rId3" Type="http://schemas.openxmlformats.org/officeDocument/2006/relationships/tags" Target="../tags/tag146.xml"/><Relationship Id="rId2" Type="http://schemas.openxmlformats.org/officeDocument/2006/relationships/tags" Target="../tags/tag145.xml"/><Relationship Id="rId1" Type="http://schemas.openxmlformats.org/officeDocument/2006/relationships/tags" Target="../tags/tag144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150.xml"/><Relationship Id="rId8" Type="http://schemas.openxmlformats.org/officeDocument/2006/relationships/image" Target="../media/image33.png"/><Relationship Id="rId7" Type="http://schemas.openxmlformats.org/officeDocument/2006/relationships/image" Target="../media/image32.png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3" Type="http://schemas.openxmlformats.org/officeDocument/2006/relationships/tags" Target="../tags/tag149.xml"/><Relationship Id="rId2" Type="http://schemas.openxmlformats.org/officeDocument/2006/relationships/tags" Target="../tags/tag148.xml"/><Relationship Id="rId11" Type="http://schemas.openxmlformats.org/officeDocument/2006/relationships/notesSlide" Target="../notesSlides/notesSlide25.xml"/><Relationship Id="rId10" Type="http://schemas.openxmlformats.org/officeDocument/2006/relationships/slideLayout" Target="../slideLayouts/slideLayout4.xml"/><Relationship Id="rId1" Type="http://schemas.openxmlformats.org/officeDocument/2006/relationships/tags" Target="../tags/tag147.xml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6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154.xml"/><Relationship Id="rId3" Type="http://schemas.openxmlformats.org/officeDocument/2006/relationships/tags" Target="../tags/tag153.xml"/><Relationship Id="rId2" Type="http://schemas.openxmlformats.org/officeDocument/2006/relationships/tags" Target="../tags/tag152.xml"/><Relationship Id="rId1" Type="http://schemas.openxmlformats.org/officeDocument/2006/relationships/tags" Target="../tags/tag151.xml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7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158.xml"/><Relationship Id="rId3" Type="http://schemas.openxmlformats.org/officeDocument/2006/relationships/tags" Target="../tags/tag157.xml"/><Relationship Id="rId2" Type="http://schemas.openxmlformats.org/officeDocument/2006/relationships/tags" Target="../tags/tag156.xml"/><Relationship Id="rId1" Type="http://schemas.openxmlformats.org/officeDocument/2006/relationships/tags" Target="../tags/tag155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8.xml"/><Relationship Id="rId7" Type="http://schemas.openxmlformats.org/officeDocument/2006/relationships/slideLayout" Target="../slideLayouts/slideLayout4.xml"/><Relationship Id="rId6" Type="http://schemas.openxmlformats.org/officeDocument/2006/relationships/tags" Target="../tags/tag16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3" Type="http://schemas.openxmlformats.org/officeDocument/2006/relationships/tags" Target="../tags/tag161.xml"/><Relationship Id="rId2" Type="http://schemas.openxmlformats.org/officeDocument/2006/relationships/tags" Target="../tags/tag160.xml"/><Relationship Id="rId1" Type="http://schemas.openxmlformats.org/officeDocument/2006/relationships/tags" Target="../tags/tag159.xml"/></Relationships>
</file>

<file path=ppt/slides/_rels/slide2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9.xml"/><Relationship Id="rId6" Type="http://schemas.openxmlformats.org/officeDocument/2006/relationships/slideLayout" Target="../slideLayouts/slideLayout4.xml"/><Relationship Id="rId5" Type="http://schemas.openxmlformats.org/officeDocument/2006/relationships/tags" Target="../tags/tag166.xml"/><Relationship Id="rId4" Type="http://schemas.openxmlformats.org/officeDocument/2006/relationships/image" Target="../media/image36.png"/><Relationship Id="rId3" Type="http://schemas.openxmlformats.org/officeDocument/2006/relationships/tags" Target="../tags/tag165.xml"/><Relationship Id="rId2" Type="http://schemas.openxmlformats.org/officeDocument/2006/relationships/tags" Target="../tags/tag164.xml"/><Relationship Id="rId1" Type="http://schemas.openxmlformats.org/officeDocument/2006/relationships/tags" Target="../tags/tag163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0.xml"/><Relationship Id="rId8" Type="http://schemas.openxmlformats.org/officeDocument/2006/relationships/slideLayout" Target="../slideLayouts/slideLayout4.xml"/><Relationship Id="rId7" Type="http://schemas.openxmlformats.org/officeDocument/2006/relationships/tags" Target="../tags/tag170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3" Type="http://schemas.openxmlformats.org/officeDocument/2006/relationships/tags" Target="../tags/tag169.xml"/><Relationship Id="rId2" Type="http://schemas.openxmlformats.org/officeDocument/2006/relationships/tags" Target="../tags/tag168.xml"/><Relationship Id="rId1" Type="http://schemas.openxmlformats.org/officeDocument/2006/relationships/tags" Target="../tags/tag167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1.xml"/><Relationship Id="rId8" Type="http://schemas.openxmlformats.org/officeDocument/2006/relationships/slideLayout" Target="../slideLayouts/slideLayout4.xml"/><Relationship Id="rId7" Type="http://schemas.openxmlformats.org/officeDocument/2006/relationships/tags" Target="../tags/tag174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3" Type="http://schemas.openxmlformats.org/officeDocument/2006/relationships/tags" Target="../tags/tag173.xml"/><Relationship Id="rId2" Type="http://schemas.openxmlformats.org/officeDocument/2006/relationships/tags" Target="../tags/tag172.xml"/><Relationship Id="rId1" Type="http://schemas.openxmlformats.org/officeDocument/2006/relationships/tags" Target="../tags/tag171.xml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2.xml"/><Relationship Id="rId4" Type="http://schemas.openxmlformats.org/officeDocument/2006/relationships/slideLayout" Target="../slideLayouts/slideLayout3.xml"/><Relationship Id="rId3" Type="http://schemas.openxmlformats.org/officeDocument/2006/relationships/tags" Target="../tags/tag177.xml"/><Relationship Id="rId2" Type="http://schemas.openxmlformats.org/officeDocument/2006/relationships/tags" Target="../tags/tag176.xml"/><Relationship Id="rId1" Type="http://schemas.openxmlformats.org/officeDocument/2006/relationships/tags" Target="../tags/tag175.xml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3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181.xml"/><Relationship Id="rId3" Type="http://schemas.openxmlformats.org/officeDocument/2006/relationships/tags" Target="../tags/tag180.xml"/><Relationship Id="rId2" Type="http://schemas.openxmlformats.org/officeDocument/2006/relationships/tags" Target="../tags/tag179.xml"/><Relationship Id="rId1" Type="http://schemas.openxmlformats.org/officeDocument/2006/relationships/tags" Target="../tags/tag178.xml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4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185.xml"/><Relationship Id="rId3" Type="http://schemas.openxmlformats.org/officeDocument/2006/relationships/tags" Target="../tags/tag184.xml"/><Relationship Id="rId2" Type="http://schemas.openxmlformats.org/officeDocument/2006/relationships/tags" Target="../tags/tag183.xml"/><Relationship Id="rId1" Type="http://schemas.openxmlformats.org/officeDocument/2006/relationships/tags" Target="../tags/tag182.xml"/></Relationships>
</file>

<file path=ppt/slides/_rels/slide3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5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189.xml"/><Relationship Id="rId3" Type="http://schemas.openxmlformats.org/officeDocument/2006/relationships/tags" Target="../tags/tag188.xml"/><Relationship Id="rId2" Type="http://schemas.openxmlformats.org/officeDocument/2006/relationships/tags" Target="../tags/tag187.xml"/><Relationship Id="rId1" Type="http://schemas.openxmlformats.org/officeDocument/2006/relationships/tags" Target="../tags/tag186.xml"/></Relationships>
</file>

<file path=ppt/slides/_rels/slide3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6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193.xml"/><Relationship Id="rId3" Type="http://schemas.openxmlformats.org/officeDocument/2006/relationships/tags" Target="../tags/tag192.xml"/><Relationship Id="rId2" Type="http://schemas.openxmlformats.org/officeDocument/2006/relationships/tags" Target="../tags/tag191.xml"/><Relationship Id="rId1" Type="http://schemas.openxmlformats.org/officeDocument/2006/relationships/tags" Target="../tags/tag190.xml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7.xml"/><Relationship Id="rId3" Type="http://schemas.openxmlformats.org/officeDocument/2006/relationships/slideLayout" Target="../slideLayouts/slideLayout5.xml"/><Relationship Id="rId2" Type="http://schemas.openxmlformats.org/officeDocument/2006/relationships/tags" Target="../tags/tag195.xml"/><Relationship Id="rId1" Type="http://schemas.openxmlformats.org/officeDocument/2006/relationships/tags" Target="../tags/tag19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226060" y="1316355"/>
            <a:ext cx="7226300" cy="3288030"/>
          </a:xfrm>
        </p:spPr>
        <p:txBody>
          <a:bodyPr wrap="square">
            <a:normAutofit fontScale="90000"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ea"/>
              </a:rPr>
              <a:t>Multi-Database Real-time Synchronization System</a:t>
            </a:r>
            <a:br>
              <a:rPr lang="zh-CN" altLang="en-US" dirty="0">
                <a:latin typeface="+mn-lt"/>
                <a:ea typeface="+mn-ea"/>
                <a:cs typeface="+mn-ea"/>
                <a:sym typeface="+mn-ea"/>
              </a:rPr>
            </a:br>
            <a:r>
              <a:rPr lang="zh-CN" altLang="en-US" dirty="0">
                <a:latin typeface="+mn-lt"/>
                <a:ea typeface="+mn-ea"/>
                <a:cs typeface="+mn-ea"/>
                <a:sym typeface="+mn-ea"/>
              </a:rPr>
              <a:t>DataSyncHub </a:t>
            </a:r>
            <a:br>
              <a:rPr lang="zh-CN" altLang="en-US" dirty="0">
                <a:latin typeface="+mn-lt"/>
                <a:ea typeface="+mn-ea"/>
                <a:cs typeface="+mn-ea"/>
                <a:sym typeface="+mn-ea"/>
              </a:rPr>
            </a:br>
            <a:r>
              <a:rPr lang="zh-CN" altLang="en-US" dirty="0">
                <a:latin typeface="+mn-lt"/>
                <a:ea typeface="+mn-ea"/>
                <a:cs typeface="+mn-ea"/>
                <a:sym typeface="+mn-ea"/>
              </a:rPr>
              <a:t>多数据库实时同步系统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>
          <a:xfrm>
            <a:off x="226060" y="4429760"/>
            <a:ext cx="6596380" cy="1685290"/>
          </a:xfrm>
        </p:spPr>
        <p:txBody>
          <a:bodyPr wrap="square">
            <a:normAutofit/>
          </a:bodyPr>
          <a:lstStyle/>
          <a:p>
            <a:r>
              <a:rPr lang="zh-CN" altLang="en-US" dirty="0">
                <a:latin typeface="+mn-lt"/>
                <a:sym typeface="+mn-lt"/>
              </a:rPr>
              <a:t>汇报</a:t>
            </a:r>
            <a:r>
              <a:rPr lang="zh-CN" altLang="en-US">
                <a:latin typeface="+mn-lt"/>
                <a:sym typeface="+mn-lt"/>
              </a:rPr>
              <a:t>人：</a:t>
            </a:r>
            <a:r>
              <a:rPr lang="zh-CN" altLang="en-US">
                <a:latin typeface="+mn-lt"/>
                <a:sym typeface="+mn-lt"/>
              </a:rPr>
              <a:t>蔡明轩</a:t>
            </a:r>
            <a:endParaRPr lang="zh-CN" altLang="en-US">
              <a:latin typeface="+mn-lt"/>
              <a:sym typeface="+mn-lt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790700" y="635000"/>
            <a:ext cx="1992313" cy="4457700"/>
          </a:xfrm>
        </p:spPr>
        <p:txBody>
          <a:bodyPr wrap="square">
            <a:normAutofit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目录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" name="椭圆 12"/>
          <p:cNvSpPr/>
          <p:nvPr>
            <p:custDataLst>
              <p:tags r:id="rId2"/>
            </p:custDataLst>
          </p:nvPr>
        </p:nvSpPr>
        <p:spPr>
          <a:xfrm>
            <a:off x="5701665" y="1061274"/>
            <a:ext cx="106045" cy="10604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图片 2" descr="未命名 -1"/>
          <p:cNvSpPr/>
          <p:nvPr>
            <p:custDataLst>
              <p:tags r:id="rId3"/>
            </p:custDataLst>
          </p:nvPr>
        </p:nvSpPr>
        <p:spPr>
          <a:xfrm>
            <a:off x="4799565" y="828427"/>
            <a:ext cx="5044603" cy="571739"/>
          </a:xfrm>
          <a:custGeom>
            <a:avLst/>
            <a:gdLst>
              <a:gd name="connsiteX0" fmla="*/ 4906291 w 5044603"/>
              <a:gd name="connsiteY0" fmla="*/ 571739 h 571739"/>
              <a:gd name="connsiteX1" fmla="*/ 138312 w 5044603"/>
              <a:gd name="connsiteY1" fmla="*/ 571739 h 571739"/>
              <a:gd name="connsiteX2" fmla="*/ 0 w 5044603"/>
              <a:gd name="connsiteY2" fmla="*/ 479698 h 571739"/>
              <a:gd name="connsiteX3" fmla="*/ 0 w 5044603"/>
              <a:gd name="connsiteY3" fmla="*/ 92041 h 571739"/>
              <a:gd name="connsiteX4" fmla="*/ 138312 w 5044603"/>
              <a:gd name="connsiteY4" fmla="*/ 0 h 571739"/>
              <a:gd name="connsiteX5" fmla="*/ 4906291 w 5044603"/>
              <a:gd name="connsiteY5" fmla="*/ 0 h 571739"/>
              <a:gd name="connsiteX6" fmla="*/ 5044604 w 5044603"/>
              <a:gd name="connsiteY6" fmla="*/ 92041 h 571739"/>
              <a:gd name="connsiteX7" fmla="*/ 5044604 w 5044603"/>
              <a:gd name="connsiteY7" fmla="*/ 479698 h 571739"/>
              <a:gd name="connsiteX8" fmla="*/ 4906291 w 5044603"/>
              <a:gd name="connsiteY8" fmla="*/ 571739 h 571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44603" h="571739">
                <a:moveTo>
                  <a:pt x="4906291" y="571739"/>
                </a:moveTo>
                <a:lnTo>
                  <a:pt x="138312" y="571739"/>
                </a:lnTo>
                <a:cubicBezTo>
                  <a:pt x="138312" y="520896"/>
                  <a:pt x="76378" y="479698"/>
                  <a:pt x="0" y="479698"/>
                </a:cubicBezTo>
                <a:lnTo>
                  <a:pt x="0" y="92041"/>
                </a:lnTo>
                <a:cubicBezTo>
                  <a:pt x="76378" y="92041"/>
                  <a:pt x="138312" y="50844"/>
                  <a:pt x="138312" y="0"/>
                </a:cubicBezTo>
                <a:lnTo>
                  <a:pt x="4906291" y="0"/>
                </a:lnTo>
                <a:cubicBezTo>
                  <a:pt x="4906291" y="50844"/>
                  <a:pt x="4968226" y="92041"/>
                  <a:pt x="5044604" y="92041"/>
                </a:cubicBezTo>
                <a:lnTo>
                  <a:pt x="5044604" y="479698"/>
                </a:lnTo>
                <a:cubicBezTo>
                  <a:pt x="4968226" y="479698"/>
                  <a:pt x="4906291" y="520896"/>
                  <a:pt x="4906291" y="571739"/>
                </a:cubicBezTo>
                <a:close/>
              </a:path>
            </a:pathLst>
          </a:custGeom>
          <a:noFill/>
          <a:ln w="34562" cap="flat">
            <a:solidFill>
              <a:schemeClr val="accent6">
                <a:lumMod val="20000"/>
                <a:lumOff val="8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5" name="序号"/>
          <p:cNvSpPr txBox="1"/>
          <p:nvPr>
            <p:custDataLst>
              <p:tags r:id="rId4"/>
            </p:custDataLst>
          </p:nvPr>
        </p:nvSpPr>
        <p:spPr>
          <a:xfrm>
            <a:off x="4924425" y="866170"/>
            <a:ext cx="777240" cy="49625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2400" b="1" dirty="0">
                <a:solidFill>
                  <a:schemeClr val="accent1"/>
                </a:solidFill>
                <a:cs typeface="+mn-ea"/>
                <a:sym typeface="+mn-lt"/>
              </a:rPr>
              <a:t>1.</a:t>
            </a:r>
            <a:endParaRPr lang="en-US" altLang="zh-CN" sz="24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16" name="项标题"/>
          <p:cNvSpPr txBox="1"/>
          <p:nvPr>
            <p:custDataLst>
              <p:tags r:id="rId5"/>
            </p:custDataLst>
          </p:nvPr>
        </p:nvSpPr>
        <p:spPr>
          <a:xfrm>
            <a:off x="5894587" y="862296"/>
            <a:ext cx="3805673" cy="50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b="1" spc="300" dirty="0">
                <a:solidFill>
                  <a:schemeClr val="accent1"/>
                </a:solidFill>
                <a:cs typeface="+mn-ea"/>
                <a:sym typeface="+mn-lt"/>
              </a:rPr>
              <a:t>需求分析</a:t>
            </a:r>
            <a:endParaRPr lang="zh-CN" altLang="en-US" sz="2400" b="1" spc="3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>
            <p:custDataLst>
              <p:tags r:id="rId6"/>
            </p:custDataLst>
          </p:nvPr>
        </p:nvSpPr>
        <p:spPr>
          <a:xfrm>
            <a:off x="5701665" y="1761096"/>
            <a:ext cx="106045" cy="10604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0" name="图片 2" descr="未命名 -1"/>
          <p:cNvSpPr/>
          <p:nvPr>
            <p:custDataLst>
              <p:tags r:id="rId7"/>
            </p:custDataLst>
          </p:nvPr>
        </p:nvSpPr>
        <p:spPr>
          <a:xfrm>
            <a:off x="4799565" y="1528249"/>
            <a:ext cx="5044603" cy="571739"/>
          </a:xfrm>
          <a:custGeom>
            <a:avLst/>
            <a:gdLst>
              <a:gd name="connsiteX0" fmla="*/ 4906291 w 5044603"/>
              <a:gd name="connsiteY0" fmla="*/ 571739 h 571739"/>
              <a:gd name="connsiteX1" fmla="*/ 138312 w 5044603"/>
              <a:gd name="connsiteY1" fmla="*/ 571739 h 571739"/>
              <a:gd name="connsiteX2" fmla="*/ 0 w 5044603"/>
              <a:gd name="connsiteY2" fmla="*/ 479698 h 571739"/>
              <a:gd name="connsiteX3" fmla="*/ 0 w 5044603"/>
              <a:gd name="connsiteY3" fmla="*/ 92041 h 571739"/>
              <a:gd name="connsiteX4" fmla="*/ 138312 w 5044603"/>
              <a:gd name="connsiteY4" fmla="*/ 0 h 571739"/>
              <a:gd name="connsiteX5" fmla="*/ 4906291 w 5044603"/>
              <a:gd name="connsiteY5" fmla="*/ 0 h 571739"/>
              <a:gd name="connsiteX6" fmla="*/ 5044604 w 5044603"/>
              <a:gd name="connsiteY6" fmla="*/ 92041 h 571739"/>
              <a:gd name="connsiteX7" fmla="*/ 5044604 w 5044603"/>
              <a:gd name="connsiteY7" fmla="*/ 479698 h 571739"/>
              <a:gd name="connsiteX8" fmla="*/ 4906291 w 5044603"/>
              <a:gd name="connsiteY8" fmla="*/ 571739 h 571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44603" h="571739">
                <a:moveTo>
                  <a:pt x="4906291" y="571739"/>
                </a:moveTo>
                <a:lnTo>
                  <a:pt x="138312" y="571739"/>
                </a:lnTo>
                <a:cubicBezTo>
                  <a:pt x="138312" y="520896"/>
                  <a:pt x="76378" y="479698"/>
                  <a:pt x="0" y="479698"/>
                </a:cubicBezTo>
                <a:lnTo>
                  <a:pt x="0" y="92041"/>
                </a:lnTo>
                <a:cubicBezTo>
                  <a:pt x="76378" y="92041"/>
                  <a:pt x="138312" y="50844"/>
                  <a:pt x="138312" y="0"/>
                </a:cubicBezTo>
                <a:lnTo>
                  <a:pt x="4906291" y="0"/>
                </a:lnTo>
                <a:cubicBezTo>
                  <a:pt x="4906291" y="50844"/>
                  <a:pt x="4968226" y="92041"/>
                  <a:pt x="5044604" y="92041"/>
                </a:cubicBezTo>
                <a:lnTo>
                  <a:pt x="5044604" y="479698"/>
                </a:lnTo>
                <a:cubicBezTo>
                  <a:pt x="4968226" y="479698"/>
                  <a:pt x="4906291" y="520896"/>
                  <a:pt x="4906291" y="571739"/>
                </a:cubicBezTo>
                <a:close/>
              </a:path>
            </a:pathLst>
          </a:custGeom>
          <a:noFill/>
          <a:ln w="34562" cap="flat">
            <a:solidFill>
              <a:schemeClr val="accent6">
                <a:lumMod val="20000"/>
                <a:lumOff val="8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序号"/>
          <p:cNvSpPr txBox="1"/>
          <p:nvPr>
            <p:custDataLst>
              <p:tags r:id="rId8"/>
            </p:custDataLst>
          </p:nvPr>
        </p:nvSpPr>
        <p:spPr>
          <a:xfrm>
            <a:off x="4924425" y="1565992"/>
            <a:ext cx="777240" cy="49625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chemeClr val="accent1"/>
                </a:solidFill>
                <a:cs typeface="+mn-ea"/>
                <a:sym typeface="+mn-lt"/>
              </a:rPr>
              <a:t>2.</a:t>
            </a:r>
            <a:endParaRPr lang="en-US" sz="24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22" name="项标题"/>
          <p:cNvSpPr txBox="1"/>
          <p:nvPr>
            <p:custDataLst>
              <p:tags r:id="rId9"/>
            </p:custDataLst>
          </p:nvPr>
        </p:nvSpPr>
        <p:spPr>
          <a:xfrm>
            <a:off x="5894587" y="1562118"/>
            <a:ext cx="3805673" cy="50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b="1" spc="300" dirty="0">
                <a:solidFill>
                  <a:schemeClr val="accent1"/>
                </a:solidFill>
                <a:cs typeface="+mn-ea"/>
                <a:sym typeface="+mn-lt"/>
              </a:rPr>
              <a:t>数据库设计</a:t>
            </a:r>
            <a:endParaRPr lang="zh-CN" altLang="en-US" sz="2400" b="1" spc="3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24" name="椭圆 23"/>
          <p:cNvSpPr/>
          <p:nvPr>
            <p:custDataLst>
              <p:tags r:id="rId10"/>
            </p:custDataLst>
          </p:nvPr>
        </p:nvSpPr>
        <p:spPr>
          <a:xfrm>
            <a:off x="5701665" y="2460918"/>
            <a:ext cx="106045" cy="10604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图片 2" descr="未命名 -1"/>
          <p:cNvSpPr/>
          <p:nvPr>
            <p:custDataLst>
              <p:tags r:id="rId11"/>
            </p:custDataLst>
          </p:nvPr>
        </p:nvSpPr>
        <p:spPr>
          <a:xfrm>
            <a:off x="4799565" y="2228071"/>
            <a:ext cx="5044603" cy="571739"/>
          </a:xfrm>
          <a:custGeom>
            <a:avLst/>
            <a:gdLst>
              <a:gd name="connsiteX0" fmla="*/ 4906291 w 5044603"/>
              <a:gd name="connsiteY0" fmla="*/ 571739 h 571739"/>
              <a:gd name="connsiteX1" fmla="*/ 138312 w 5044603"/>
              <a:gd name="connsiteY1" fmla="*/ 571739 h 571739"/>
              <a:gd name="connsiteX2" fmla="*/ 0 w 5044603"/>
              <a:gd name="connsiteY2" fmla="*/ 479698 h 571739"/>
              <a:gd name="connsiteX3" fmla="*/ 0 w 5044603"/>
              <a:gd name="connsiteY3" fmla="*/ 92041 h 571739"/>
              <a:gd name="connsiteX4" fmla="*/ 138312 w 5044603"/>
              <a:gd name="connsiteY4" fmla="*/ 0 h 571739"/>
              <a:gd name="connsiteX5" fmla="*/ 4906291 w 5044603"/>
              <a:gd name="connsiteY5" fmla="*/ 0 h 571739"/>
              <a:gd name="connsiteX6" fmla="*/ 5044604 w 5044603"/>
              <a:gd name="connsiteY6" fmla="*/ 92041 h 571739"/>
              <a:gd name="connsiteX7" fmla="*/ 5044604 w 5044603"/>
              <a:gd name="connsiteY7" fmla="*/ 479698 h 571739"/>
              <a:gd name="connsiteX8" fmla="*/ 4906291 w 5044603"/>
              <a:gd name="connsiteY8" fmla="*/ 571739 h 571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44603" h="571739">
                <a:moveTo>
                  <a:pt x="4906291" y="571739"/>
                </a:moveTo>
                <a:lnTo>
                  <a:pt x="138312" y="571739"/>
                </a:lnTo>
                <a:cubicBezTo>
                  <a:pt x="138312" y="520896"/>
                  <a:pt x="76378" y="479698"/>
                  <a:pt x="0" y="479698"/>
                </a:cubicBezTo>
                <a:lnTo>
                  <a:pt x="0" y="92041"/>
                </a:lnTo>
                <a:cubicBezTo>
                  <a:pt x="76378" y="92041"/>
                  <a:pt x="138312" y="50844"/>
                  <a:pt x="138312" y="0"/>
                </a:cubicBezTo>
                <a:lnTo>
                  <a:pt x="4906291" y="0"/>
                </a:lnTo>
                <a:cubicBezTo>
                  <a:pt x="4906291" y="50844"/>
                  <a:pt x="4968226" y="92041"/>
                  <a:pt x="5044604" y="92041"/>
                </a:cubicBezTo>
                <a:lnTo>
                  <a:pt x="5044604" y="479698"/>
                </a:lnTo>
                <a:cubicBezTo>
                  <a:pt x="4968226" y="479698"/>
                  <a:pt x="4906291" y="520896"/>
                  <a:pt x="4906291" y="571739"/>
                </a:cubicBezTo>
                <a:close/>
              </a:path>
            </a:pathLst>
          </a:custGeom>
          <a:noFill/>
          <a:ln w="34562" cap="flat">
            <a:solidFill>
              <a:schemeClr val="accent6">
                <a:lumMod val="20000"/>
                <a:lumOff val="8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序号"/>
          <p:cNvSpPr txBox="1"/>
          <p:nvPr>
            <p:custDataLst>
              <p:tags r:id="rId12"/>
            </p:custDataLst>
          </p:nvPr>
        </p:nvSpPr>
        <p:spPr>
          <a:xfrm>
            <a:off x="4924425" y="2265814"/>
            <a:ext cx="777240" cy="49625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chemeClr val="accent1"/>
                </a:solidFill>
                <a:cs typeface="+mn-ea"/>
                <a:sym typeface="+mn-lt"/>
              </a:rPr>
              <a:t>3.</a:t>
            </a:r>
            <a:endParaRPr lang="zh-CN" altLang="en-US" sz="24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27" name="项标题"/>
          <p:cNvSpPr txBox="1"/>
          <p:nvPr>
            <p:custDataLst>
              <p:tags r:id="rId13"/>
            </p:custDataLst>
          </p:nvPr>
        </p:nvSpPr>
        <p:spPr>
          <a:xfrm>
            <a:off x="5894587" y="2261940"/>
            <a:ext cx="3805673" cy="50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b="1" spc="300" dirty="0">
                <a:solidFill>
                  <a:schemeClr val="accent1"/>
                </a:solidFill>
                <a:cs typeface="+mn-ea"/>
                <a:sym typeface="+mn-lt"/>
              </a:rPr>
              <a:t>docker</a:t>
            </a:r>
            <a:r>
              <a:rPr lang="zh-CN" altLang="en-US" sz="2400" b="1" spc="300" dirty="0">
                <a:solidFill>
                  <a:schemeClr val="accent1"/>
                </a:solidFill>
                <a:cs typeface="+mn-ea"/>
                <a:sym typeface="+mn-lt"/>
              </a:rPr>
              <a:t>部署</a:t>
            </a:r>
            <a:endParaRPr lang="zh-CN" altLang="en-US" sz="2400" b="1" spc="3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29" name="椭圆 28"/>
          <p:cNvSpPr/>
          <p:nvPr>
            <p:custDataLst>
              <p:tags r:id="rId14"/>
            </p:custDataLst>
          </p:nvPr>
        </p:nvSpPr>
        <p:spPr>
          <a:xfrm>
            <a:off x="5701665" y="3160740"/>
            <a:ext cx="106045" cy="10604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图片 2" descr="未命名 -1"/>
          <p:cNvSpPr/>
          <p:nvPr>
            <p:custDataLst>
              <p:tags r:id="rId15"/>
            </p:custDataLst>
          </p:nvPr>
        </p:nvSpPr>
        <p:spPr>
          <a:xfrm>
            <a:off x="4799565" y="2927893"/>
            <a:ext cx="5044603" cy="571739"/>
          </a:xfrm>
          <a:custGeom>
            <a:avLst/>
            <a:gdLst>
              <a:gd name="connsiteX0" fmla="*/ 4906291 w 5044603"/>
              <a:gd name="connsiteY0" fmla="*/ 571739 h 571739"/>
              <a:gd name="connsiteX1" fmla="*/ 138312 w 5044603"/>
              <a:gd name="connsiteY1" fmla="*/ 571739 h 571739"/>
              <a:gd name="connsiteX2" fmla="*/ 0 w 5044603"/>
              <a:gd name="connsiteY2" fmla="*/ 479698 h 571739"/>
              <a:gd name="connsiteX3" fmla="*/ 0 w 5044603"/>
              <a:gd name="connsiteY3" fmla="*/ 92041 h 571739"/>
              <a:gd name="connsiteX4" fmla="*/ 138312 w 5044603"/>
              <a:gd name="connsiteY4" fmla="*/ 0 h 571739"/>
              <a:gd name="connsiteX5" fmla="*/ 4906291 w 5044603"/>
              <a:gd name="connsiteY5" fmla="*/ 0 h 571739"/>
              <a:gd name="connsiteX6" fmla="*/ 5044604 w 5044603"/>
              <a:gd name="connsiteY6" fmla="*/ 92041 h 571739"/>
              <a:gd name="connsiteX7" fmla="*/ 5044604 w 5044603"/>
              <a:gd name="connsiteY7" fmla="*/ 479698 h 571739"/>
              <a:gd name="connsiteX8" fmla="*/ 4906291 w 5044603"/>
              <a:gd name="connsiteY8" fmla="*/ 571739 h 571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44603" h="571739">
                <a:moveTo>
                  <a:pt x="4906291" y="571739"/>
                </a:moveTo>
                <a:lnTo>
                  <a:pt x="138312" y="571739"/>
                </a:lnTo>
                <a:cubicBezTo>
                  <a:pt x="138312" y="520896"/>
                  <a:pt x="76378" y="479698"/>
                  <a:pt x="0" y="479698"/>
                </a:cubicBezTo>
                <a:lnTo>
                  <a:pt x="0" y="92041"/>
                </a:lnTo>
                <a:cubicBezTo>
                  <a:pt x="76378" y="92041"/>
                  <a:pt x="138312" y="50844"/>
                  <a:pt x="138312" y="0"/>
                </a:cubicBezTo>
                <a:lnTo>
                  <a:pt x="4906291" y="0"/>
                </a:lnTo>
                <a:cubicBezTo>
                  <a:pt x="4906291" y="50844"/>
                  <a:pt x="4968226" y="92041"/>
                  <a:pt x="5044604" y="92041"/>
                </a:cubicBezTo>
                <a:lnTo>
                  <a:pt x="5044604" y="479698"/>
                </a:lnTo>
                <a:cubicBezTo>
                  <a:pt x="4968226" y="479698"/>
                  <a:pt x="4906291" y="520896"/>
                  <a:pt x="4906291" y="571739"/>
                </a:cubicBezTo>
                <a:close/>
              </a:path>
            </a:pathLst>
          </a:custGeom>
          <a:noFill/>
          <a:ln w="34562" cap="flat">
            <a:solidFill>
              <a:schemeClr val="accent6">
                <a:lumMod val="20000"/>
                <a:lumOff val="8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31" name="序号"/>
          <p:cNvSpPr txBox="1"/>
          <p:nvPr>
            <p:custDataLst>
              <p:tags r:id="rId16"/>
            </p:custDataLst>
          </p:nvPr>
        </p:nvSpPr>
        <p:spPr>
          <a:xfrm>
            <a:off x="4924425" y="2965636"/>
            <a:ext cx="777240" cy="49625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chemeClr val="accent1"/>
                </a:solidFill>
                <a:cs typeface="+mn-ea"/>
                <a:sym typeface="+mn-lt"/>
              </a:rPr>
              <a:t>4</a:t>
            </a:r>
            <a:endParaRPr lang="en-US" sz="24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2" name="项标题"/>
          <p:cNvSpPr txBox="1"/>
          <p:nvPr>
            <p:custDataLst>
              <p:tags r:id="rId17"/>
            </p:custDataLst>
          </p:nvPr>
        </p:nvSpPr>
        <p:spPr>
          <a:xfrm>
            <a:off x="5894587" y="2961762"/>
            <a:ext cx="3805673" cy="50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b="1" spc="300" dirty="0">
                <a:solidFill>
                  <a:schemeClr val="accent1"/>
                </a:solidFill>
                <a:cs typeface="+mn-ea"/>
                <a:sym typeface="+mn-lt"/>
              </a:rPr>
              <a:t>多数据库同步的实现</a:t>
            </a:r>
            <a:endParaRPr lang="zh-CN" altLang="en-US" sz="2400" b="1" spc="3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" name="椭圆 2"/>
          <p:cNvSpPr/>
          <p:nvPr>
            <p:custDataLst>
              <p:tags r:id="rId18"/>
            </p:custDataLst>
          </p:nvPr>
        </p:nvSpPr>
        <p:spPr>
          <a:xfrm>
            <a:off x="5701665" y="3860562"/>
            <a:ext cx="106045" cy="10604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图片 2" descr="未命名 -1"/>
          <p:cNvSpPr/>
          <p:nvPr>
            <p:custDataLst>
              <p:tags r:id="rId19"/>
            </p:custDataLst>
          </p:nvPr>
        </p:nvSpPr>
        <p:spPr>
          <a:xfrm>
            <a:off x="4799565" y="3627715"/>
            <a:ext cx="5044603" cy="571739"/>
          </a:xfrm>
          <a:custGeom>
            <a:avLst/>
            <a:gdLst>
              <a:gd name="connsiteX0" fmla="*/ 4906291 w 5044603"/>
              <a:gd name="connsiteY0" fmla="*/ 571739 h 571739"/>
              <a:gd name="connsiteX1" fmla="*/ 138312 w 5044603"/>
              <a:gd name="connsiteY1" fmla="*/ 571739 h 571739"/>
              <a:gd name="connsiteX2" fmla="*/ 0 w 5044603"/>
              <a:gd name="connsiteY2" fmla="*/ 479698 h 571739"/>
              <a:gd name="connsiteX3" fmla="*/ 0 w 5044603"/>
              <a:gd name="connsiteY3" fmla="*/ 92041 h 571739"/>
              <a:gd name="connsiteX4" fmla="*/ 138312 w 5044603"/>
              <a:gd name="connsiteY4" fmla="*/ 0 h 571739"/>
              <a:gd name="connsiteX5" fmla="*/ 4906291 w 5044603"/>
              <a:gd name="connsiteY5" fmla="*/ 0 h 571739"/>
              <a:gd name="connsiteX6" fmla="*/ 5044604 w 5044603"/>
              <a:gd name="connsiteY6" fmla="*/ 92041 h 571739"/>
              <a:gd name="connsiteX7" fmla="*/ 5044604 w 5044603"/>
              <a:gd name="connsiteY7" fmla="*/ 479698 h 571739"/>
              <a:gd name="connsiteX8" fmla="*/ 4906291 w 5044603"/>
              <a:gd name="connsiteY8" fmla="*/ 571739 h 571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44603" h="571739">
                <a:moveTo>
                  <a:pt x="4906291" y="571739"/>
                </a:moveTo>
                <a:lnTo>
                  <a:pt x="138312" y="571739"/>
                </a:lnTo>
                <a:cubicBezTo>
                  <a:pt x="138312" y="520896"/>
                  <a:pt x="76378" y="479698"/>
                  <a:pt x="0" y="479698"/>
                </a:cubicBezTo>
                <a:lnTo>
                  <a:pt x="0" y="92041"/>
                </a:lnTo>
                <a:cubicBezTo>
                  <a:pt x="76378" y="92041"/>
                  <a:pt x="138312" y="50844"/>
                  <a:pt x="138312" y="0"/>
                </a:cubicBezTo>
                <a:lnTo>
                  <a:pt x="4906291" y="0"/>
                </a:lnTo>
                <a:cubicBezTo>
                  <a:pt x="4906291" y="50844"/>
                  <a:pt x="4968226" y="92041"/>
                  <a:pt x="5044604" y="92041"/>
                </a:cubicBezTo>
                <a:lnTo>
                  <a:pt x="5044604" y="479698"/>
                </a:lnTo>
                <a:cubicBezTo>
                  <a:pt x="4968226" y="479698"/>
                  <a:pt x="4906291" y="520896"/>
                  <a:pt x="4906291" y="571739"/>
                </a:cubicBezTo>
                <a:close/>
              </a:path>
            </a:pathLst>
          </a:custGeom>
          <a:noFill/>
          <a:ln w="34562" cap="flat">
            <a:solidFill>
              <a:schemeClr val="accent6">
                <a:lumMod val="20000"/>
                <a:lumOff val="8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序号"/>
          <p:cNvSpPr txBox="1"/>
          <p:nvPr>
            <p:custDataLst>
              <p:tags r:id="rId20"/>
            </p:custDataLst>
          </p:nvPr>
        </p:nvSpPr>
        <p:spPr>
          <a:xfrm>
            <a:off x="4924425" y="3665458"/>
            <a:ext cx="777240" cy="49625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chemeClr val="accent1"/>
                </a:solidFill>
                <a:cs typeface="+mn-ea"/>
                <a:sym typeface="+mn-lt"/>
              </a:rPr>
              <a:t>5</a:t>
            </a:r>
            <a:endParaRPr lang="en-US" sz="24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7" name="项标题"/>
          <p:cNvSpPr txBox="1"/>
          <p:nvPr>
            <p:custDataLst>
              <p:tags r:id="rId21"/>
            </p:custDataLst>
          </p:nvPr>
        </p:nvSpPr>
        <p:spPr>
          <a:xfrm>
            <a:off x="5894587" y="3661584"/>
            <a:ext cx="3805673" cy="50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b="1" spc="300" dirty="0">
                <a:solidFill>
                  <a:schemeClr val="accent1"/>
                </a:solidFill>
                <a:cs typeface="+mn-ea"/>
                <a:sym typeface="+mn-lt"/>
              </a:rPr>
              <a:t>任务功能</a:t>
            </a:r>
            <a:endParaRPr lang="zh-CN" altLang="en-US" sz="2400" b="1" spc="3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5" name="椭圆 34"/>
          <p:cNvSpPr/>
          <p:nvPr>
            <p:custDataLst>
              <p:tags r:id="rId22"/>
            </p:custDataLst>
          </p:nvPr>
        </p:nvSpPr>
        <p:spPr>
          <a:xfrm>
            <a:off x="5701665" y="4560382"/>
            <a:ext cx="106045" cy="10604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图片 2" descr="未命名 -1"/>
          <p:cNvSpPr/>
          <p:nvPr>
            <p:custDataLst>
              <p:tags r:id="rId23"/>
            </p:custDataLst>
          </p:nvPr>
        </p:nvSpPr>
        <p:spPr>
          <a:xfrm>
            <a:off x="4799565" y="4327535"/>
            <a:ext cx="5044603" cy="571739"/>
          </a:xfrm>
          <a:custGeom>
            <a:avLst/>
            <a:gdLst>
              <a:gd name="connsiteX0" fmla="*/ 4906291 w 5044603"/>
              <a:gd name="connsiteY0" fmla="*/ 571739 h 571739"/>
              <a:gd name="connsiteX1" fmla="*/ 138312 w 5044603"/>
              <a:gd name="connsiteY1" fmla="*/ 571739 h 571739"/>
              <a:gd name="connsiteX2" fmla="*/ 0 w 5044603"/>
              <a:gd name="connsiteY2" fmla="*/ 479698 h 571739"/>
              <a:gd name="connsiteX3" fmla="*/ 0 w 5044603"/>
              <a:gd name="connsiteY3" fmla="*/ 92041 h 571739"/>
              <a:gd name="connsiteX4" fmla="*/ 138312 w 5044603"/>
              <a:gd name="connsiteY4" fmla="*/ 0 h 571739"/>
              <a:gd name="connsiteX5" fmla="*/ 4906291 w 5044603"/>
              <a:gd name="connsiteY5" fmla="*/ 0 h 571739"/>
              <a:gd name="connsiteX6" fmla="*/ 5044604 w 5044603"/>
              <a:gd name="connsiteY6" fmla="*/ 92041 h 571739"/>
              <a:gd name="connsiteX7" fmla="*/ 5044604 w 5044603"/>
              <a:gd name="connsiteY7" fmla="*/ 479698 h 571739"/>
              <a:gd name="connsiteX8" fmla="*/ 4906291 w 5044603"/>
              <a:gd name="connsiteY8" fmla="*/ 571739 h 571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44603" h="571739">
                <a:moveTo>
                  <a:pt x="4906291" y="571739"/>
                </a:moveTo>
                <a:lnTo>
                  <a:pt x="138312" y="571739"/>
                </a:lnTo>
                <a:cubicBezTo>
                  <a:pt x="138312" y="520896"/>
                  <a:pt x="76378" y="479698"/>
                  <a:pt x="0" y="479698"/>
                </a:cubicBezTo>
                <a:lnTo>
                  <a:pt x="0" y="92041"/>
                </a:lnTo>
                <a:cubicBezTo>
                  <a:pt x="76378" y="92041"/>
                  <a:pt x="138312" y="50844"/>
                  <a:pt x="138312" y="0"/>
                </a:cubicBezTo>
                <a:lnTo>
                  <a:pt x="4906291" y="0"/>
                </a:lnTo>
                <a:cubicBezTo>
                  <a:pt x="4906291" y="50844"/>
                  <a:pt x="4968226" y="92041"/>
                  <a:pt x="5044604" y="92041"/>
                </a:cubicBezTo>
                <a:lnTo>
                  <a:pt x="5044604" y="479698"/>
                </a:lnTo>
                <a:cubicBezTo>
                  <a:pt x="4968226" y="479698"/>
                  <a:pt x="4906291" y="520896"/>
                  <a:pt x="4906291" y="571739"/>
                </a:cubicBezTo>
                <a:close/>
              </a:path>
            </a:pathLst>
          </a:custGeom>
          <a:noFill/>
          <a:ln w="34562" cap="flat">
            <a:solidFill>
              <a:schemeClr val="accent6">
                <a:lumMod val="20000"/>
                <a:lumOff val="8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序号"/>
          <p:cNvSpPr txBox="1"/>
          <p:nvPr>
            <p:custDataLst>
              <p:tags r:id="rId24"/>
            </p:custDataLst>
          </p:nvPr>
        </p:nvSpPr>
        <p:spPr>
          <a:xfrm>
            <a:off x="4924425" y="4365278"/>
            <a:ext cx="777240" cy="49625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2400" b="1" dirty="0">
                <a:solidFill>
                  <a:schemeClr val="accent1"/>
                </a:solidFill>
                <a:cs typeface="+mn-ea"/>
                <a:sym typeface="+mn-lt"/>
              </a:rPr>
              <a:t>6</a:t>
            </a:r>
            <a:endParaRPr lang="en-US" altLang="zh-CN" sz="24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8" name="项标题"/>
          <p:cNvSpPr txBox="1"/>
          <p:nvPr>
            <p:custDataLst>
              <p:tags r:id="rId25"/>
            </p:custDataLst>
          </p:nvPr>
        </p:nvSpPr>
        <p:spPr>
          <a:xfrm>
            <a:off x="5894587" y="4361404"/>
            <a:ext cx="3805673" cy="50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b="1" spc="300" dirty="0">
                <a:solidFill>
                  <a:schemeClr val="accent1"/>
                </a:solidFill>
                <a:cs typeface="+mn-ea"/>
                <a:sym typeface="+mn-lt"/>
              </a:rPr>
              <a:t>总结与</a:t>
            </a:r>
            <a:r>
              <a:rPr lang="zh-CN" altLang="en-US" sz="2400" b="1" spc="300" dirty="0">
                <a:solidFill>
                  <a:schemeClr val="accent1"/>
                </a:solidFill>
                <a:cs typeface="+mn-ea"/>
                <a:sym typeface="+mn-lt"/>
              </a:rPr>
              <a:t>思考</a:t>
            </a:r>
            <a:endParaRPr lang="zh-CN" altLang="en-US" sz="2400" b="1" spc="3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19504" y="3160175"/>
            <a:ext cx="10181896" cy="1541033"/>
          </a:xfrm>
        </p:spPr>
        <p:txBody>
          <a:bodyPr wrap="square">
            <a:normAutofit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需求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分析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1019504" y="747588"/>
            <a:ext cx="10181896" cy="2288155"/>
          </a:xfrm>
        </p:spPr>
        <p:txBody>
          <a:bodyPr wrap="square">
            <a:normAutofit/>
          </a:bodyPr>
          <a:lstStyle/>
          <a:p>
            <a:r>
              <a:rPr lang="zh-CN" altLang="en-US" dirty="0">
                <a:latin typeface="+mn-lt"/>
                <a:sym typeface="+mn-lt"/>
              </a:rPr>
              <a:t>第一节</a:t>
            </a:r>
            <a:endParaRPr lang="zh-CN" altLang="en-US" dirty="0">
              <a:latin typeface="+mn-lt"/>
              <a:sym typeface="+mn-lt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>
            <p:custDataLst>
              <p:tags r:id="rId1"/>
            </p:custDataLst>
          </p:nvPr>
        </p:nvSpPr>
        <p:spPr>
          <a:xfrm rot="9240000">
            <a:off x="10078541" y="6207703"/>
            <a:ext cx="2421265" cy="103250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3813" h="1626">
                <a:moveTo>
                  <a:pt x="721" y="0"/>
                </a:moveTo>
                <a:lnTo>
                  <a:pt x="3813" y="1508"/>
                </a:lnTo>
                <a:lnTo>
                  <a:pt x="3783" y="1569"/>
                </a:lnTo>
                <a:lnTo>
                  <a:pt x="3776" y="1570"/>
                </a:lnTo>
                <a:cubicBezTo>
                  <a:pt x="3317" y="1606"/>
                  <a:pt x="2824" y="1626"/>
                  <a:pt x="2313" y="1626"/>
                </a:cubicBezTo>
                <a:cubicBezTo>
                  <a:pt x="1486" y="1626"/>
                  <a:pt x="710" y="1574"/>
                  <a:pt x="42" y="1484"/>
                </a:cubicBezTo>
                <a:lnTo>
                  <a:pt x="0" y="1479"/>
                </a:lnTo>
                <a:lnTo>
                  <a:pt x="721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1575" y="617993"/>
            <a:ext cx="10969200" cy="491272"/>
          </a:xfrm>
        </p:spPr>
        <p:txBody>
          <a:bodyPr/>
          <a:lstStyle/>
          <a:p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功能需求（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核心功能）</a:t>
            </a:r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228600" y="594360"/>
            <a:ext cx="144000" cy="57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1" name="图片 10" descr="ytktuykyulyulyluy"/>
          <p:cNvPicPr>
            <a:picLocks noChangeAspect="1"/>
          </p:cNvPicPr>
          <p:nvPr/>
        </p:nvPicPr>
        <p:blipFill>
          <a:blip r:embed="rId4"/>
          <a:srcRect b="12931"/>
          <a:stretch>
            <a:fillRect/>
          </a:stretch>
        </p:blipFill>
        <p:spPr>
          <a:xfrm>
            <a:off x="8561705" y="5079365"/>
            <a:ext cx="3630295" cy="1778635"/>
          </a:xfrm>
          <a:custGeom>
            <a:avLst/>
            <a:gdLst>
              <a:gd name="connsiteX0" fmla="*/ 0 w 3630295"/>
              <a:gd name="connsiteY0" fmla="*/ 0 h 1778635"/>
              <a:gd name="connsiteX1" fmla="*/ 3630295 w 3630295"/>
              <a:gd name="connsiteY1" fmla="*/ 0 h 1778635"/>
              <a:gd name="connsiteX2" fmla="*/ 3630295 w 3630295"/>
              <a:gd name="connsiteY2" fmla="*/ 1778635 h 1778635"/>
              <a:gd name="connsiteX3" fmla="*/ 0 w 3630295"/>
              <a:gd name="connsiteY3" fmla="*/ 1778635 h 1778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30295" h="1778635">
                <a:moveTo>
                  <a:pt x="0" y="0"/>
                </a:moveTo>
                <a:lnTo>
                  <a:pt x="3630295" y="0"/>
                </a:lnTo>
                <a:lnTo>
                  <a:pt x="3630295" y="1778635"/>
                </a:lnTo>
                <a:lnTo>
                  <a:pt x="0" y="1778635"/>
                </a:lnTo>
                <a:close/>
              </a:path>
            </a:pathLst>
          </a:custGeom>
        </p:spPr>
      </p:pic>
      <p:pic>
        <p:nvPicPr>
          <p:cNvPr id="13" name="图片 12" descr="56554545"/>
          <p:cNvPicPr>
            <a:picLocks noChangeAspect="1"/>
          </p:cNvPicPr>
          <p:nvPr/>
        </p:nvPicPr>
        <p:blipFill>
          <a:blip r:embed="rId5">
            <a:lum bright="6000"/>
          </a:blip>
          <a:srcRect r="11651" b="27494"/>
          <a:stretch>
            <a:fillRect/>
          </a:stretch>
        </p:blipFill>
        <p:spPr>
          <a:xfrm>
            <a:off x="9652635" y="4949190"/>
            <a:ext cx="2532380" cy="1908810"/>
          </a:xfrm>
          <a:custGeom>
            <a:avLst/>
            <a:gdLst>
              <a:gd name="connsiteX0" fmla="*/ 0 w 2532380"/>
              <a:gd name="connsiteY0" fmla="*/ 0 h 1908810"/>
              <a:gd name="connsiteX1" fmla="*/ 2532380 w 2532380"/>
              <a:gd name="connsiteY1" fmla="*/ 0 h 1908810"/>
              <a:gd name="connsiteX2" fmla="*/ 2532380 w 2532380"/>
              <a:gd name="connsiteY2" fmla="*/ 1908810 h 1908810"/>
              <a:gd name="connsiteX3" fmla="*/ 0 w 2532380"/>
              <a:gd name="connsiteY3" fmla="*/ 1908810 h 1908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32380" h="1908810">
                <a:moveTo>
                  <a:pt x="0" y="0"/>
                </a:moveTo>
                <a:lnTo>
                  <a:pt x="2532380" y="0"/>
                </a:lnTo>
                <a:lnTo>
                  <a:pt x="2532380" y="1908810"/>
                </a:lnTo>
                <a:lnTo>
                  <a:pt x="0" y="1908810"/>
                </a:lnTo>
                <a:close/>
              </a:path>
            </a:pathLst>
          </a:custGeom>
        </p:spPr>
      </p:pic>
      <p:sp>
        <p:nvSpPr>
          <p:cNvPr id="7" name="矩形 6"/>
          <p:cNvSpPr/>
          <p:nvPr/>
        </p:nvSpPr>
        <p:spPr>
          <a:xfrm>
            <a:off x="0" y="2002790"/>
            <a:ext cx="12259945" cy="4036695"/>
          </a:xfrm>
          <a:prstGeom prst="rect">
            <a:avLst/>
          </a:prstGeom>
          <a:solidFill>
            <a:srgbClr val="94A6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2710" y="2002790"/>
            <a:ext cx="10945495" cy="3430905"/>
          </a:xfrm>
          <a:prstGeom prst="rect">
            <a:avLst/>
          </a:prstGeom>
        </p:spPr>
        <p:txBody>
          <a:bodyPr wrap="square" lIns="91440" tIns="45720" rIns="91440" bIns="4572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00">
              <a:lnSpc>
                <a:spcPct val="200000"/>
              </a:lnSpc>
            </a:pPr>
            <a:r>
              <a:rPr kumimoji="1"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  <a:sym typeface="+mn-lt"/>
              </a:rPr>
              <a:t>1.</a:t>
            </a:r>
            <a:r>
              <a:rPr kumimoji="1"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  <a:sym typeface="+mn-ea"/>
              </a:rPr>
              <a:t>多源数据库同步管理，需包含不少于三种数据库系统（如 MySQL、Oracle 等）（支持表迁移，整库迁移）；</a:t>
            </a:r>
            <a:endParaRPr kumimoji="1"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libaba PuHuiTi" pitchFamily="18" charset="-122"/>
              <a:sym typeface="+mn-ea"/>
            </a:endParaRPr>
          </a:p>
          <a:p>
            <a:pPr indent="0" algn="just">
              <a:lnSpc>
                <a:spcPct val="100000"/>
              </a:lnSpc>
              <a:spcAft>
                <a:spcPts val="1000"/>
              </a:spcAft>
              <a:buClrTx/>
              <a:buSzTx/>
              <a:buFont typeface="Wingdings" panose="05000000000000000000" pitchFamily="2" charset="2"/>
              <a:buNone/>
            </a:pPr>
            <a:r>
              <a:rPr kumimoji="1"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  <a:sym typeface="+mn-ea"/>
              </a:rPr>
              <a:t>2.</a:t>
            </a:r>
            <a:r>
              <a:rPr kumimoji="1"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  <a:sym typeface="+mn-ea"/>
              </a:rPr>
              <a:t>冲突检测与处理:智能检测数据冲突（更新冲突、版本不匹配等）</a:t>
            </a:r>
            <a:endParaRPr kumimoji="1"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libaba PuHuiTi" pitchFamily="18" charset="-122"/>
            </a:endParaRPr>
          </a:p>
          <a:p>
            <a:pPr indent="0" algn="just">
              <a:lnSpc>
                <a:spcPct val="100000"/>
              </a:lnSpc>
              <a:spcAft>
                <a:spcPts val="1000"/>
              </a:spcAft>
              <a:buClrTx/>
              <a:buSzTx/>
              <a:buFont typeface="Wingdings" panose="05000000000000000000" pitchFamily="2" charset="2"/>
              <a:buNone/>
            </a:pPr>
            <a:r>
              <a:rPr kumimoji="1"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  <a:sym typeface="+mn-ea"/>
              </a:rPr>
              <a:t>，冲突发生时自动通过邮件通知管理员</a:t>
            </a:r>
            <a:r>
              <a:rPr kumimoji="1"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  <a:sym typeface="+mn-ea"/>
              </a:rPr>
              <a:t>;</a:t>
            </a:r>
            <a:endParaRPr kumimoji="1"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libaba PuHuiTi" pitchFamily="18" charset="-122"/>
              <a:sym typeface="+mn-ea"/>
            </a:endParaRPr>
          </a:p>
          <a:p>
            <a:pPr indent="0" algn="just">
              <a:lnSpc>
                <a:spcPct val="100000"/>
              </a:lnSpc>
              <a:spcAft>
                <a:spcPts val="1000"/>
              </a:spcAft>
              <a:buClrTx/>
              <a:buSzTx/>
              <a:buFont typeface="Wingdings" panose="05000000000000000000" pitchFamily="2" charset="2"/>
              <a:buNone/>
            </a:pPr>
            <a:r>
              <a:rPr kumimoji="1"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  <a:sym typeface="+mn-ea"/>
              </a:rPr>
              <a:t>3.</a:t>
            </a:r>
            <a:r>
              <a:rPr kumimoji="1"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  <a:sym typeface="+mn-ea"/>
              </a:rPr>
              <a:t>统一查询分析与优化展示；</a:t>
            </a:r>
            <a:endParaRPr kumimoji="1"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libaba PuHuiTi" pitchFamily="18" charset="-122"/>
              <a:sym typeface="+mn-ea"/>
            </a:endParaRPr>
          </a:p>
          <a:p>
            <a:pPr indent="0" algn="just">
              <a:lnSpc>
                <a:spcPct val="100000"/>
              </a:lnSpc>
              <a:spcAft>
                <a:spcPts val="1000"/>
              </a:spcAft>
              <a:buClrTx/>
              <a:buSzTx/>
              <a:buFont typeface="Wingdings" panose="05000000000000000000" pitchFamily="2" charset="2"/>
              <a:buNone/>
            </a:pPr>
            <a:r>
              <a:rPr kumimoji="1"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  <a:sym typeface="+mn-ea"/>
              </a:rPr>
              <a:t>4.</a:t>
            </a:r>
            <a:r>
              <a:rPr kumimoji="1"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  <a:sym typeface="+mn-ea"/>
              </a:rPr>
              <a:t>多端管理与监控报表；</a:t>
            </a:r>
            <a:endParaRPr kumimoji="1"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libaba PuHuiTi" pitchFamily="18" charset="-122"/>
              <a:sym typeface="+mn-ea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>
            <p:custDataLst>
              <p:tags r:id="rId1"/>
            </p:custDataLst>
          </p:nvPr>
        </p:nvSpPr>
        <p:spPr>
          <a:xfrm rot="9240000">
            <a:off x="10078541" y="6207703"/>
            <a:ext cx="2421265" cy="103250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3813" h="1626">
                <a:moveTo>
                  <a:pt x="721" y="0"/>
                </a:moveTo>
                <a:lnTo>
                  <a:pt x="3813" y="1508"/>
                </a:lnTo>
                <a:lnTo>
                  <a:pt x="3783" y="1569"/>
                </a:lnTo>
                <a:lnTo>
                  <a:pt x="3776" y="1570"/>
                </a:lnTo>
                <a:cubicBezTo>
                  <a:pt x="3317" y="1606"/>
                  <a:pt x="2824" y="1626"/>
                  <a:pt x="2313" y="1626"/>
                </a:cubicBezTo>
                <a:cubicBezTo>
                  <a:pt x="1486" y="1626"/>
                  <a:pt x="710" y="1574"/>
                  <a:pt x="42" y="1484"/>
                </a:cubicBezTo>
                <a:lnTo>
                  <a:pt x="0" y="1479"/>
                </a:lnTo>
                <a:lnTo>
                  <a:pt x="721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1575" y="617993"/>
            <a:ext cx="10969200" cy="491272"/>
          </a:xfrm>
        </p:spPr>
        <p:txBody>
          <a:bodyPr/>
          <a:lstStyle/>
          <a:p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非功能需求</a:t>
            </a:r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228600" y="594360"/>
            <a:ext cx="144000" cy="57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12445" y="2320925"/>
            <a:ext cx="11337925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None/>
            </a:pPr>
            <a:r>
              <a:rPr lang="zh-CN" altLang="en-US" sz="2400"/>
              <a:t>1.PC 端：界面美观合理、兼容 Chrome、Firefox、Edge 等主流浏览器、能够</a:t>
            </a:r>
            <a:endParaRPr lang="zh-CN" altLang="en-US" sz="2400"/>
          </a:p>
          <a:p>
            <a:pPr algn="l">
              <a:buClrTx/>
              <a:buSzTx/>
              <a:buNone/>
            </a:pPr>
            <a:r>
              <a:rPr lang="zh-CN" altLang="en-US" sz="2400"/>
              <a:t>适应不同分辨率、操作便捷、包含对第三方接口调用、提供数据可视化；</a:t>
            </a:r>
            <a:endParaRPr lang="zh-CN" altLang="en-US" sz="2400"/>
          </a:p>
          <a:p>
            <a:pPr algn="l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/>
              <a:t>2.</a:t>
            </a:r>
            <a:r>
              <a:rPr lang="zh-CN" altLang="en-US" sz="2400">
                <a:sym typeface="+mn-ea"/>
              </a:rPr>
              <a:t>系统部署在Docker容器环境中，便于部署和扩展；</a:t>
            </a:r>
            <a:endParaRPr lang="zh-CN" altLang="en-US" sz="2400">
              <a:sym typeface="+mn-ea"/>
            </a:endParaRPr>
          </a:p>
          <a:p>
            <a:pPr algn="l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/>
              <a:t>3.数据一致性保障：表结构跨数据库严格一致；同步过程保持各库数据最终一致；冲突处理保证业务逻辑正确性；</a:t>
            </a:r>
            <a:endParaRPr lang="zh-CN" altLang="en-US" sz="2400"/>
          </a:p>
          <a:p>
            <a:pPr algn="l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/>
              <a:t>4.系统可靠性与可用性：同步服务高可用，故障不影响源库；邮件</a:t>
            </a:r>
            <a:r>
              <a:rPr lang="zh-CN" altLang="en-US" sz="2400"/>
              <a:t>/短信通知及时送达；异常情况下数据不丢失；</a:t>
            </a:r>
            <a:endParaRPr lang="zh-CN" altLang="en-US" sz="2400"/>
          </a:p>
          <a:p>
            <a:pPr algn="l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</a:pPr>
            <a:endParaRPr lang="zh-CN" altLang="en-US" sz="2400"/>
          </a:p>
        </p:txBody>
      </p:sp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19504" y="2835055"/>
            <a:ext cx="10181896" cy="1541033"/>
          </a:xfrm>
        </p:spPr>
        <p:txBody>
          <a:bodyPr wrap="square">
            <a:normAutofit fontScale="90000"/>
          </a:bodyPr>
          <a:lstStyle/>
          <a:p>
            <a:pPr algn="l"/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数据库设计</a:t>
            </a:r>
            <a:br>
              <a:rPr lang="zh-CN" altLang="en-US" dirty="0">
                <a:latin typeface="+mn-lt"/>
                <a:ea typeface="+mn-ea"/>
                <a:cs typeface="+mn-ea"/>
                <a:sym typeface="+mn-lt"/>
              </a:rPr>
            </a:b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                </a:t>
            </a:r>
            <a:endParaRPr lang="zh-CN" altLang="en-US" sz="28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1019504" y="306263"/>
            <a:ext cx="10181896" cy="2288155"/>
          </a:xfrm>
        </p:spPr>
        <p:txBody>
          <a:bodyPr wrap="square">
            <a:normAutofit/>
          </a:bodyPr>
          <a:lstStyle/>
          <a:p>
            <a:r>
              <a:rPr lang="zh-CN" altLang="en-US" dirty="0">
                <a:latin typeface="+mn-lt"/>
                <a:sym typeface="+mn-lt"/>
              </a:rPr>
              <a:t>第二</a:t>
            </a:r>
            <a:r>
              <a:rPr lang="zh-CN" altLang="en-US" dirty="0">
                <a:latin typeface="+mn-lt"/>
                <a:sym typeface="+mn-lt"/>
              </a:rPr>
              <a:t>节</a:t>
            </a:r>
            <a:endParaRPr lang="zh-CN" altLang="en-US" dirty="0">
              <a:latin typeface="+mn-lt"/>
              <a:sym typeface="+mn-lt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>
            <p:custDataLst>
              <p:tags r:id="rId1"/>
            </p:custDataLst>
          </p:nvPr>
        </p:nvSpPr>
        <p:spPr>
          <a:xfrm rot="9240000">
            <a:off x="10078541" y="6207703"/>
            <a:ext cx="2421265" cy="103250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3813" h="1626">
                <a:moveTo>
                  <a:pt x="721" y="0"/>
                </a:moveTo>
                <a:lnTo>
                  <a:pt x="3813" y="1508"/>
                </a:lnTo>
                <a:lnTo>
                  <a:pt x="3783" y="1569"/>
                </a:lnTo>
                <a:lnTo>
                  <a:pt x="3776" y="1570"/>
                </a:lnTo>
                <a:cubicBezTo>
                  <a:pt x="3317" y="1606"/>
                  <a:pt x="2824" y="1626"/>
                  <a:pt x="2313" y="1626"/>
                </a:cubicBezTo>
                <a:cubicBezTo>
                  <a:pt x="1486" y="1626"/>
                  <a:pt x="710" y="1574"/>
                  <a:pt x="42" y="1484"/>
                </a:cubicBezTo>
                <a:lnTo>
                  <a:pt x="0" y="1479"/>
                </a:lnTo>
                <a:lnTo>
                  <a:pt x="721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1575" y="617993"/>
            <a:ext cx="10969200" cy="491272"/>
          </a:xfrm>
        </p:spPr>
        <p:txBody>
          <a:bodyPr/>
          <a:lstStyle/>
          <a:p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用户角色与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功能模块</a:t>
            </a:r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228600" y="594360"/>
            <a:ext cx="144000" cy="57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7780" y="2003425"/>
            <a:ext cx="5607685" cy="1468755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用户</a:t>
            </a:r>
            <a:r>
              <a:rPr lang="en-US" altLang="zh-CN" sz="1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 (USER </a:t>
            </a:r>
            <a:r>
              <a:rPr lang="en-US" altLang="zh-CN" sz="1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role = 0)</a:t>
            </a:r>
            <a:r>
              <a:rPr lang="zh-CN" altLang="en-US" sz="1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查看数据、执行查询、执行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前端操作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管理员</a:t>
            </a:r>
            <a:r>
              <a:rPr lang="en-US" altLang="zh-CN" sz="1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 (ADMIN) role = 1</a:t>
            </a:r>
            <a:r>
              <a:rPr lang="zh-CN" altLang="en-US" sz="1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用户管理、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删减操作、全部功能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7780" y="1466215"/>
            <a:ext cx="5607685" cy="4991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23825" y="1518920"/>
            <a:ext cx="5124450" cy="3314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用户角色</a:t>
            </a:r>
            <a:endParaRPr lang="zh-CN" altLang="en-US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7780" y="4144645"/>
            <a:ext cx="5615940" cy="2713355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zh-CN" altLang="en-US" sz="1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zh-CN" altLang="en-US" sz="1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身份认证与权限模块：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用户登录验证，基于角色的权限控制，支持用户管理和密码修改</a:t>
            </a:r>
            <a:endParaRPr lang="en-US" altLang="zh-CN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同步任务模块：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创建和配置同步任务，支持实时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定时调度，执行历史追踪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检测数据冲突：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管理员手动决策解决</a:t>
            </a:r>
            <a:endParaRPr lang="en-US" altLang="zh-CN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zh-CN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9525" y="3568700"/>
            <a:ext cx="5631180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23825" y="3622675"/>
            <a:ext cx="5124450" cy="5543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主要功能模块</a:t>
            </a:r>
            <a:endParaRPr lang="zh-CN" altLang="en-US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3895" y="594360"/>
            <a:ext cx="6236970" cy="117284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3895" y="1850390"/>
            <a:ext cx="3829050" cy="277876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3895" y="4591050"/>
            <a:ext cx="4524375" cy="226695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>
            <p:custDataLst>
              <p:tags r:id="rId1"/>
            </p:custDataLst>
          </p:nvPr>
        </p:nvSpPr>
        <p:spPr>
          <a:xfrm rot="9240000">
            <a:off x="10078541" y="6207703"/>
            <a:ext cx="2421265" cy="103250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3813" h="1626">
                <a:moveTo>
                  <a:pt x="721" y="0"/>
                </a:moveTo>
                <a:lnTo>
                  <a:pt x="3813" y="1508"/>
                </a:lnTo>
                <a:lnTo>
                  <a:pt x="3783" y="1569"/>
                </a:lnTo>
                <a:lnTo>
                  <a:pt x="3776" y="1570"/>
                </a:lnTo>
                <a:cubicBezTo>
                  <a:pt x="3317" y="1606"/>
                  <a:pt x="2824" y="1626"/>
                  <a:pt x="2313" y="1626"/>
                </a:cubicBezTo>
                <a:cubicBezTo>
                  <a:pt x="1486" y="1626"/>
                  <a:pt x="710" y="1574"/>
                  <a:pt x="42" y="1484"/>
                </a:cubicBezTo>
                <a:lnTo>
                  <a:pt x="0" y="1479"/>
                </a:lnTo>
                <a:lnTo>
                  <a:pt x="721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28600" y="594360"/>
            <a:ext cx="144000" cy="57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标题 9"/>
          <p:cNvSpPr/>
          <p:nvPr>
            <p:ph type="title"/>
            <p:custDataLst>
              <p:tags r:id="rId3"/>
            </p:custDataLst>
          </p:nvPr>
        </p:nvSpPr>
        <p:spPr>
          <a:xfrm>
            <a:off x="649288" y="306305"/>
            <a:ext cx="10515600" cy="864000"/>
          </a:xfrm>
        </p:spPr>
        <p:txBody>
          <a:bodyPr/>
          <a:p>
            <a:r>
              <a:rPr lang="zh-CN" altLang="en-US"/>
              <a:t>数据库设计</a:t>
            </a:r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5390" y="1687195"/>
            <a:ext cx="2970530" cy="4173220"/>
          </a:xfrm>
          <a:prstGeom prst="rect">
            <a:avLst/>
          </a:prstGeom>
        </p:spPr>
      </p:pic>
      <p:sp>
        <p:nvSpPr>
          <p:cNvPr id="75" name="矩形 74"/>
          <p:cNvSpPr/>
          <p:nvPr/>
        </p:nvSpPr>
        <p:spPr>
          <a:xfrm>
            <a:off x="372745" y="4352925"/>
            <a:ext cx="6685280" cy="32448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48945" y="2688590"/>
            <a:ext cx="3679825" cy="2858770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lstStyle/>
          <a:p>
            <a:r>
              <a:rPr lang="zh-CN" altLang="en-US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用户</a:t>
            </a:r>
            <a:r>
              <a:rPr lang="en-US" altLang="zh-CN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altLang="en-US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管理员账户表：</a:t>
            </a:r>
            <a:r>
              <a:rPr lang="en-US" altLang="zh-CN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user</a:t>
            </a:r>
            <a:endParaRPr lang="en-US" altLang="zh-CN"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用户基本信息表：</a:t>
            </a:r>
            <a:r>
              <a:rPr lang="en-US" altLang="zh-CN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user_msg</a:t>
            </a:r>
            <a:endParaRPr lang="en-US" altLang="zh-CN"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店铺数据表：</a:t>
            </a:r>
            <a:r>
              <a:rPr lang="en-US" altLang="zh-CN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fastfood_shop</a:t>
            </a:r>
            <a:endParaRPr lang="en-US" altLang="zh-CN"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服务员数据表：</a:t>
            </a:r>
            <a:r>
              <a:rPr lang="en-US" altLang="zh-CN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server</a:t>
            </a:r>
            <a:endParaRPr lang="en-US" altLang="zh-CN"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送餐员数据表：</a:t>
            </a:r>
            <a:r>
              <a:rPr lang="en-US" altLang="zh-CN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dispatcher</a:t>
            </a:r>
            <a:endParaRPr lang="en-US" altLang="zh-CN"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订餐方式数据表：</a:t>
            </a:r>
            <a:r>
              <a:rPr lang="en-US" altLang="zh-CN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orderway</a:t>
            </a:r>
            <a:endParaRPr lang="en-US" altLang="zh-CN"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订单数据表：</a:t>
            </a:r>
            <a:r>
              <a:rPr lang="en-US" altLang="zh-CN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oorder</a:t>
            </a:r>
            <a:endParaRPr lang="en-US" altLang="zh-CN"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物流数据表：</a:t>
            </a:r>
            <a:r>
              <a:rPr lang="en-US" altLang="zh-CN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wuliu</a:t>
            </a:r>
            <a:endParaRPr lang="en-US" altLang="zh-CN"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矩形: 圆角 7"/>
          <p:cNvSpPr/>
          <p:nvPr/>
        </p:nvSpPr>
        <p:spPr>
          <a:xfrm>
            <a:off x="372745" y="2364740"/>
            <a:ext cx="6685280" cy="323850"/>
          </a:xfrm>
          <a:prstGeom prst="roundRect">
            <a:avLst>
              <a:gd name="adj" fmla="val 1341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">
              <a:lnSpc>
                <a:spcPct val="120000"/>
              </a:lnSpc>
            </a:pPr>
            <a:r>
              <a:rPr lang="zh-CN" altLang="en-US"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业务核心实体（</a:t>
            </a:r>
            <a:r>
              <a:rPr lang="en-US" altLang="zh-CN"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r>
              <a:rPr lang="zh-CN" altLang="en-US"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个）</a:t>
            </a:r>
            <a:endParaRPr lang="zh-CN" altLang="en-US" sz="16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矩形 3"/>
          <p:cNvSpPr/>
          <p:nvPr/>
        </p:nvSpPr>
        <p:spPr>
          <a:xfrm>
            <a:off x="372745" y="2668270"/>
            <a:ext cx="6685915" cy="1684020"/>
          </a:xfrm>
          <a:prstGeom prst="rect">
            <a:avLst/>
          </a:prstGeom>
          <a:gradFill>
            <a:gsLst>
              <a:gs pos="0">
                <a:schemeClr val="accent1">
                  <a:alpha val="25000"/>
                </a:schemeClr>
              </a:gs>
              <a:gs pos="100000">
                <a:schemeClr val="bg1">
                  <a:alpha val="27000"/>
                </a:schemeClr>
              </a:gs>
            </a:gsLst>
            <a:lin ang="0" scaled="0"/>
          </a:gradFill>
          <a:ln w="12700">
            <a:miter lim="400000"/>
          </a:ln>
        </p:spPr>
        <p:txBody>
          <a:bodyPr lIns="0" tIns="0" rIns="0" bIns="0" anchor="ctr"/>
          <a:p>
            <a:pPr algn="ctr">
              <a:defRPr>
                <a:solidFill>
                  <a:srgbClr val="02AE06">
                    <a:alpha val="20889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endParaRPr lang="zh-CN" altLang="en-US" b="1">
              <a:solidFill>
                <a:schemeClr val="accent1">
                  <a:alpha val="20889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矩形"/>
          <p:cNvSpPr/>
          <p:nvPr/>
        </p:nvSpPr>
        <p:spPr>
          <a:xfrm>
            <a:off x="372745" y="2364105"/>
            <a:ext cx="76200" cy="198882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tIns="91439" bIns="91439" anchor="ctr"/>
          <a:p>
            <a:pPr defTabSz="1828800">
              <a:defRPr sz="3600"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>
            <p:custDataLst>
              <p:tags r:id="rId1"/>
            </p:custDataLst>
          </p:nvPr>
        </p:nvSpPr>
        <p:spPr>
          <a:xfrm rot="9240000">
            <a:off x="10078541" y="6207703"/>
            <a:ext cx="2421265" cy="103250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3813" h="1626">
                <a:moveTo>
                  <a:pt x="721" y="0"/>
                </a:moveTo>
                <a:lnTo>
                  <a:pt x="3813" y="1508"/>
                </a:lnTo>
                <a:lnTo>
                  <a:pt x="3783" y="1569"/>
                </a:lnTo>
                <a:lnTo>
                  <a:pt x="3776" y="1570"/>
                </a:lnTo>
                <a:cubicBezTo>
                  <a:pt x="3317" y="1606"/>
                  <a:pt x="2824" y="1626"/>
                  <a:pt x="2313" y="1626"/>
                </a:cubicBezTo>
                <a:cubicBezTo>
                  <a:pt x="1486" y="1626"/>
                  <a:pt x="710" y="1574"/>
                  <a:pt x="42" y="1484"/>
                </a:cubicBezTo>
                <a:lnTo>
                  <a:pt x="0" y="1479"/>
                </a:lnTo>
                <a:lnTo>
                  <a:pt x="721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1575" y="617993"/>
            <a:ext cx="10969200" cy="491272"/>
          </a:xfrm>
        </p:spPr>
        <p:txBody>
          <a:bodyPr/>
          <a:lstStyle/>
          <a:p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逻辑结构设计</a:t>
            </a:r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228600" y="594360"/>
            <a:ext cx="144000" cy="57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aphicFrame>
        <p:nvGraphicFramePr>
          <p:cNvPr id="-2147482604" name="对象 -2147482605"/>
          <p:cNvGraphicFramePr>
            <a:graphicFrameLocks noChangeAspect="1"/>
          </p:cNvGraphicFramePr>
          <p:nvPr/>
        </p:nvGraphicFramePr>
        <p:xfrm>
          <a:off x="842645" y="1554480"/>
          <a:ext cx="10060940" cy="50888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4" imgW="12202795" imgH="6175375" progId="Visio.Drawing.15">
                  <p:embed/>
                </p:oleObj>
              </mc:Choice>
              <mc:Fallback>
                <p:oleObj name="" r:id="rId4" imgW="12202795" imgH="6175375" progId="Visio.Drawing.15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42645" y="1554480"/>
                        <a:ext cx="10060940" cy="50888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6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19504" y="3160175"/>
            <a:ext cx="10181896" cy="1541033"/>
          </a:xfrm>
        </p:spPr>
        <p:txBody>
          <a:bodyPr wrap="square">
            <a:normAutofit/>
          </a:bodyPr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docker</a:t>
            </a:r>
            <a:r>
              <a:rPr dirty="0">
                <a:latin typeface="+mn-lt"/>
                <a:ea typeface="+mn-ea"/>
                <a:cs typeface="+mn-ea"/>
                <a:sym typeface="+mn-lt"/>
              </a:rPr>
              <a:t>部署</a:t>
            </a:r>
            <a:endParaRPr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1019810" y="747395"/>
            <a:ext cx="3554730" cy="2287905"/>
          </a:xfrm>
        </p:spPr>
        <p:txBody>
          <a:bodyPr wrap="square">
            <a:normAutofit/>
          </a:bodyPr>
          <a:lstStyle/>
          <a:p>
            <a:r>
              <a:rPr lang="zh-CN" altLang="en-US">
                <a:latin typeface="+mn-lt"/>
                <a:sym typeface="+mn-lt"/>
              </a:rPr>
              <a:t>第三</a:t>
            </a:r>
            <a:r>
              <a:rPr lang="zh-CN" altLang="en-US">
                <a:latin typeface="+mn-lt"/>
                <a:sym typeface="+mn-lt"/>
              </a:rPr>
              <a:t>节</a:t>
            </a:r>
            <a:endParaRPr lang="zh-CN" altLang="en-US">
              <a:latin typeface="+mn-lt"/>
              <a:sym typeface="+mn-lt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>
            <p:custDataLst>
              <p:tags r:id="rId1"/>
            </p:custDataLst>
          </p:nvPr>
        </p:nvSpPr>
        <p:spPr>
          <a:xfrm rot="9240000">
            <a:off x="10078541" y="6207703"/>
            <a:ext cx="2421265" cy="103250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3813" h="1626">
                <a:moveTo>
                  <a:pt x="721" y="0"/>
                </a:moveTo>
                <a:lnTo>
                  <a:pt x="3813" y="1508"/>
                </a:lnTo>
                <a:lnTo>
                  <a:pt x="3783" y="1569"/>
                </a:lnTo>
                <a:lnTo>
                  <a:pt x="3776" y="1570"/>
                </a:lnTo>
                <a:cubicBezTo>
                  <a:pt x="3317" y="1606"/>
                  <a:pt x="2824" y="1626"/>
                  <a:pt x="2313" y="1626"/>
                </a:cubicBezTo>
                <a:cubicBezTo>
                  <a:pt x="1486" y="1626"/>
                  <a:pt x="710" y="1574"/>
                  <a:pt x="42" y="1484"/>
                </a:cubicBezTo>
                <a:lnTo>
                  <a:pt x="0" y="1479"/>
                </a:lnTo>
                <a:lnTo>
                  <a:pt x="721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1575" y="617993"/>
            <a:ext cx="10969200" cy="491272"/>
          </a:xfrm>
        </p:spPr>
        <p:txBody>
          <a:bodyPr/>
          <a:lstStyle/>
          <a:p>
            <a:r>
              <a:rPr lang="zh-CN" altLang="en-US"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多数据库实现</a:t>
            </a:r>
            <a:endParaRPr lang="zh-CN" altLang="en-US">
              <a:latin typeface="华文新魏" panose="02010800040101010101" charset="-122"/>
              <a:ea typeface="华文新魏" panose="02010800040101010101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228600" y="594360"/>
            <a:ext cx="144000" cy="57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wps稻壳儿佳誉设计原创链接：http://chn.docer.com/works?userid=219874625_4_11_5"/>
          <p:cNvSpPr txBox="1"/>
          <p:nvPr/>
        </p:nvSpPr>
        <p:spPr>
          <a:xfrm>
            <a:off x="2921697" y="1477154"/>
            <a:ext cx="7052823" cy="1139320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6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SF UI Display Thin" charset="0"/>
                <a:ea typeface="SF UI Display Thin" charset="0"/>
                <a:cs typeface="SF UI Display Thin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178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MySQL8.0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ts val="246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i="0" u="none" strike="noStrike" kern="1200" cap="none" spc="0" normalizeH="0" baseline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版本：8.0 端口：3307:3306</a:t>
            </a:r>
            <a:endParaRPr kumimoji="0" lang="zh-CN" altLang="en-US" sz="1400" i="0" u="none" strike="noStrike" kern="1200" cap="none" spc="0" normalizeH="0" baseline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ts val="246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i="0" u="none" strike="noStrike" kern="1200" cap="none" spc="0" normalizeH="0" baseline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优点：生态成熟性能稳</a:t>
            </a:r>
            <a:r>
              <a:rPr kumimoji="0" lang="zh-CN" altLang="en-US" sz="1400" i="0" u="none" strike="noStrike" kern="1200" cap="none" spc="0" normalizeH="0" baseline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定</a:t>
            </a:r>
            <a:endParaRPr kumimoji="0" lang="zh-CN" altLang="en-US" sz="1400" i="0" u="none" strike="noStrike" kern="1200" cap="none" spc="0" normalizeH="0" baseline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1437640" y="1477010"/>
            <a:ext cx="1020445" cy="1020445"/>
            <a:chOff x="2286" y="3055"/>
            <a:chExt cx="1607" cy="1607"/>
          </a:xfrm>
        </p:grpSpPr>
        <p:sp>
          <p:nvSpPr>
            <p:cNvPr id="3" name="wps稻壳儿佳誉设计原创链接：http://chn.docer.com/works?userid=219874625_4_11_5"/>
            <p:cNvSpPr/>
            <p:nvPr/>
          </p:nvSpPr>
          <p:spPr>
            <a:xfrm>
              <a:off x="2286" y="3055"/>
              <a:ext cx="1607" cy="1607"/>
            </a:xfrm>
            <a:prstGeom prst="ellipse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490" y="3135"/>
              <a:ext cx="1243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480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cs typeface="+mn-ea"/>
                  <a:sym typeface="+mn-lt"/>
                </a:rPr>
                <a:t>一</a:t>
              </a:r>
              <a:endParaRPr kumimoji="0" lang="zh-CN" altLang="en-US" sz="48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451610" y="3136900"/>
            <a:ext cx="1020445" cy="1020445"/>
            <a:chOff x="2286" y="6153"/>
            <a:chExt cx="1607" cy="1607"/>
          </a:xfrm>
        </p:grpSpPr>
        <p:sp>
          <p:nvSpPr>
            <p:cNvPr id="7" name="wps稻壳儿佳誉设计原创链接：http://chn.docer.com/works?userid=219874625_4_11_5"/>
            <p:cNvSpPr/>
            <p:nvPr/>
          </p:nvSpPr>
          <p:spPr>
            <a:xfrm>
              <a:off x="2286" y="6153"/>
              <a:ext cx="1607" cy="1607"/>
            </a:xfrm>
            <a:prstGeom prst="ellipse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2468" y="6302"/>
              <a:ext cx="1243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480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cs typeface="+mn-ea"/>
                  <a:sym typeface="+mn-lt"/>
                </a:rPr>
                <a:t>二</a:t>
              </a:r>
              <a:endParaRPr kumimoji="0" lang="zh-CN" altLang="en-US" sz="48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10" name="wps稻壳儿佳誉设计原创链接：http://chn.docer.com/works?userid=219874625_4_11_5"/>
          <p:cNvSpPr txBox="1"/>
          <p:nvPr/>
        </p:nvSpPr>
        <p:spPr>
          <a:xfrm>
            <a:off x="2921697" y="3137152"/>
            <a:ext cx="7052823" cy="1139320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6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SF UI Display Thin" charset="0"/>
                <a:ea typeface="SF UI Display Thin" charset="0"/>
                <a:cs typeface="SF UI Display Thin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178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PostgreSQL16</a:t>
            </a: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ts val="246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版本：PostgreSQL 16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端口：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5432:5432</a:t>
            </a:r>
            <a:endParaRPr kumimoji="0" lang="en-US" altLang="zh-CN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ts val="246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优点：</a:t>
            </a:r>
            <a:r>
              <a:rPr kumimoji="0" lang="zh-CN" altLang="en-US" sz="1400" i="0" u="none" strike="noStrike" kern="1200" cap="none" spc="0" normalizeH="0" baseline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功能全面标准强</a:t>
            </a:r>
            <a:r>
              <a:rPr kumimoji="0" lang="zh-CN" altLang="en-US" sz="1400" i="0" u="none" strike="noStrike" kern="1200" cap="none" spc="0" normalizeH="0" baseline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力</a:t>
            </a:r>
            <a:endParaRPr kumimoji="0" lang="zh-CN" altLang="en-US" sz="1400" i="0" u="none" strike="noStrike" kern="1200" cap="none" spc="0" normalizeH="0" baseline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ts val="246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1437640" y="4709160"/>
            <a:ext cx="1020445" cy="1020445"/>
            <a:chOff x="2286" y="6153"/>
            <a:chExt cx="1607" cy="1607"/>
          </a:xfrm>
        </p:grpSpPr>
        <p:sp>
          <p:nvSpPr>
            <p:cNvPr id="17" name="wps稻壳儿佳誉设计原创链接：http://chn.docer.com/works?userid=219874625_4_11_5"/>
            <p:cNvSpPr/>
            <p:nvPr/>
          </p:nvSpPr>
          <p:spPr>
            <a:xfrm>
              <a:off x="2286" y="6153"/>
              <a:ext cx="1607" cy="1607"/>
            </a:xfrm>
            <a:prstGeom prst="ellipse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2468" y="6302"/>
              <a:ext cx="1243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480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cs typeface="+mn-ea"/>
                  <a:sym typeface="+mn-lt"/>
                </a:rPr>
                <a:t>三</a:t>
              </a:r>
              <a:endParaRPr kumimoji="0" lang="zh-CN" altLang="en-US" sz="48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19" name="wps稻壳儿佳誉设计原创链接：http://chn.docer.com/works?userid=219874625_4_11_5"/>
          <p:cNvSpPr txBox="1"/>
          <p:nvPr/>
        </p:nvSpPr>
        <p:spPr>
          <a:xfrm>
            <a:off x="2921635" y="4840605"/>
            <a:ext cx="7052945" cy="1609090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6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SF UI Display Thin" charset="0"/>
                <a:ea typeface="SF UI Display Thin" charset="0"/>
                <a:cs typeface="SF UI Display Thin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178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Mariadb</a:t>
            </a: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R="0" lvl="0" algn="l" defTabSz="914400" rtl="0" fontAlgn="auto">
              <a:lnSpc>
                <a:spcPts val="246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i="0" u="none" strike="noStrike" kern="1200" cap="none" spc="0" normalizeH="0" baseline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端口：3308:3306</a:t>
            </a:r>
            <a:endParaRPr kumimoji="0" lang="zh-CN" altLang="en-US" sz="1400" i="0" u="none" strike="noStrike" kern="1200" cap="none" spc="0" normalizeH="0" baseline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marR="0" lvl="0" algn="l" defTabSz="914400" rtl="0" fontAlgn="auto">
              <a:lnSpc>
                <a:spcPts val="246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优点：作为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Mysql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的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子分支，兼容创新更开放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>
            <p:custDataLst>
              <p:tags r:id="rId1"/>
            </p:custDataLst>
          </p:nvPr>
        </p:nvSpPr>
        <p:spPr>
          <a:xfrm rot="9240000">
            <a:off x="10078541" y="6207703"/>
            <a:ext cx="2421265" cy="103250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3813" h="1626">
                <a:moveTo>
                  <a:pt x="721" y="0"/>
                </a:moveTo>
                <a:lnTo>
                  <a:pt x="3813" y="1508"/>
                </a:lnTo>
                <a:lnTo>
                  <a:pt x="3783" y="1569"/>
                </a:lnTo>
                <a:lnTo>
                  <a:pt x="3776" y="1570"/>
                </a:lnTo>
                <a:cubicBezTo>
                  <a:pt x="3317" y="1606"/>
                  <a:pt x="2824" y="1626"/>
                  <a:pt x="2313" y="1626"/>
                </a:cubicBezTo>
                <a:cubicBezTo>
                  <a:pt x="1486" y="1626"/>
                  <a:pt x="710" y="1574"/>
                  <a:pt x="42" y="1484"/>
                </a:cubicBezTo>
                <a:lnTo>
                  <a:pt x="0" y="1479"/>
                </a:lnTo>
                <a:lnTo>
                  <a:pt x="721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1575" y="617993"/>
            <a:ext cx="10969200" cy="491272"/>
          </a:xfrm>
        </p:spPr>
        <p:txBody>
          <a:bodyPr/>
          <a:lstStyle/>
          <a:p>
            <a:r>
              <a:rPr lang="zh-CN" altLang="en-US"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数据库的</a:t>
            </a:r>
            <a:r>
              <a:rPr lang="zh-CN" altLang="en-US"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部署</a:t>
            </a:r>
            <a:endParaRPr lang="zh-CN" altLang="en-US">
              <a:latin typeface="华文新魏" panose="02010800040101010101" charset="-122"/>
              <a:ea typeface="华文新魏" panose="02010800040101010101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228600" y="594360"/>
            <a:ext cx="144000" cy="57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12140" y="1498600"/>
            <a:ext cx="10968355" cy="42303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/>
              <a:t>1.MySQL:</a:t>
            </a:r>
            <a:r>
              <a:rPr lang="zh-CN" altLang="en-US" sz="2400"/>
              <a:t>作为主数据库在</a:t>
            </a:r>
            <a:r>
              <a:rPr lang="en-US" altLang="zh-CN" sz="2400"/>
              <a:t>Navicat</a:t>
            </a:r>
            <a:r>
              <a:rPr lang="zh-CN" altLang="en-US" sz="2400"/>
              <a:t>中连接部署，凭借其生态成熟与性能稳定，为日常开发运维提供便捷高效的管理体验。</a:t>
            </a:r>
            <a:endParaRPr lang="zh-CN" altLang="en-US" sz="2400"/>
          </a:p>
          <a:p>
            <a:endParaRPr lang="zh-CN" altLang="en-US" sz="2400"/>
          </a:p>
          <a:p>
            <a:r>
              <a:rPr lang="en-US" altLang="zh-CN" sz="2400"/>
              <a:t>2.PostgreSQL:</a:t>
            </a:r>
            <a:r>
              <a:rPr lang="zh-CN" altLang="en-US" sz="2400"/>
              <a:t>作为</a:t>
            </a:r>
            <a:r>
              <a:rPr lang="en-US" altLang="zh-CN" sz="2400"/>
              <a:t>MySQL</a:t>
            </a:r>
            <a:r>
              <a:rPr lang="zh-CN" altLang="en-US" sz="2400"/>
              <a:t>的同步目标库，通过</a:t>
            </a:r>
            <a:r>
              <a:rPr lang="en-US" altLang="zh-CN" sz="2400"/>
              <a:t>DataX</a:t>
            </a:r>
            <a:r>
              <a:rPr lang="zh-CN" altLang="en-US" sz="2400"/>
              <a:t>代码配置在</a:t>
            </a:r>
            <a:r>
              <a:rPr lang="en-US" altLang="zh-CN" sz="2400"/>
              <a:t>Docker</a:t>
            </a:r>
            <a:r>
              <a:rPr lang="zh-CN" altLang="en-US" sz="2400"/>
              <a:t>容器中部署启动，借助其强大的功能完整性确保复杂数据的精准流转与存储。</a:t>
            </a:r>
            <a:endParaRPr lang="zh-CN" altLang="en-US" sz="2400"/>
          </a:p>
          <a:p>
            <a:endParaRPr lang="zh-CN" altLang="en-US" sz="2400"/>
          </a:p>
          <a:p>
            <a:r>
              <a:rPr lang="en-US" altLang="zh-CN" sz="2400"/>
              <a:t>3.Mariadb:</a:t>
            </a:r>
            <a:r>
              <a:rPr lang="zh-CN" altLang="en-US" sz="2400"/>
              <a:t>作为</a:t>
            </a:r>
            <a:r>
              <a:rPr lang="en-US" altLang="zh-CN" sz="2400"/>
              <a:t>MySQL</a:t>
            </a:r>
            <a:r>
              <a:rPr lang="zh-CN" altLang="en-US" sz="2400"/>
              <a:t>的兼容分支数据库，同样作为同步目标库，通过</a:t>
            </a:r>
            <a:r>
              <a:rPr lang="en-US" altLang="zh-CN" sz="2400"/>
              <a:t>DataX</a:t>
            </a:r>
            <a:r>
              <a:rPr lang="zh-CN" altLang="en-US" sz="2400"/>
              <a:t>在</a:t>
            </a:r>
            <a:r>
              <a:rPr lang="en-US" altLang="zh-CN" sz="2400"/>
              <a:t>Docker</a:t>
            </a:r>
            <a:r>
              <a:rPr lang="zh-CN" altLang="en-US" sz="2400"/>
              <a:t>容器中部署，凭借其创新特性和高度兼容性，为数据同步架构提供灵活备份与扩展方案</a:t>
            </a:r>
            <a:endParaRPr lang="zh-CN" altLang="en-US" sz="2400"/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140" y="4944745"/>
            <a:ext cx="9238615" cy="78422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>
            <p:custDataLst>
              <p:tags r:id="rId1"/>
            </p:custDataLst>
          </p:nvPr>
        </p:nvSpPr>
        <p:spPr>
          <a:xfrm rot="9240000">
            <a:off x="10078541" y="6207703"/>
            <a:ext cx="2421265" cy="103250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3813" h="1626">
                <a:moveTo>
                  <a:pt x="721" y="0"/>
                </a:moveTo>
                <a:lnTo>
                  <a:pt x="3813" y="1508"/>
                </a:lnTo>
                <a:lnTo>
                  <a:pt x="3783" y="1569"/>
                </a:lnTo>
                <a:lnTo>
                  <a:pt x="3776" y="1570"/>
                </a:lnTo>
                <a:cubicBezTo>
                  <a:pt x="3317" y="1606"/>
                  <a:pt x="2824" y="1626"/>
                  <a:pt x="2313" y="1626"/>
                </a:cubicBezTo>
                <a:cubicBezTo>
                  <a:pt x="1486" y="1626"/>
                  <a:pt x="710" y="1574"/>
                  <a:pt x="42" y="1484"/>
                </a:cubicBezTo>
                <a:lnTo>
                  <a:pt x="0" y="1479"/>
                </a:lnTo>
                <a:lnTo>
                  <a:pt x="721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1575" y="617993"/>
            <a:ext cx="10969200" cy="491272"/>
          </a:xfrm>
        </p:spPr>
        <p:txBody>
          <a:bodyPr/>
          <a:lstStyle/>
          <a:p>
            <a:r>
              <a:rPr lang="en-US" altLang="zh-CN"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docker</a:t>
            </a:r>
            <a:r>
              <a:rPr lang="zh-CN" altLang="en-US"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的</a:t>
            </a:r>
            <a:r>
              <a:rPr lang="zh-CN" altLang="en-US"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部署</a:t>
            </a:r>
            <a:endParaRPr lang="zh-CN" altLang="en-US">
              <a:latin typeface="华文新魏" panose="02010800040101010101" charset="-122"/>
              <a:ea typeface="华文新魏" panose="02010800040101010101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228600" y="594360"/>
            <a:ext cx="144000" cy="57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21" name="直接连接符 20"/>
          <p:cNvCxnSpPr/>
          <p:nvPr/>
        </p:nvCxnSpPr>
        <p:spPr>
          <a:xfrm flipH="1">
            <a:off x="4079875" y="1957705"/>
            <a:ext cx="11430" cy="4733925"/>
          </a:xfrm>
          <a:prstGeom prst="line">
            <a:avLst/>
          </a:prstGeom>
          <a:ln w="31750" cap="sq" cmpd="dbl">
            <a:solidFill>
              <a:schemeClr val="accent3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H="1">
            <a:off x="7974330" y="1957705"/>
            <a:ext cx="11430" cy="4733925"/>
          </a:xfrm>
          <a:prstGeom prst="line">
            <a:avLst/>
          </a:prstGeom>
          <a:ln w="31750" cap="sq" cmpd="dbl">
            <a:solidFill>
              <a:schemeClr val="accent3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362585" y="1738630"/>
            <a:ext cx="34436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隶书" panose="02010509060101010101" charset="-122"/>
                <a:ea typeface="隶书" panose="02010509060101010101" charset="-122"/>
              </a:rPr>
              <a:t>编写dockerfile</a:t>
            </a:r>
            <a:endParaRPr lang="zh-CN" altLang="en-US" sz="2400"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504055" y="1738630"/>
            <a:ext cx="306260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隶书" panose="02010509060101010101" charset="-122"/>
                <a:ea typeface="隶书" panose="02010509060101010101" charset="-122"/>
              </a:rPr>
              <a:t>配置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docker-compose.yml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811260" y="1738630"/>
            <a:ext cx="25533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latin typeface="隶书" panose="02010509060101010101" charset="-122"/>
                <a:ea typeface="隶书" panose="02010509060101010101" charset="-122"/>
              </a:rPr>
              <a:t>启动</a:t>
            </a:r>
            <a:r>
              <a:rPr lang="zh-CN" altLang="en-US" sz="3600">
                <a:latin typeface="隶书" panose="02010509060101010101" charset="-122"/>
                <a:ea typeface="隶书" panose="02010509060101010101" charset="-122"/>
              </a:rPr>
              <a:t>容器</a:t>
            </a:r>
            <a:endParaRPr lang="zh-CN" altLang="en-US" sz="3600"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2745" y="5510530"/>
            <a:ext cx="3433445" cy="9728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注意：</a:t>
            </a:r>
            <a:endParaRPr lang="zh-CN" altLang="en-US"/>
          </a:p>
          <a:p>
            <a:r>
              <a:rPr lang="en-US" altLang="zh-CN"/>
              <a:t>1.</a:t>
            </a:r>
            <a:r>
              <a:rPr lang="zh-CN" altLang="en-US"/>
              <a:t>暴露</a:t>
            </a:r>
            <a:r>
              <a:rPr lang="en-US" altLang="zh-CN"/>
              <a:t>5000</a:t>
            </a:r>
            <a:r>
              <a:rPr lang="zh-CN" altLang="en-US"/>
              <a:t>端口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设置启动命令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2688590"/>
            <a:ext cx="3577590" cy="252412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521200" y="2687955"/>
            <a:ext cx="3045460" cy="3796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要点：</a:t>
            </a:r>
            <a:endParaRPr lang="zh-CN" altLang="en-US"/>
          </a:p>
          <a:p>
            <a:r>
              <a:rPr lang="en-US" altLang="zh-CN"/>
              <a:t>1.</a:t>
            </a:r>
            <a:r>
              <a:rPr lang="zh-CN" altLang="en-US"/>
              <a:t>配置数据库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en-US" altLang="zh-CN"/>
          </a:p>
          <a:p>
            <a:r>
              <a:rPr lang="en-US" altLang="zh-CN"/>
              <a:t>2.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设置环境变量和依赖关系</a:t>
            </a:r>
            <a:endParaRPr lang="en-US" altLang="zh-CN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4055" y="3298825"/>
            <a:ext cx="2834005" cy="168783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4055" y="5635625"/>
            <a:ext cx="1591310" cy="84772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5365" y="5635625"/>
            <a:ext cx="1694180" cy="843915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8810625" y="2783840"/>
            <a:ext cx="2769235" cy="29457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/>
              <a:t>docker compose -p csu_db up -d</a:t>
            </a:r>
            <a:endParaRPr lang="en-US" altLang="zh-CN"/>
          </a:p>
          <a:p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10625" y="4062095"/>
            <a:ext cx="2992755" cy="1266825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19504" y="3160175"/>
            <a:ext cx="10181896" cy="1541033"/>
          </a:xfrm>
        </p:spPr>
        <p:txBody>
          <a:bodyPr wrap="square">
            <a:normAutofit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多数据库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同步的实现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1019504" y="747588"/>
            <a:ext cx="10181896" cy="2288155"/>
          </a:xfrm>
        </p:spPr>
        <p:txBody>
          <a:bodyPr wrap="square">
            <a:normAutofit/>
          </a:bodyPr>
          <a:lstStyle/>
          <a:p>
            <a:r>
              <a:rPr lang="zh-CN" altLang="en-US">
                <a:latin typeface="+mn-lt"/>
                <a:sym typeface="+mn-lt"/>
              </a:rPr>
              <a:t>第四</a:t>
            </a:r>
            <a:r>
              <a:rPr lang="zh-CN" altLang="en-US">
                <a:latin typeface="+mn-lt"/>
                <a:sym typeface="+mn-lt"/>
              </a:rPr>
              <a:t>节</a:t>
            </a:r>
            <a:endParaRPr lang="zh-CN" altLang="en-US">
              <a:latin typeface="+mn-lt"/>
              <a:sym typeface="+mn-lt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228600" y="594360"/>
            <a:ext cx="144000" cy="57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标题 2"/>
          <p:cNvSpPr/>
          <p:nvPr>
            <p:ph type="title"/>
            <p:custDataLst>
              <p:tags r:id="rId2"/>
            </p:custDataLst>
          </p:nvPr>
        </p:nvSpPr>
        <p:spPr>
          <a:xfrm>
            <a:off x="649288" y="306305"/>
            <a:ext cx="10515600" cy="864000"/>
          </a:xfrm>
        </p:spPr>
        <p:txBody>
          <a:bodyPr/>
          <a:p>
            <a:r>
              <a:rPr lang="en-US" altLang="zh-CN"/>
              <a:t>Datax</a:t>
            </a:r>
            <a:r>
              <a:rPr lang="zh-CN" altLang="en-US"/>
              <a:t>的介绍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72745" y="1555115"/>
            <a:ext cx="10646410" cy="4448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zh-CN" altLang="en-US" sz="2400"/>
              <a:t>DataX 是阿里巴巴开源的一款高效、稳定的离线数据同步工具，致力于实现异构数据源之间的批量数据传输。它采用“框架 + 插件” 的开放式架构，其核心引擎负责流程调度、错误重试等通用任务，而针对各种数据源的读写操作则通过插件实现。用户可通过简单配置作业（JSON格式），即可在不同数据库间进行高性能的数据迁移。它具有部署简单、扩展性强、数据容错和速率控制等特点，广泛应用于数据仓库</a:t>
            </a:r>
            <a:r>
              <a:rPr lang="zh-CN" altLang="en-US" sz="2400"/>
              <a:t>ETL、数据备份、系统间数据交换等场景。</a:t>
            </a:r>
            <a:endParaRPr lang="zh-CN" altLang="en-US" sz="2400"/>
          </a:p>
          <a:p>
            <a:pPr indent="457200"/>
            <a:r>
              <a:rPr lang="zh-CN" altLang="en-US" sz="2400"/>
              <a:t>DataX 可以用于这三个数据库的同步，因为它为 MySQL、Oracle、</a:t>
            </a:r>
            <a:r>
              <a:rPr lang="zh-CN" altLang="en-US" sz="2400"/>
              <a:t>PostgreSQL 等主流数据库均提供了成熟的读写插件。其核心框架通过统一的作业配置，能高效驱动数据在不同数据库间流转，本质上是解决异构数据源的离线批量迁移问题，非常适合本实验需求中的定时全量或增量同步场景。</a:t>
            </a:r>
            <a:endParaRPr lang="zh-CN" altLang="en-US" sz="2400"/>
          </a:p>
          <a:p>
            <a:pPr indent="457200"/>
            <a:endParaRPr lang="zh-CN" altLang="en-US" sz="240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>
            <p:custDataLst>
              <p:tags r:id="rId1"/>
            </p:custDataLst>
          </p:nvPr>
        </p:nvSpPr>
        <p:spPr>
          <a:xfrm rot="9240000">
            <a:off x="10078541" y="6207703"/>
            <a:ext cx="2421265" cy="103250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3813" h="1626">
                <a:moveTo>
                  <a:pt x="721" y="0"/>
                </a:moveTo>
                <a:lnTo>
                  <a:pt x="3813" y="1508"/>
                </a:lnTo>
                <a:lnTo>
                  <a:pt x="3783" y="1569"/>
                </a:lnTo>
                <a:lnTo>
                  <a:pt x="3776" y="1570"/>
                </a:lnTo>
                <a:cubicBezTo>
                  <a:pt x="3317" y="1606"/>
                  <a:pt x="2824" y="1626"/>
                  <a:pt x="2313" y="1626"/>
                </a:cubicBezTo>
                <a:cubicBezTo>
                  <a:pt x="1486" y="1626"/>
                  <a:pt x="710" y="1574"/>
                  <a:pt x="42" y="1484"/>
                </a:cubicBezTo>
                <a:lnTo>
                  <a:pt x="0" y="1479"/>
                </a:lnTo>
                <a:lnTo>
                  <a:pt x="721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1505" y="467360"/>
            <a:ext cx="10968990" cy="702945"/>
          </a:xfrm>
        </p:spPr>
        <p:txBody>
          <a:bodyPr>
            <a:normAutofit/>
          </a:bodyPr>
          <a:lstStyle/>
          <a:p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Datax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进行多数据库同步的原理</a:t>
            </a:r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228600" y="594360"/>
            <a:ext cx="144000" cy="57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12140" y="1769110"/>
            <a:ext cx="10968355" cy="4822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zh-CN" altLang="en-US" sz="2400"/>
              <a:t>DataX进行多数据库同步的核心原理是通过“框架调度+插件读写”的架构，实现异构数据源间可控的数据传输流程。</a:t>
            </a:r>
            <a:endParaRPr lang="zh-CN" altLang="en-US" sz="2400"/>
          </a:p>
          <a:p>
            <a:pPr indent="457200"/>
            <a:r>
              <a:rPr lang="zh-CN" altLang="en-US" sz="2400"/>
              <a:t>其本质是基于单机多线程的离线批量同步。整个过程始于一个由用户编写或Web界面生成的JSON格式Job配置文件，该文件定义了全局参数、并发数以及若干个Task。每个Task对应一对具体的Reader（源端读取插件）和Writer（目标端写入插件）。</a:t>
            </a:r>
            <a:endParaRPr lang="zh-CN" altLang="en-US" sz="2400"/>
          </a:p>
          <a:p>
            <a:pPr indent="457200"/>
            <a:r>
              <a:rPr lang="zh-CN" altLang="en-US" sz="2400"/>
              <a:t>执行时，DataX框架会先将Job分解为Task并调度执行。关键的数据流转发生在内存中：Reader插件按照切片策略从源数据库批量读取数据到内存的存储队列，Writer插件则从队列中批量取出数据写入目标数据库。这种模式通过有限的内存通道代替网络传输，使数据无需落盘即可完成转换，由框架统一负责传输、容错和流量控制，插件只需专注于各自数据库的读写逻辑。因此，无论是MySQL到Oracle，还是到PostgreSQL，只需组合对应的插件即可。</a:t>
            </a:r>
            <a:endParaRPr lang="zh-CN" altLang="en-US" sz="2400"/>
          </a:p>
        </p:txBody>
      </p:sp>
    </p:spTree>
    <p:custDataLst>
      <p:tags r:id="rId4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>
            <p:custDataLst>
              <p:tags r:id="rId1"/>
            </p:custDataLst>
          </p:nvPr>
        </p:nvSpPr>
        <p:spPr>
          <a:xfrm rot="9240000">
            <a:off x="10078541" y="6207703"/>
            <a:ext cx="2421265" cy="103250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3813" h="1626">
                <a:moveTo>
                  <a:pt x="721" y="0"/>
                </a:moveTo>
                <a:lnTo>
                  <a:pt x="3813" y="1508"/>
                </a:lnTo>
                <a:lnTo>
                  <a:pt x="3783" y="1569"/>
                </a:lnTo>
                <a:lnTo>
                  <a:pt x="3776" y="1570"/>
                </a:lnTo>
                <a:cubicBezTo>
                  <a:pt x="3317" y="1606"/>
                  <a:pt x="2824" y="1626"/>
                  <a:pt x="2313" y="1626"/>
                </a:cubicBezTo>
                <a:cubicBezTo>
                  <a:pt x="1486" y="1626"/>
                  <a:pt x="710" y="1574"/>
                  <a:pt x="42" y="1484"/>
                </a:cubicBezTo>
                <a:lnTo>
                  <a:pt x="0" y="1479"/>
                </a:lnTo>
                <a:lnTo>
                  <a:pt x="721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1505" y="467360"/>
            <a:ext cx="10968990" cy="702945"/>
          </a:xfrm>
        </p:spPr>
        <p:txBody>
          <a:bodyPr>
            <a:normAutofit/>
          </a:bodyPr>
          <a:lstStyle/>
          <a:p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如何实现</a:t>
            </a: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Datax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的多数库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同步</a:t>
            </a:r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228600" y="594360"/>
            <a:ext cx="144000" cy="57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12140" y="1769110"/>
            <a:ext cx="10968355" cy="4822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en-US" altLang="zh-CN" sz="2400"/>
              <a:t>1.</a:t>
            </a:r>
            <a:r>
              <a:rPr lang="zh-CN" altLang="en-US" sz="2400"/>
              <a:t>首先，确保所有需要同步的源数据库和目标数据库（例如</a:t>
            </a:r>
            <a:r>
              <a:rPr lang="en-US" altLang="zh-CN" sz="2400"/>
              <a:t>MySQL</a:t>
            </a:r>
            <a:r>
              <a:rPr lang="zh-CN" altLang="en-US" sz="2400"/>
              <a:t>、</a:t>
            </a:r>
            <a:r>
              <a:rPr lang="en-US" altLang="zh-CN" sz="2400"/>
              <a:t>Oracle</a:t>
            </a:r>
            <a:r>
              <a:rPr lang="zh-CN" altLang="en-US" sz="2400"/>
              <a:t>等）网络互通，并准备好具有相应读写权限的数据库账户。随后，安装</a:t>
            </a:r>
            <a:r>
              <a:rPr lang="en-US" altLang="zh-CN" sz="2400"/>
              <a:t>Java</a:t>
            </a:r>
            <a:r>
              <a:rPr lang="zh-CN" altLang="en-US" sz="2400"/>
              <a:t>运行环境（</a:t>
            </a:r>
            <a:r>
              <a:rPr lang="en-US" altLang="zh-CN" sz="2400"/>
              <a:t>JRE 8</a:t>
            </a:r>
            <a:r>
              <a:rPr lang="zh-CN" altLang="en-US" sz="2400"/>
              <a:t>或以上）。最后，从</a:t>
            </a:r>
            <a:r>
              <a:rPr lang="en-US" altLang="zh-CN" sz="2400"/>
              <a:t>DataX</a:t>
            </a:r>
            <a:r>
              <a:rPr lang="zh-CN" altLang="en-US" sz="2400"/>
              <a:t>的官方</a:t>
            </a:r>
            <a:r>
              <a:rPr lang="en-US" altLang="zh-CN" sz="2400"/>
              <a:t>GitHub</a:t>
            </a:r>
            <a:r>
              <a:rPr lang="zh-CN" altLang="en-US" sz="2400"/>
              <a:t>仓库下载对应版本的压缩包，解压至该服务器，即完成了</a:t>
            </a:r>
            <a:r>
              <a:rPr lang="en-US" altLang="zh-CN" sz="2400"/>
              <a:t>DataX</a:t>
            </a:r>
            <a:r>
              <a:rPr lang="zh-CN" altLang="en-US" sz="2400"/>
              <a:t>运行环境的部署。可以通过运行一个简单的自检命令来验证安装是否成功。</a:t>
            </a:r>
            <a:endParaRPr lang="en-US" altLang="zh-CN" sz="24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05" y="3907155"/>
            <a:ext cx="7992745" cy="182245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>
            <p:custDataLst>
              <p:tags r:id="rId1"/>
            </p:custDataLst>
          </p:nvPr>
        </p:nvSpPr>
        <p:spPr>
          <a:xfrm rot="9240000">
            <a:off x="10078541" y="6207703"/>
            <a:ext cx="2421265" cy="103250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3813" h="1626">
                <a:moveTo>
                  <a:pt x="721" y="0"/>
                </a:moveTo>
                <a:lnTo>
                  <a:pt x="3813" y="1508"/>
                </a:lnTo>
                <a:lnTo>
                  <a:pt x="3783" y="1569"/>
                </a:lnTo>
                <a:lnTo>
                  <a:pt x="3776" y="1570"/>
                </a:lnTo>
                <a:cubicBezTo>
                  <a:pt x="3317" y="1606"/>
                  <a:pt x="2824" y="1626"/>
                  <a:pt x="2313" y="1626"/>
                </a:cubicBezTo>
                <a:cubicBezTo>
                  <a:pt x="1486" y="1626"/>
                  <a:pt x="710" y="1574"/>
                  <a:pt x="42" y="1484"/>
                </a:cubicBezTo>
                <a:lnTo>
                  <a:pt x="0" y="1479"/>
                </a:lnTo>
                <a:lnTo>
                  <a:pt x="721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1505" y="467360"/>
            <a:ext cx="10968990" cy="702945"/>
          </a:xfrm>
        </p:spPr>
        <p:txBody>
          <a:bodyPr>
            <a:normAutofit/>
          </a:bodyPr>
          <a:lstStyle/>
          <a:p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如何实现</a:t>
            </a: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Datax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的多数库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同步</a:t>
            </a:r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228600" y="594360"/>
            <a:ext cx="144000" cy="57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12140" y="1769110"/>
            <a:ext cx="10968355" cy="4822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en-US" altLang="zh-CN" sz="2400"/>
              <a:t>2.</a:t>
            </a:r>
            <a:r>
              <a:rPr lang="zh-CN" altLang="en-US" sz="2400"/>
              <a:t>配置数据源连接信息。</a:t>
            </a:r>
            <a:r>
              <a:rPr lang="en-US" altLang="zh-CN" sz="2400"/>
              <a:t>DataX</a:t>
            </a:r>
            <a:r>
              <a:rPr lang="zh-CN" altLang="en-US" sz="2400"/>
              <a:t>通过配置文件与数据库交互，因此需要明确每个数据库的连接细节。这包括：数据库的类型（如</a:t>
            </a:r>
            <a:r>
              <a:rPr lang="en-US" altLang="zh-CN" sz="2400"/>
              <a:t>mysql</a:t>
            </a:r>
            <a:r>
              <a:rPr lang="zh-CN" altLang="en-US" sz="2400"/>
              <a:t>、</a:t>
            </a:r>
            <a:r>
              <a:rPr lang="en-US" altLang="zh-CN" sz="2400"/>
              <a:t>oracle</a:t>
            </a:r>
            <a:r>
              <a:rPr lang="zh-CN" altLang="en-US" sz="2400"/>
              <a:t>）、</a:t>
            </a:r>
            <a:r>
              <a:rPr lang="en-US" altLang="zh-CN" sz="2400"/>
              <a:t>IP</a:t>
            </a:r>
            <a:r>
              <a:rPr lang="zh-CN" altLang="en-US" sz="2400"/>
              <a:t>地址和端口号、具体的数据库实例名或服务名、以及用于认证的用户名和密码。这些信息将被精确地写入后续的同步任务配置文件中，作为</a:t>
            </a:r>
            <a:r>
              <a:rPr lang="en-US" altLang="zh-CN" sz="2400"/>
              <a:t>Reader</a:t>
            </a:r>
            <a:r>
              <a:rPr lang="zh-CN" altLang="en-US" sz="2400"/>
              <a:t>（读取端）或</a:t>
            </a:r>
            <a:r>
              <a:rPr lang="en-US" altLang="zh-CN" sz="2400"/>
              <a:t>Writer</a:t>
            </a:r>
            <a:r>
              <a:rPr lang="zh-CN" altLang="en-US" sz="2400"/>
              <a:t>（写入端）的核心参数。</a:t>
            </a:r>
            <a:endParaRPr lang="zh-CN" altLang="en-US" sz="2400"/>
          </a:p>
          <a:p>
            <a:pPr indent="457200"/>
            <a:r>
              <a:rPr lang="en-US" altLang="zh-CN" sz="2400"/>
              <a:t>3.</a:t>
            </a:r>
            <a:r>
              <a:rPr lang="zh-CN" altLang="en-US" sz="2400"/>
              <a:t>规划同步任务与数据映射。需要明确：同步哪些表？是全表同步还是基于条件的增量同步？源表和目标表之间的字段如何对应？如果字段名或数据类型不一致，是否需要简单的转换？此外，还需确定同步的触发方式（如手动执行一次，还是配置定时任务周期性执行）。</a:t>
            </a:r>
            <a:endParaRPr lang="zh-CN" altLang="en-US" sz="2400"/>
          </a:p>
          <a:p>
            <a:pPr indent="457200"/>
            <a:endParaRPr lang="zh-CN" altLang="en-US" sz="2400"/>
          </a:p>
        </p:txBody>
      </p:sp>
    </p:spTree>
    <p:custDataLst>
      <p:tags r:id="rId4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>
            <p:custDataLst>
              <p:tags r:id="rId1"/>
            </p:custDataLst>
          </p:nvPr>
        </p:nvSpPr>
        <p:spPr>
          <a:xfrm rot="9240000">
            <a:off x="10078541" y="6207703"/>
            <a:ext cx="2421265" cy="103250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3813" h="1626">
                <a:moveTo>
                  <a:pt x="721" y="0"/>
                </a:moveTo>
                <a:lnTo>
                  <a:pt x="3813" y="1508"/>
                </a:lnTo>
                <a:lnTo>
                  <a:pt x="3783" y="1569"/>
                </a:lnTo>
                <a:lnTo>
                  <a:pt x="3776" y="1570"/>
                </a:lnTo>
                <a:cubicBezTo>
                  <a:pt x="3317" y="1606"/>
                  <a:pt x="2824" y="1626"/>
                  <a:pt x="2313" y="1626"/>
                </a:cubicBezTo>
                <a:cubicBezTo>
                  <a:pt x="1486" y="1626"/>
                  <a:pt x="710" y="1574"/>
                  <a:pt x="42" y="1484"/>
                </a:cubicBezTo>
                <a:lnTo>
                  <a:pt x="0" y="1479"/>
                </a:lnTo>
                <a:lnTo>
                  <a:pt x="721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1505" y="467360"/>
            <a:ext cx="10968990" cy="702945"/>
          </a:xfrm>
        </p:spPr>
        <p:txBody>
          <a:bodyPr>
            <a:normAutofit/>
          </a:bodyPr>
          <a:lstStyle/>
          <a:p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如何实现</a:t>
            </a: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Datax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的多数库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同步</a:t>
            </a:r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228600" y="594360"/>
            <a:ext cx="144000" cy="57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12140" y="1769110"/>
            <a:ext cx="10968355" cy="4822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en-US" altLang="zh-CN" sz="2400">
                <a:sym typeface="+mn-ea"/>
              </a:rPr>
              <a:t>4.</a:t>
            </a:r>
            <a:r>
              <a:rPr lang="zh-CN" altLang="en-US" sz="2400">
                <a:sym typeface="+mn-ea"/>
              </a:rPr>
              <a:t>编写</a:t>
            </a:r>
            <a:r>
              <a:rPr lang="en-US" altLang="zh-CN" sz="2400">
                <a:sym typeface="+mn-ea"/>
              </a:rPr>
              <a:t>DataX</a:t>
            </a:r>
            <a:r>
              <a:rPr lang="zh-CN" altLang="en-US" sz="2400">
                <a:sym typeface="+mn-ea"/>
              </a:rPr>
              <a:t>同步任务配置文件。创建</a:t>
            </a:r>
            <a:r>
              <a:rPr lang="en-US" altLang="zh-CN" sz="2400">
                <a:sym typeface="+mn-ea"/>
              </a:rPr>
              <a:t>DataX</a:t>
            </a:r>
            <a:r>
              <a:rPr lang="zh-CN" altLang="en-US" sz="2400">
                <a:sym typeface="+mn-ea"/>
              </a:rPr>
              <a:t>任务的核心</a:t>
            </a:r>
            <a:r>
              <a:rPr lang="en-US" altLang="zh-CN" sz="2400">
                <a:sym typeface="+mn-ea"/>
              </a:rPr>
              <a:t>——JSON</a:t>
            </a:r>
            <a:r>
              <a:rPr lang="zh-CN" altLang="en-US" sz="2400">
                <a:sym typeface="+mn-ea"/>
              </a:rPr>
              <a:t>格式的</a:t>
            </a:r>
            <a:r>
              <a:rPr lang="en-US" altLang="zh-CN" sz="2400">
                <a:sym typeface="+mn-ea"/>
              </a:rPr>
              <a:t>Job</a:t>
            </a:r>
            <a:r>
              <a:rPr lang="zh-CN" altLang="en-US" sz="2400">
                <a:sym typeface="+mn-ea"/>
              </a:rPr>
              <a:t>配置文件。该文件结构清晰：顶层的</a:t>
            </a:r>
            <a:r>
              <a:rPr lang="en-US" altLang="zh-CN" sz="2400">
                <a:sym typeface="+mn-ea"/>
              </a:rPr>
              <a:t>job</a:t>
            </a:r>
            <a:r>
              <a:rPr lang="zh-CN" altLang="en-US" sz="2400">
                <a:sym typeface="+mn-ea"/>
              </a:rPr>
              <a:t>包含全局设置（如错误容忍度、速度限制）；其下的</a:t>
            </a:r>
            <a:r>
              <a:rPr lang="en-US" altLang="zh-CN" sz="2400">
                <a:sym typeface="+mn-ea"/>
              </a:rPr>
              <a:t>content</a:t>
            </a:r>
            <a:r>
              <a:rPr lang="zh-CN" altLang="en-US" sz="2400">
                <a:sym typeface="+mn-ea"/>
              </a:rPr>
              <a:t>数组内，顺序配置一个或多个</a:t>
            </a:r>
            <a:r>
              <a:rPr lang="en-US" altLang="zh-CN" sz="2400">
                <a:sym typeface="+mn-ea"/>
              </a:rPr>
              <a:t>reader</a:t>
            </a:r>
            <a:r>
              <a:rPr lang="zh-CN" altLang="en-US" sz="2400">
                <a:sym typeface="+mn-ea"/>
              </a:rPr>
              <a:t>（数据读取方）和对应的</a:t>
            </a:r>
            <a:r>
              <a:rPr lang="en-US" altLang="zh-CN" sz="2400">
                <a:sym typeface="+mn-ea"/>
              </a:rPr>
              <a:t>writer</a:t>
            </a:r>
            <a:r>
              <a:rPr lang="zh-CN" altLang="en-US" sz="2400">
                <a:sym typeface="+mn-ea"/>
              </a:rPr>
              <a:t>（数据写入方），并在其中填入第二步准备好的具体数据库连接参数、表名、列名以及增量同步条件。</a:t>
            </a:r>
            <a:r>
              <a:rPr lang="en-US" altLang="zh-CN" sz="2400">
                <a:sym typeface="+mn-ea"/>
              </a:rPr>
              <a:t>DataX</a:t>
            </a:r>
            <a:r>
              <a:rPr lang="zh-CN" altLang="en-US" sz="2400">
                <a:sym typeface="+mn-ea"/>
              </a:rPr>
              <a:t>社区提供了大量模板可供参考。</a:t>
            </a:r>
            <a:endParaRPr lang="zh-CN" altLang="en-US" sz="2400">
              <a:sym typeface="+mn-ea"/>
            </a:endParaRPr>
          </a:p>
          <a:p>
            <a:pPr indent="457200"/>
            <a:endParaRPr lang="zh-CN" altLang="en-US" sz="24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140" y="3947795"/>
            <a:ext cx="5276850" cy="246634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4895" y="3947795"/>
            <a:ext cx="4905375" cy="246697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>
            <p:custDataLst>
              <p:tags r:id="rId1"/>
            </p:custDataLst>
          </p:nvPr>
        </p:nvSpPr>
        <p:spPr>
          <a:xfrm rot="9240000">
            <a:off x="10078541" y="6207703"/>
            <a:ext cx="2421265" cy="103250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3813" h="1626">
                <a:moveTo>
                  <a:pt x="721" y="0"/>
                </a:moveTo>
                <a:lnTo>
                  <a:pt x="3813" y="1508"/>
                </a:lnTo>
                <a:lnTo>
                  <a:pt x="3783" y="1569"/>
                </a:lnTo>
                <a:lnTo>
                  <a:pt x="3776" y="1570"/>
                </a:lnTo>
                <a:cubicBezTo>
                  <a:pt x="3317" y="1606"/>
                  <a:pt x="2824" y="1626"/>
                  <a:pt x="2313" y="1626"/>
                </a:cubicBezTo>
                <a:cubicBezTo>
                  <a:pt x="1486" y="1626"/>
                  <a:pt x="710" y="1574"/>
                  <a:pt x="42" y="1484"/>
                </a:cubicBezTo>
                <a:lnTo>
                  <a:pt x="0" y="1479"/>
                </a:lnTo>
                <a:lnTo>
                  <a:pt x="721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2140" y="467360"/>
            <a:ext cx="10968990" cy="702945"/>
          </a:xfrm>
        </p:spPr>
        <p:txBody>
          <a:bodyPr>
            <a:normAutofit/>
          </a:bodyPr>
          <a:lstStyle/>
          <a:p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如何实现</a:t>
            </a: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Datax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的多数库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同步</a:t>
            </a:r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228600" y="594360"/>
            <a:ext cx="144000" cy="57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12140" y="1769110"/>
            <a:ext cx="10968355" cy="4822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zh-CN" altLang="en-US" sz="2400"/>
              <a:t>例：</a:t>
            </a:r>
            <a:r>
              <a:rPr lang="en-US" altLang="zh-CN" sz="2400"/>
              <a:t>MySQLtoPostgresql_fastfood_shop.json</a:t>
            </a:r>
            <a:endParaRPr lang="en-US" altLang="zh-CN" sz="240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05" y="2393950"/>
            <a:ext cx="3816350" cy="43053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7855" y="2393950"/>
            <a:ext cx="3350895" cy="419735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7778750" y="2247265"/>
            <a:ext cx="4064000" cy="41128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 sz="2400"/>
              <a:t>重要参数：</a:t>
            </a:r>
            <a:endParaRPr lang="en-US" altLang="zh-CN" sz="2400"/>
          </a:p>
          <a:p>
            <a:pPr algn="l"/>
            <a:r>
              <a:rPr lang="en-US" altLang="zh-CN" sz="2400"/>
              <a:t>1.</a:t>
            </a:r>
            <a:r>
              <a:rPr lang="zh-CN" altLang="en-US" sz="2400"/>
              <a:t>数据源</a:t>
            </a:r>
            <a:r>
              <a:rPr lang="zh-CN" altLang="en-US" sz="2400"/>
              <a:t>配置</a:t>
            </a:r>
            <a:endParaRPr lang="zh-CN" altLang="en-US" sz="2400"/>
          </a:p>
          <a:p>
            <a:pPr algn="l"/>
            <a:r>
              <a:rPr lang="en-US" altLang="zh-CN" sz="1200"/>
              <a:t>"jdbcUrl":"jdbc:mysql://localhost:3307/caimingxuan?useSSL=false"</a:t>
            </a:r>
            <a:endParaRPr lang="en-US" altLang="zh-CN" sz="1200"/>
          </a:p>
          <a:p>
            <a:pPr algn="l"/>
            <a:endParaRPr lang="en-US" altLang="zh-CN" sz="1200"/>
          </a:p>
          <a:p>
            <a:pPr algn="l">
              <a:buClrTx/>
              <a:buSzTx/>
              <a:buFontTx/>
            </a:pPr>
            <a:r>
              <a:rPr lang="en-US" altLang="zh-CN" sz="2400">
                <a:sym typeface="+mn-ea"/>
              </a:rPr>
              <a:t>2.读写函数</a:t>
            </a:r>
            <a:endParaRPr lang="en-US" altLang="zh-CN" sz="2400"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4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ym typeface="+mn-ea"/>
              </a:rPr>
              <a:t>3.</a:t>
            </a:r>
            <a:r>
              <a:rPr lang="zh-CN" altLang="en-US" sz="2400">
                <a:sym typeface="+mn-ea"/>
              </a:rPr>
              <a:t>表字段映射</a:t>
            </a:r>
            <a:endParaRPr lang="zh-CN" altLang="en-US" sz="24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1200">
                <a:sym typeface="+mn-ea"/>
              </a:rPr>
              <a:t>"column": ["`shop_name`", "`price`", "`m_sale_v`"]</a:t>
            </a:r>
            <a:endParaRPr lang="en-US" altLang="zh-CN" sz="12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1200">
                <a:sym typeface="+mn-ea"/>
              </a:rPr>
              <a:t>"column": ["\"shop_name\"", "\"price\"", "\"m_sale_v\""]</a:t>
            </a:r>
            <a:endParaRPr lang="en-US" altLang="zh-CN" sz="1200"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1200"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1200"/>
          </a:p>
          <a:p>
            <a:pPr algn="l">
              <a:buClrTx/>
              <a:buSzTx/>
              <a:buFontTx/>
            </a:pPr>
            <a:endParaRPr lang="en-US" altLang="zh-CN" sz="1200"/>
          </a:p>
          <a:p>
            <a:pPr algn="l">
              <a:buClrTx/>
              <a:buSzTx/>
              <a:buFontTx/>
            </a:pPr>
            <a:endParaRPr lang="en-US" altLang="zh-CN" sz="1200"/>
          </a:p>
        </p:txBody>
      </p:sp>
      <p:cxnSp>
        <p:nvCxnSpPr>
          <p:cNvPr id="12" name="直接箭头连接符 11"/>
          <p:cNvCxnSpPr/>
          <p:nvPr/>
        </p:nvCxnSpPr>
        <p:spPr>
          <a:xfrm>
            <a:off x="5225415" y="2518410"/>
            <a:ext cx="2757170" cy="16414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V="1">
            <a:off x="3153410" y="4159885"/>
            <a:ext cx="4749800" cy="3663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6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>
            <p:custDataLst>
              <p:tags r:id="rId1"/>
            </p:custDataLst>
          </p:nvPr>
        </p:nvSpPr>
        <p:spPr>
          <a:xfrm rot="9240000">
            <a:off x="10078541" y="6207703"/>
            <a:ext cx="2421265" cy="103250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3813" h="1626">
                <a:moveTo>
                  <a:pt x="721" y="0"/>
                </a:moveTo>
                <a:lnTo>
                  <a:pt x="3813" y="1508"/>
                </a:lnTo>
                <a:lnTo>
                  <a:pt x="3783" y="1569"/>
                </a:lnTo>
                <a:lnTo>
                  <a:pt x="3776" y="1570"/>
                </a:lnTo>
                <a:cubicBezTo>
                  <a:pt x="3317" y="1606"/>
                  <a:pt x="2824" y="1626"/>
                  <a:pt x="2313" y="1626"/>
                </a:cubicBezTo>
                <a:cubicBezTo>
                  <a:pt x="1486" y="1626"/>
                  <a:pt x="710" y="1574"/>
                  <a:pt x="42" y="1484"/>
                </a:cubicBezTo>
                <a:lnTo>
                  <a:pt x="0" y="1479"/>
                </a:lnTo>
                <a:lnTo>
                  <a:pt x="721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1505" y="467360"/>
            <a:ext cx="10968990" cy="702945"/>
          </a:xfrm>
        </p:spPr>
        <p:txBody>
          <a:bodyPr>
            <a:normAutofit/>
          </a:bodyPr>
          <a:lstStyle/>
          <a:p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如何实现</a:t>
            </a: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Datax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的多数库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同步</a:t>
            </a:r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228600" y="594360"/>
            <a:ext cx="144000" cy="57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12140" y="1769110"/>
            <a:ext cx="10968355" cy="4822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en-US" altLang="zh-CN" sz="2400"/>
              <a:t>5.</a:t>
            </a:r>
            <a:r>
              <a:rPr lang="zh-CN" altLang="en-US" sz="2400"/>
              <a:t>基础的</a:t>
            </a:r>
            <a:r>
              <a:rPr lang="en-US" altLang="zh-CN" sz="2400"/>
              <a:t>DataX</a:t>
            </a:r>
            <a:r>
              <a:rPr lang="zh-CN" altLang="en-US" sz="2400"/>
              <a:t>通过命令行手动触发任务。为实现自动化（如每日凌晨同步），您需要借助外部调度系统。最经典的方案是结合</a:t>
            </a:r>
            <a:r>
              <a:rPr lang="en-US" altLang="zh-CN" sz="2400"/>
              <a:t> DataX-Web</a:t>
            </a:r>
            <a:r>
              <a:rPr lang="zh-CN" altLang="en-US" sz="2400"/>
              <a:t>（一个开源的可视化管理平台），它提供了</a:t>
            </a:r>
            <a:r>
              <a:rPr lang="en-US" altLang="zh-CN" sz="2400"/>
              <a:t>Web</a:t>
            </a:r>
            <a:r>
              <a:rPr lang="zh-CN" altLang="en-US" sz="2400"/>
              <a:t>界面来管理、调度和监控任务。或者，您也可以使用</a:t>
            </a:r>
            <a:r>
              <a:rPr lang="en-US" altLang="zh-CN" sz="2400"/>
              <a:t>Linux</a:t>
            </a:r>
            <a:r>
              <a:rPr lang="zh-CN" altLang="en-US" sz="2400"/>
              <a:t>系统的</a:t>
            </a:r>
            <a:r>
              <a:rPr lang="en-US" altLang="zh-CN" sz="2400"/>
              <a:t>Crontab</a:t>
            </a:r>
            <a:r>
              <a:rPr lang="zh-CN" altLang="en-US" sz="2400"/>
              <a:t>、</a:t>
            </a:r>
            <a:r>
              <a:rPr lang="en-US" altLang="zh-CN" sz="2400"/>
              <a:t>Apache DolphinScheduler</a:t>
            </a:r>
            <a:r>
              <a:rPr lang="zh-CN" altLang="en-US" sz="2400"/>
              <a:t>或</a:t>
            </a:r>
            <a:r>
              <a:rPr lang="en-US" altLang="zh-CN" sz="2400"/>
              <a:t>XXL-Job</a:t>
            </a:r>
            <a:r>
              <a:rPr lang="zh-CN" altLang="en-US" sz="2400"/>
              <a:t>等任务调度框架来定时触发执行</a:t>
            </a:r>
            <a:r>
              <a:rPr lang="en-US" altLang="zh-CN" sz="2400"/>
              <a:t>DataX</a:t>
            </a:r>
            <a:r>
              <a:rPr lang="zh-CN" altLang="en-US" sz="2400"/>
              <a:t>的命令行脚本。</a:t>
            </a:r>
            <a:endParaRPr lang="zh-CN" altLang="en-US" sz="2400"/>
          </a:p>
          <a:p>
            <a:pPr indent="457200"/>
            <a:r>
              <a:rPr lang="en-US" altLang="zh-CN" sz="2400"/>
              <a:t>6.</a:t>
            </a:r>
            <a:r>
              <a:rPr lang="zh-CN" altLang="en-US" sz="2400"/>
              <a:t>通过命令行进入</a:t>
            </a:r>
            <a:r>
              <a:rPr lang="en-US" altLang="zh-CN" sz="2400"/>
              <a:t>DataX</a:t>
            </a:r>
            <a:r>
              <a:rPr lang="zh-CN" altLang="en-US" sz="2400"/>
              <a:t>安装目录，执行命令</a:t>
            </a:r>
            <a:r>
              <a:rPr lang="en-US" altLang="zh-CN" sz="2400"/>
              <a:t> python job.json </a:t>
            </a:r>
            <a:r>
              <a:rPr lang="zh-CN" altLang="en-US" sz="2400"/>
              <a:t>来启动任务。任务运行时，控制台会实时打印日志，显示读取和写入的数据行数、速度、以及可能出现的错误。这是观察任务状态最直接的方式。如果集成了</a:t>
            </a:r>
            <a:r>
              <a:rPr lang="en-US" altLang="zh-CN" sz="2400"/>
              <a:t>DataX-Web</a:t>
            </a:r>
            <a:r>
              <a:rPr lang="zh-CN" altLang="en-US" sz="2400"/>
              <a:t>，则可以通过其仪表盘更直观地查看任务状态、进度和日志。</a:t>
            </a:r>
            <a:endParaRPr lang="zh-CN" altLang="en-US" sz="2400"/>
          </a:p>
        </p:txBody>
      </p:sp>
    </p:spTree>
    <p:custDataLst>
      <p:tags r:id="rId4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>
            <p:custDataLst>
              <p:tags r:id="rId1"/>
            </p:custDataLst>
          </p:nvPr>
        </p:nvSpPr>
        <p:spPr>
          <a:xfrm rot="9240000">
            <a:off x="10078541" y="6207703"/>
            <a:ext cx="2421265" cy="103250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3813" h="1626">
                <a:moveTo>
                  <a:pt x="721" y="0"/>
                </a:moveTo>
                <a:lnTo>
                  <a:pt x="3813" y="1508"/>
                </a:lnTo>
                <a:lnTo>
                  <a:pt x="3783" y="1569"/>
                </a:lnTo>
                <a:lnTo>
                  <a:pt x="3776" y="1570"/>
                </a:lnTo>
                <a:cubicBezTo>
                  <a:pt x="3317" y="1606"/>
                  <a:pt x="2824" y="1626"/>
                  <a:pt x="2313" y="1626"/>
                </a:cubicBezTo>
                <a:cubicBezTo>
                  <a:pt x="1486" y="1626"/>
                  <a:pt x="710" y="1574"/>
                  <a:pt x="42" y="1484"/>
                </a:cubicBezTo>
                <a:lnTo>
                  <a:pt x="0" y="1479"/>
                </a:lnTo>
                <a:lnTo>
                  <a:pt x="721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1505" y="467360"/>
            <a:ext cx="10968990" cy="702945"/>
          </a:xfrm>
        </p:spPr>
        <p:txBody>
          <a:bodyPr>
            <a:normAutofit/>
          </a:bodyPr>
          <a:lstStyle/>
          <a:p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如何实现</a:t>
            </a: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Datax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的多数库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同步</a:t>
            </a:r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228600" y="594360"/>
            <a:ext cx="144000" cy="57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12140" y="1769110"/>
            <a:ext cx="10968355" cy="4822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en-US" altLang="zh-CN" sz="2400"/>
              <a:t>7.</a:t>
            </a:r>
            <a:r>
              <a:rPr lang="zh-CN" altLang="en-US" sz="2400"/>
              <a:t>最后任务执行完毕后，必须进行数据验证。可以随机抽样比对源库和目标库的数据，或编写</a:t>
            </a:r>
            <a:r>
              <a:rPr lang="en-US" altLang="zh-CN" sz="2400"/>
              <a:t>SQL</a:t>
            </a:r>
            <a:r>
              <a:rPr lang="zh-CN" altLang="en-US" sz="2400"/>
              <a:t>脚本检查关键表的行数、数据</a:t>
            </a:r>
            <a:r>
              <a:rPr lang="zh-CN" altLang="en-US" sz="2400"/>
              <a:t>、总和等是否一致。同时，仔细查看</a:t>
            </a:r>
            <a:r>
              <a:rPr lang="en-US" altLang="zh-CN" sz="2400"/>
              <a:t>DataX</a:t>
            </a:r>
            <a:r>
              <a:rPr lang="zh-CN" altLang="en-US" sz="2400"/>
              <a:t>生成的日志文件，关注是否有</a:t>
            </a:r>
            <a:r>
              <a:rPr lang="en-US" altLang="zh-CN" sz="2400"/>
              <a:t>“ERROR”</a:t>
            </a:r>
            <a:r>
              <a:rPr lang="zh-CN" altLang="en-US" sz="2400"/>
              <a:t>级别的错误或大量警告。对于同步失败的记录，</a:t>
            </a:r>
            <a:r>
              <a:rPr lang="en-US" altLang="zh-CN" sz="2400"/>
              <a:t>DataX</a:t>
            </a:r>
            <a:r>
              <a:rPr lang="zh-CN" altLang="en-US" sz="2400"/>
              <a:t>通常会记录到错误文件中，需要分析原因（如数据格式不符、网络闪断），并可能需要调整配置后重新执行部分同步。</a:t>
            </a:r>
            <a:endParaRPr lang="zh-CN" altLang="en-US" sz="2400"/>
          </a:p>
        </p:txBody>
      </p:sp>
    </p:spTree>
    <p:custDataLst>
      <p:tags r:id="rId4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>
            <p:custDataLst>
              <p:tags r:id="rId1"/>
            </p:custDataLst>
          </p:nvPr>
        </p:nvSpPr>
        <p:spPr>
          <a:xfrm rot="9240000">
            <a:off x="10078541" y="6207703"/>
            <a:ext cx="2421265" cy="103250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3813" h="1626">
                <a:moveTo>
                  <a:pt x="721" y="0"/>
                </a:moveTo>
                <a:lnTo>
                  <a:pt x="3813" y="1508"/>
                </a:lnTo>
                <a:lnTo>
                  <a:pt x="3783" y="1569"/>
                </a:lnTo>
                <a:lnTo>
                  <a:pt x="3776" y="1570"/>
                </a:lnTo>
                <a:cubicBezTo>
                  <a:pt x="3317" y="1606"/>
                  <a:pt x="2824" y="1626"/>
                  <a:pt x="2313" y="1626"/>
                </a:cubicBezTo>
                <a:cubicBezTo>
                  <a:pt x="1486" y="1626"/>
                  <a:pt x="710" y="1574"/>
                  <a:pt x="42" y="1484"/>
                </a:cubicBezTo>
                <a:lnTo>
                  <a:pt x="0" y="1479"/>
                </a:lnTo>
                <a:lnTo>
                  <a:pt x="721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1505" y="467360"/>
            <a:ext cx="10968990" cy="702945"/>
          </a:xfrm>
        </p:spPr>
        <p:txBody>
          <a:bodyPr>
            <a:normAutofit/>
          </a:bodyPr>
          <a:lstStyle/>
          <a:p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副：提供</a:t>
            </a: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navicat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中对三个表链接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并查询</a:t>
            </a:r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228600" y="594360"/>
            <a:ext cx="144000" cy="57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6725" y="1333500"/>
            <a:ext cx="1952625" cy="35052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505" y="1333500"/>
            <a:ext cx="1924050" cy="28765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4640" y="1333500"/>
            <a:ext cx="2078355" cy="284035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35555" y="1333500"/>
            <a:ext cx="1552575" cy="465772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69330" y="1333500"/>
            <a:ext cx="1552575" cy="465772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92995" y="1333500"/>
            <a:ext cx="1552575" cy="4657725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19504" y="2848390"/>
            <a:ext cx="10181896" cy="1541033"/>
          </a:xfrm>
        </p:spPr>
        <p:txBody>
          <a:bodyPr wrap="square">
            <a:normAutofit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任务功能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1019504" y="198948"/>
            <a:ext cx="10181896" cy="2288155"/>
          </a:xfrm>
        </p:spPr>
        <p:txBody>
          <a:bodyPr wrap="square">
            <a:normAutofit/>
          </a:bodyPr>
          <a:lstStyle/>
          <a:p>
            <a:r>
              <a:rPr lang="zh-CN" altLang="en-US" dirty="0">
                <a:latin typeface="+mn-lt"/>
                <a:sym typeface="+mn-lt"/>
              </a:rPr>
              <a:t>第五</a:t>
            </a:r>
            <a:r>
              <a:rPr lang="zh-CN" altLang="en-US" dirty="0">
                <a:latin typeface="+mn-lt"/>
                <a:sym typeface="+mn-lt"/>
              </a:rPr>
              <a:t>节</a:t>
            </a:r>
            <a:endParaRPr lang="zh-CN" altLang="en-US" dirty="0">
              <a:latin typeface="+mn-lt"/>
              <a:sym typeface="+mn-lt"/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>
            <p:custDataLst>
              <p:tags r:id="rId1"/>
            </p:custDataLst>
          </p:nvPr>
        </p:nvSpPr>
        <p:spPr>
          <a:xfrm rot="9240000">
            <a:off x="10078541" y="6207703"/>
            <a:ext cx="2421265" cy="103250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3813" h="1626">
                <a:moveTo>
                  <a:pt x="721" y="0"/>
                </a:moveTo>
                <a:lnTo>
                  <a:pt x="3813" y="1508"/>
                </a:lnTo>
                <a:lnTo>
                  <a:pt x="3783" y="1569"/>
                </a:lnTo>
                <a:lnTo>
                  <a:pt x="3776" y="1570"/>
                </a:lnTo>
                <a:cubicBezTo>
                  <a:pt x="3317" y="1606"/>
                  <a:pt x="2824" y="1626"/>
                  <a:pt x="2313" y="1626"/>
                </a:cubicBezTo>
                <a:cubicBezTo>
                  <a:pt x="1486" y="1626"/>
                  <a:pt x="710" y="1574"/>
                  <a:pt x="42" y="1484"/>
                </a:cubicBezTo>
                <a:lnTo>
                  <a:pt x="0" y="1479"/>
                </a:lnTo>
                <a:lnTo>
                  <a:pt x="721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1575" y="617993"/>
            <a:ext cx="10969200" cy="491272"/>
          </a:xfrm>
        </p:spPr>
        <p:txBody>
          <a:bodyPr/>
          <a:lstStyle/>
          <a:p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1.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手动进行数据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同步</a:t>
            </a:r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228600" y="594360"/>
            <a:ext cx="144000" cy="57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5285618" y="1109594"/>
            <a:ext cx="931154" cy="931154"/>
          </a:xfrm>
          <a:prstGeom prst="ellipse">
            <a:avLst/>
          </a:prstGeom>
          <a:gradFill>
            <a:gsLst>
              <a:gs pos="0">
                <a:schemeClr val="bg1">
                  <a:alpha val="78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 w="25400">
            <a:gradFill flip="none" rotWithShape="1">
              <a:gsLst>
                <a:gs pos="15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2912269" y="1132217"/>
            <a:ext cx="1964055" cy="1210753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0160" y="1474470"/>
            <a:ext cx="6739890" cy="195453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745" y="3732530"/>
            <a:ext cx="3962400" cy="127635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" y="1318260"/>
            <a:ext cx="4647565" cy="202946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1505" y="5594350"/>
            <a:ext cx="11264900" cy="317500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>
            <p:custDataLst>
              <p:tags r:id="rId1"/>
            </p:custDataLst>
          </p:nvPr>
        </p:nvSpPr>
        <p:spPr>
          <a:xfrm rot="9240000">
            <a:off x="10078541" y="6207703"/>
            <a:ext cx="2421265" cy="103250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3813" h="1626">
                <a:moveTo>
                  <a:pt x="721" y="0"/>
                </a:moveTo>
                <a:lnTo>
                  <a:pt x="3813" y="1508"/>
                </a:lnTo>
                <a:lnTo>
                  <a:pt x="3783" y="1569"/>
                </a:lnTo>
                <a:lnTo>
                  <a:pt x="3776" y="1570"/>
                </a:lnTo>
                <a:cubicBezTo>
                  <a:pt x="3317" y="1606"/>
                  <a:pt x="2824" y="1626"/>
                  <a:pt x="2313" y="1626"/>
                </a:cubicBezTo>
                <a:cubicBezTo>
                  <a:pt x="1486" y="1626"/>
                  <a:pt x="710" y="1574"/>
                  <a:pt x="42" y="1484"/>
                </a:cubicBezTo>
                <a:lnTo>
                  <a:pt x="0" y="1479"/>
                </a:lnTo>
                <a:lnTo>
                  <a:pt x="721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1575" y="617993"/>
            <a:ext cx="10969200" cy="491272"/>
          </a:xfrm>
        </p:spPr>
        <p:txBody>
          <a:bodyPr/>
          <a:lstStyle/>
          <a:p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2.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实时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进行数据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同步</a:t>
            </a:r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228600" y="594360"/>
            <a:ext cx="144000" cy="57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12140" y="1387475"/>
            <a:ext cx="10968990" cy="50844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>
                <a:solidFill>
                  <a:schemeClr val="tx1"/>
                </a:solidFill>
              </a:rPr>
              <a:t>核心实现类：</a:t>
            </a:r>
            <a:endParaRPr lang="zh-CN" altLang="en-US" sz="1600">
              <a:solidFill>
                <a:schemeClr val="tx1"/>
              </a:solidFill>
            </a:endParaRPr>
          </a:p>
          <a:p>
            <a:r>
              <a:rPr lang="en-US" altLang="zh-CN" sz="1200" b="1">
                <a:latin typeface="Consolas" panose="020B0609020204030204" charset="0"/>
                <a:cs typeface="Consolas" panose="020B0609020204030204" charset="0"/>
              </a:rPr>
              <a:t>1.</a:t>
            </a:r>
            <a:r>
              <a:rPr lang="zh-CN" altLang="en-US" sz="1200" b="1">
                <a:latin typeface="Consolas" panose="020B0609020204030204" charset="0"/>
                <a:cs typeface="Consolas" panose="020B0609020204030204" charset="0"/>
              </a:rPr>
              <a:t>调度中心：</a:t>
            </a:r>
            <a:r>
              <a:rPr lang="en-US" altLang="zh-CN" sz="1200" b="1">
                <a:latin typeface="Consolas" panose="020B0609020204030204" charset="0"/>
                <a:cs typeface="Consolas" panose="020B0609020204030204" charset="0"/>
              </a:rPr>
              <a:t>JobScheduleHelper</a:t>
            </a:r>
            <a:endParaRPr lang="en-US" altLang="zh-CN" sz="1200" b="1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200" b="1">
                <a:latin typeface="Consolas" panose="020B0609020204030204" charset="0"/>
                <a:cs typeface="Consolas" panose="020B0609020204030204" charset="0"/>
              </a:rPr>
              <a:t>class JobScheduleHelper {</a:t>
            </a:r>
            <a:endParaRPr lang="en-US" altLang="zh-CN" sz="1200" b="1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200" b="1">
                <a:latin typeface="Consolas" panose="020B0609020204030204" charset="0"/>
                <a:cs typeface="Consolas" panose="020B0609020204030204" charset="0"/>
              </a:rPr>
              <a:t>    Thread scheduleThread = new Thread(() -&gt; {</a:t>
            </a:r>
            <a:endParaRPr lang="en-US" altLang="zh-CN" sz="1200" b="1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200" b="1">
                <a:latin typeface="Consolas" panose="020B0609020204030204" charset="0"/>
                <a:cs typeface="Consolas" panose="020B0609020204030204" charset="0"/>
              </a:rPr>
              <a:t>        while (!stopped) {</a:t>
            </a:r>
            <a:endParaRPr lang="en-US" altLang="zh-CN" sz="1200" b="1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200" b="1">
                <a:latin typeface="Consolas" panose="020B0609020204030204" charset="0"/>
                <a:cs typeface="Consolas" panose="020B0609020204030204" charset="0"/>
              </a:rPr>
              <a:t>            // 1. 扫描数据库中的任务表 (xxl_job_info)</a:t>
            </a:r>
            <a:endParaRPr lang="en-US" altLang="zh-CN" sz="1200" b="1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200" b="1">
                <a:latin typeface="Consolas" panose="020B0609020204030204" charset="0"/>
                <a:cs typeface="Consolas" panose="020B0609020204030204" charset="0"/>
              </a:rPr>
              <a:t>            List&lt;JobInfo&gt; jobList = jobDao.findScheduleJobs(nowTime);</a:t>
            </a:r>
            <a:endParaRPr lang="en-US" altLang="zh-CN" sz="1200" b="1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200" b="1">
                <a:latin typeface="Consolas" panose="020B0609020204030204" charset="0"/>
                <a:cs typeface="Consolas" panose="020B0609020204030204" charset="0"/>
              </a:rPr>
              <a:t>            for (JobInfo job : jobList) {</a:t>
            </a:r>
            <a:endParaRPr lang="en-US" altLang="zh-CN" sz="1200" b="1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200" b="1">
                <a:latin typeface="Consolas" panose="020B0609020204030204" charset="0"/>
                <a:cs typeface="Consolas" panose="020B0609020204030204" charset="0"/>
              </a:rPr>
              <a:t>                // 2. 计算任务的下一次触发时间 (基于CRON表达式)</a:t>
            </a:r>
            <a:endParaRPr lang="en-US" altLang="zh-CN" sz="1200" b="1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200" b="1">
                <a:latin typeface="Consolas" panose="020B0609020204030204" charset="0"/>
                <a:cs typeface="Consolas" panose="020B0609020204030204" charset="0"/>
              </a:rPr>
              <a:t>                Date nextTriggerTime = CronUtils.calculateNextTime(job.getCronExpr());</a:t>
            </a:r>
            <a:endParaRPr lang="en-US" altLang="zh-CN" sz="1200" b="1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200" b="1">
                <a:latin typeface="Consolas" panose="020B0609020204030204" charset="0"/>
                <a:cs typeface="Consolas" panose="020B0609020204030204" charset="0"/>
              </a:rPr>
              <a:t>                // 3. 到达触发时间后，将任务放入“就绪队列”</a:t>
            </a:r>
            <a:endParaRPr lang="en-US" altLang="zh-CN" sz="1200" b="1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200" b="1">
                <a:latin typeface="Consolas" panose="020B0609020204030204" charset="0"/>
                <a:cs typeface="Consolas" panose="020B0609020204030204" charset="0"/>
              </a:rPr>
              <a:t>                if (nextTriggerTime != null &amp;&amp; nextTriggerTime.before(nowTime)) {</a:t>
            </a:r>
            <a:endParaRPr lang="en-US" altLang="zh-CN" sz="1200" b="1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200" b="1">
                <a:latin typeface="Consolas" panose="020B0609020204030204" charset="0"/>
                <a:cs typeface="Consolas" panose="020B0609020204030204" charset="0"/>
              </a:rPr>
              <a:t>                    readyQueue.push(job.getId()); // 任务ID进入触发队列</a:t>
            </a:r>
            <a:endParaRPr lang="en-US" altLang="zh-CN" sz="1200" b="1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200" b="1">
                <a:latin typeface="Consolas" panose="020B0609020204030204" charset="0"/>
                <a:cs typeface="Consolas" panose="020B0609020204030204" charset="0"/>
              </a:rPr>
              <a:t>                }</a:t>
            </a:r>
            <a:endParaRPr lang="en-US" altLang="zh-CN" sz="1200" b="1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200" b="1">
                <a:latin typeface="Consolas" panose="020B0609020204030204" charset="0"/>
                <a:cs typeface="Consolas" panose="020B0609020204030204" charset="0"/>
              </a:rPr>
              <a:t>            } </a:t>
            </a:r>
            <a:endParaRPr lang="en-US" altLang="zh-CN" sz="1200" b="1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200" b="1">
                <a:latin typeface="Consolas" panose="020B0609020204030204" charset="0"/>
                <a:cs typeface="Consolas" panose="020B0609020204030204" charset="0"/>
              </a:rPr>
              <a:t>            // 4. 从“就绪队列”取出任务，触发远程执行器</a:t>
            </a:r>
            <a:endParaRPr lang="en-US" altLang="zh-CN" sz="1200" b="1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200" b="1">
                <a:latin typeface="Consolas" panose="020B0609020204030204" charset="0"/>
                <a:cs typeface="Consolas" panose="020B0609020204030204" charset="0"/>
              </a:rPr>
              <a:t>            while (!readyQueue.isEmpty()) {</a:t>
            </a:r>
            <a:endParaRPr lang="en-US" altLang="zh-CN" sz="1200" b="1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200" b="1">
                <a:latin typeface="Consolas" panose="020B0609020204030204" charset="0"/>
                <a:cs typeface="Consolas" panose="020B0609020204030204" charset="0"/>
              </a:rPr>
              <a:t>                long jobId = readyQueue.pop();</a:t>
            </a:r>
            <a:endParaRPr lang="en-US" altLang="zh-CN" sz="1200" b="1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200" b="1">
                <a:latin typeface="Consolas" panose="020B0609020204030204" charset="0"/>
                <a:cs typeface="Consolas" panose="020B0609020204030204" charset="0"/>
              </a:rPr>
              <a:t>                // 关键调用：通知对应执行器运行任务</a:t>
            </a:r>
            <a:endParaRPr lang="en-US" altLang="zh-CN" sz="1200" b="1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200" b="1">
                <a:latin typeface="Consolas" panose="020B0609020204030204" charset="0"/>
                <a:cs typeface="Consolas" panose="020B0609020204030204" charset="0"/>
              </a:rPr>
              <a:t>                executorClient.trigger(jobId); // RPC调用执行器</a:t>
            </a:r>
            <a:endParaRPr lang="en-US" altLang="zh-CN" sz="1200" b="1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200" b="1">
                <a:latin typeface="Consolas" panose="020B0609020204030204" charset="0"/>
                <a:cs typeface="Consolas" panose="020B0609020204030204" charset="0"/>
              </a:rPr>
              <a:t>            </a:t>
            </a:r>
            <a:endParaRPr lang="en-US" altLang="zh-CN" sz="1200" b="1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200" b="1">
                <a:latin typeface="Consolas" panose="020B0609020204030204" charset="0"/>
                <a:cs typeface="Consolas" panose="020B0609020204030204" charset="0"/>
              </a:rPr>
              <a:t>            sleep(PRESCAN_SECONDS); // 休眠片刻后再次扫描</a:t>
            </a:r>
            <a:endParaRPr lang="en-US" altLang="zh-CN" sz="1200" b="1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200" b="1">
                <a:latin typeface="Consolas" panose="020B0609020204030204" charset="0"/>
                <a:cs typeface="Consolas" panose="020B0609020204030204" charset="0"/>
              </a:rPr>
              <a:t>        }</a:t>
            </a:r>
            <a:endParaRPr lang="en-US" altLang="zh-CN" sz="1200" b="1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200" b="1">
                <a:latin typeface="Consolas" panose="020B0609020204030204" charset="0"/>
                <a:cs typeface="Consolas" panose="020B0609020204030204" charset="0"/>
              </a:rPr>
              <a:t>    });</a:t>
            </a:r>
            <a:endParaRPr lang="en-US" altLang="zh-CN" sz="1200" b="1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200" b="1">
                <a:latin typeface="Consolas" panose="020B0609020204030204" charset="0"/>
                <a:cs typeface="Consolas" panose="020B0609020204030204" charset="0"/>
              </a:rPr>
              <a:t>}</a:t>
            </a:r>
            <a:endParaRPr lang="en-US" altLang="zh-CN" sz="1200" b="1">
              <a:latin typeface="Consolas" panose="020B0609020204030204" charset="0"/>
              <a:cs typeface="Consolas" panose="020B06090202040302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>
            <p:custDataLst>
              <p:tags r:id="rId1"/>
            </p:custDataLst>
          </p:nvPr>
        </p:nvSpPr>
        <p:spPr>
          <a:xfrm rot="9240000">
            <a:off x="10078541" y="6207703"/>
            <a:ext cx="2421265" cy="103250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3813" h="1626">
                <a:moveTo>
                  <a:pt x="721" y="0"/>
                </a:moveTo>
                <a:lnTo>
                  <a:pt x="3813" y="1508"/>
                </a:lnTo>
                <a:lnTo>
                  <a:pt x="3783" y="1569"/>
                </a:lnTo>
                <a:lnTo>
                  <a:pt x="3776" y="1570"/>
                </a:lnTo>
                <a:cubicBezTo>
                  <a:pt x="3317" y="1606"/>
                  <a:pt x="2824" y="1626"/>
                  <a:pt x="2313" y="1626"/>
                </a:cubicBezTo>
                <a:cubicBezTo>
                  <a:pt x="1486" y="1626"/>
                  <a:pt x="710" y="1574"/>
                  <a:pt x="42" y="1484"/>
                </a:cubicBezTo>
                <a:lnTo>
                  <a:pt x="0" y="1479"/>
                </a:lnTo>
                <a:lnTo>
                  <a:pt x="721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1575" y="617993"/>
            <a:ext cx="10969200" cy="491272"/>
          </a:xfrm>
        </p:spPr>
        <p:txBody>
          <a:bodyPr/>
          <a:lstStyle/>
          <a:p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2.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实时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进行数据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同步</a:t>
            </a:r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228600" y="594360"/>
            <a:ext cx="144000" cy="57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12140" y="1387475"/>
            <a:ext cx="6018530" cy="50844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>
                <a:solidFill>
                  <a:schemeClr val="tx1"/>
                </a:solidFill>
              </a:rPr>
              <a:t>核心实现类：</a:t>
            </a:r>
            <a:endParaRPr lang="zh-CN" altLang="en-US" sz="1600">
              <a:solidFill>
                <a:schemeClr val="tx1"/>
              </a:solidFill>
            </a:endParaRPr>
          </a:p>
          <a:p>
            <a:r>
              <a:rPr lang="en-US" altLang="zh-CN" sz="1200" b="1">
                <a:latin typeface="Consolas" panose="020B0609020204030204" charset="0"/>
                <a:cs typeface="Consolas" panose="020B0609020204030204" charset="0"/>
              </a:rPr>
              <a:t>2.</a:t>
            </a:r>
            <a:r>
              <a:rPr lang="zh-CN" altLang="en-US" sz="1200" b="1">
                <a:latin typeface="Consolas" panose="020B0609020204030204" charset="0"/>
                <a:cs typeface="Consolas" panose="020B0609020204030204" charset="0"/>
              </a:rPr>
              <a:t>执行器：</a:t>
            </a:r>
            <a:r>
              <a:rPr lang="en-US" altLang="zh-CN" sz="1200" b="1">
                <a:latin typeface="Consolas" panose="020B0609020204030204" charset="0"/>
                <a:cs typeface="Consolas" panose="020B0609020204030204" charset="0"/>
              </a:rPr>
              <a:t>DataXJobHandler</a:t>
            </a:r>
            <a:endParaRPr lang="en-US" altLang="zh-CN" sz="1200" b="1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200" b="1">
                <a:latin typeface="Consolas" panose="020B0609020204030204" charset="0"/>
                <a:cs typeface="Consolas" panose="020B0609020204030204" charset="0"/>
              </a:rPr>
              <a:t>class DataXJobHandler extends IJobHandler { // </a:t>
            </a:r>
            <a:r>
              <a:rPr lang="zh-CN" altLang="en-US" sz="1200" b="1">
                <a:latin typeface="Consolas" panose="020B0609020204030204" charset="0"/>
                <a:cs typeface="Consolas" panose="020B0609020204030204" charset="0"/>
              </a:rPr>
              <a:t>继承</a:t>
            </a:r>
            <a:r>
              <a:rPr lang="en-US" altLang="zh-CN" sz="1200" b="1">
                <a:latin typeface="Consolas" panose="020B0609020204030204" charset="0"/>
                <a:cs typeface="Consolas" panose="020B0609020204030204" charset="0"/>
              </a:rPr>
              <a:t>XXL-Job</a:t>
            </a:r>
            <a:r>
              <a:rPr lang="zh-CN" altLang="en-US" sz="1200" b="1">
                <a:latin typeface="Consolas" panose="020B0609020204030204" charset="0"/>
                <a:cs typeface="Consolas" panose="020B0609020204030204" charset="0"/>
              </a:rPr>
              <a:t>标准接口</a:t>
            </a:r>
            <a:endParaRPr lang="en-US" altLang="zh-CN" sz="1200" b="1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200" b="1">
                <a:latin typeface="Consolas" panose="020B0609020204030204" charset="0"/>
                <a:cs typeface="Consolas" panose="020B0609020204030204" charset="0"/>
              </a:rPr>
              <a:t>    @Override</a:t>
            </a:r>
            <a:endParaRPr lang="en-US" altLang="zh-CN" sz="1200" b="1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200" b="1">
                <a:latin typeface="Consolas" panose="020B0609020204030204" charset="0"/>
                <a:cs typeface="Consolas" panose="020B0609020204030204" charset="0"/>
              </a:rPr>
              <a:t>    ReturnT&lt;String&gt; execute(String jobParam) {</a:t>
            </a:r>
            <a:endParaRPr lang="en-US" altLang="zh-CN" sz="1200" b="1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200" b="1">
                <a:latin typeface="Consolas" panose="020B0609020204030204" charset="0"/>
                <a:cs typeface="Consolas" panose="020B0609020204030204" charset="0"/>
              </a:rPr>
              <a:t>        // 1. </a:t>
            </a:r>
            <a:r>
              <a:rPr lang="zh-CN" altLang="en-US" sz="1200" b="1">
                <a:latin typeface="Consolas" panose="020B0609020204030204" charset="0"/>
                <a:cs typeface="Consolas" panose="020B0609020204030204" charset="0"/>
              </a:rPr>
              <a:t>解析参数，获取</a:t>
            </a:r>
            <a:r>
              <a:rPr lang="en-US" altLang="zh-CN" sz="1200" b="1">
                <a:latin typeface="Consolas" panose="020B0609020204030204" charset="0"/>
                <a:cs typeface="Consolas" panose="020B0609020204030204" charset="0"/>
              </a:rPr>
              <a:t>DataX</a:t>
            </a:r>
            <a:r>
              <a:rPr lang="zh-CN" altLang="en-US" sz="1200" b="1">
                <a:latin typeface="Consolas" panose="020B0609020204030204" charset="0"/>
                <a:cs typeface="Consolas" panose="020B0609020204030204" charset="0"/>
              </a:rPr>
              <a:t>任务</a:t>
            </a:r>
            <a:r>
              <a:rPr lang="en-US" altLang="zh-CN" sz="1200" b="1">
                <a:latin typeface="Consolas" panose="020B0609020204030204" charset="0"/>
                <a:cs typeface="Consolas" panose="020B0609020204030204" charset="0"/>
              </a:rPr>
              <a:t>ID</a:t>
            </a:r>
            <a:endParaRPr lang="en-US" altLang="zh-CN" sz="1200" b="1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200" b="1">
                <a:latin typeface="Consolas" panose="020B0609020204030204" charset="0"/>
                <a:cs typeface="Consolas" panose="020B0609020204030204" charset="0"/>
              </a:rPr>
              <a:t>        int jobId = parseJobId(jobParam);</a:t>
            </a:r>
            <a:endParaRPr lang="en-US" altLang="zh-CN" sz="1200" b="1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200" b="1">
                <a:latin typeface="Consolas" panose="020B0609020204030204" charset="0"/>
                <a:cs typeface="Consolas" panose="020B0609020204030204" charset="0"/>
              </a:rPr>
              <a:t>        // 2. </a:t>
            </a:r>
            <a:r>
              <a:rPr lang="zh-CN" altLang="en-US" sz="1200" b="1">
                <a:latin typeface="Consolas" panose="020B0609020204030204" charset="0"/>
                <a:cs typeface="Consolas" panose="020B0609020204030204" charset="0"/>
              </a:rPr>
              <a:t>根据</a:t>
            </a:r>
            <a:r>
              <a:rPr lang="en-US" altLang="zh-CN" sz="1200" b="1">
                <a:latin typeface="Consolas" panose="020B0609020204030204" charset="0"/>
                <a:cs typeface="Consolas" panose="020B0609020204030204" charset="0"/>
              </a:rPr>
              <a:t>ID</a:t>
            </a:r>
            <a:r>
              <a:rPr lang="zh-CN" altLang="en-US" sz="1200" b="1">
                <a:latin typeface="Consolas" panose="020B0609020204030204" charset="0"/>
                <a:cs typeface="Consolas" panose="020B0609020204030204" charset="0"/>
              </a:rPr>
              <a:t>从数据库查询完整的</a:t>
            </a:r>
            <a:r>
              <a:rPr lang="en-US" altLang="zh-CN" sz="1200" b="1">
                <a:latin typeface="Consolas" panose="020B0609020204030204" charset="0"/>
                <a:cs typeface="Consolas" panose="020B0609020204030204" charset="0"/>
              </a:rPr>
              <a:t>DataX</a:t>
            </a:r>
            <a:r>
              <a:rPr lang="zh-CN" altLang="en-US" sz="1200" b="1">
                <a:latin typeface="Consolas" panose="020B0609020204030204" charset="0"/>
                <a:cs typeface="Consolas" panose="020B0609020204030204" charset="0"/>
              </a:rPr>
              <a:t>作业配置</a:t>
            </a:r>
            <a:endParaRPr lang="zh-CN" altLang="en-US" sz="1200" b="1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200" b="1">
                <a:latin typeface="Consolas" panose="020B0609020204030204" charset="0"/>
                <a:cs typeface="Consolas" panose="020B0609020204030204" charset="0"/>
              </a:rPr>
              <a:t>        JobConfig config = jobConfigDao.findById(jobId);</a:t>
            </a:r>
            <a:endParaRPr lang="en-US" altLang="zh-CN" sz="1200" b="1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200" b="1">
                <a:latin typeface="Consolas" panose="020B0609020204030204" charset="0"/>
                <a:cs typeface="Consolas" panose="020B0609020204030204" charset="0"/>
              </a:rPr>
              <a:t>        // </a:t>
            </a:r>
            <a:r>
              <a:rPr lang="zh-CN" altLang="en-US" sz="1200" b="1">
                <a:latin typeface="Consolas" panose="020B0609020204030204" charset="0"/>
                <a:cs typeface="Consolas" panose="020B0609020204030204" charset="0"/>
              </a:rPr>
              <a:t>配置包含：</a:t>
            </a:r>
            <a:r>
              <a:rPr lang="en-US" altLang="zh-CN" sz="1200" b="1">
                <a:latin typeface="Consolas" panose="020B0609020204030204" charset="0"/>
                <a:cs typeface="Consolas" panose="020B0609020204030204" charset="0"/>
              </a:rPr>
              <a:t>JSON</a:t>
            </a:r>
            <a:r>
              <a:rPr lang="zh-CN" altLang="en-US" sz="1200" b="1">
                <a:latin typeface="Consolas" panose="020B0609020204030204" charset="0"/>
                <a:cs typeface="Consolas" panose="020B0609020204030204" charset="0"/>
              </a:rPr>
              <a:t>文件路径、命令行参数等</a:t>
            </a:r>
            <a:endParaRPr lang="en-US" altLang="zh-CN" sz="1200" b="1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200" b="1">
                <a:latin typeface="Consolas" panose="020B0609020204030204" charset="0"/>
                <a:cs typeface="Consolas" panose="020B0609020204030204" charset="0"/>
              </a:rPr>
              <a:t>        // 3. </a:t>
            </a:r>
            <a:r>
              <a:rPr lang="zh-CN" altLang="en-US" sz="1200" b="1">
                <a:latin typeface="Consolas" panose="020B0609020204030204" charset="0"/>
                <a:cs typeface="Consolas" panose="020B0609020204030204" charset="0"/>
              </a:rPr>
              <a:t>关键步骤：组装</a:t>
            </a:r>
            <a:r>
              <a:rPr lang="en-US" altLang="zh-CN" sz="1200" b="1">
                <a:latin typeface="Consolas" panose="020B0609020204030204" charset="0"/>
                <a:cs typeface="Consolas" panose="020B0609020204030204" charset="0"/>
              </a:rPr>
              <a:t>DataX</a:t>
            </a:r>
            <a:r>
              <a:rPr lang="zh-CN" altLang="en-US" sz="1200" b="1">
                <a:latin typeface="Consolas" panose="020B0609020204030204" charset="0"/>
                <a:cs typeface="Consolas" panose="020B0609020204030204" charset="0"/>
              </a:rPr>
              <a:t>命令行</a:t>
            </a:r>
            <a:endParaRPr lang="zh-CN" altLang="en-US" sz="1200" b="1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200" b="1">
                <a:latin typeface="Consolas" panose="020B0609020204030204" charset="0"/>
                <a:cs typeface="Consolas" panose="020B0609020204030204" charset="0"/>
              </a:rPr>
              <a:t>        String dataxHome = "/opt/datax/";</a:t>
            </a:r>
            <a:endParaRPr lang="en-US" altLang="zh-CN" sz="1200" b="1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200" b="1">
                <a:latin typeface="Consolas" panose="020B0609020204030204" charset="0"/>
                <a:cs typeface="Consolas" panose="020B0609020204030204" charset="0"/>
              </a:rPr>
              <a:t>        String jsonPath = config.getJsonPath();</a:t>
            </a:r>
            <a:endParaRPr lang="en-US" altLang="zh-CN" sz="1200" b="1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200" b="1">
                <a:latin typeface="Consolas" panose="020B0609020204030204" charset="0"/>
                <a:cs typeface="Consolas" panose="020B0609020204030204" charset="0"/>
              </a:rPr>
              <a:t>        // </a:t>
            </a:r>
            <a:r>
              <a:rPr lang="zh-CN" altLang="en-US" sz="1200" b="1">
                <a:latin typeface="Consolas" panose="020B0609020204030204" charset="0"/>
                <a:cs typeface="Consolas" panose="020B0609020204030204" charset="0"/>
              </a:rPr>
              <a:t>生成命令，例如：</a:t>
            </a:r>
            <a:r>
              <a:rPr lang="en-US" altLang="zh-CN" sz="1200" b="1">
                <a:latin typeface="Consolas" panose="020B0609020204030204" charset="0"/>
                <a:cs typeface="Consolas" panose="020B0609020204030204" charset="0"/>
              </a:rPr>
              <a:t>python ${dataxHome}/bin/datax.py ${jsonPath}</a:t>
            </a:r>
            <a:endParaRPr lang="en-US" altLang="zh-CN" sz="1200" b="1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200" b="1">
                <a:latin typeface="Consolas" panose="020B0609020204030204" charset="0"/>
                <a:cs typeface="Consolas" panose="020B0609020204030204" charset="0"/>
              </a:rPr>
              <a:t>        String command = buildDataXCommand(dataxHome, jsonPath)</a:t>
            </a:r>
            <a:endParaRPr lang="en-US" altLang="zh-CN" sz="1200" b="1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200" b="1">
                <a:latin typeface="Consolas" panose="020B0609020204030204" charset="0"/>
                <a:cs typeface="Consolas" panose="020B0609020204030204" charset="0"/>
              </a:rPr>
              <a:t>        // 4. </a:t>
            </a:r>
            <a:r>
              <a:rPr lang="zh-CN" altLang="en-US" sz="1200" b="1">
                <a:latin typeface="Consolas" panose="020B0609020204030204" charset="0"/>
                <a:cs typeface="Consolas" panose="020B0609020204030204" charset="0"/>
              </a:rPr>
              <a:t>执行</a:t>
            </a:r>
            <a:r>
              <a:rPr lang="en-US" altLang="zh-CN" sz="1200" b="1">
                <a:latin typeface="Consolas" panose="020B0609020204030204" charset="0"/>
                <a:cs typeface="Consolas" panose="020B0609020204030204" charset="0"/>
              </a:rPr>
              <a:t>DataX</a:t>
            </a:r>
            <a:r>
              <a:rPr lang="zh-CN" altLang="en-US" sz="1200" b="1">
                <a:latin typeface="Consolas" panose="020B0609020204030204" charset="0"/>
                <a:cs typeface="Consolas" panose="020B0609020204030204" charset="0"/>
              </a:rPr>
              <a:t>进程并监控</a:t>
            </a:r>
            <a:endParaRPr lang="zh-CN" altLang="en-US" sz="1200" b="1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200" b="1">
                <a:latin typeface="Consolas" panose="020B0609020204030204" charset="0"/>
                <a:cs typeface="Consolas" panose="020B0609020204030204" charset="0"/>
              </a:rPr>
              <a:t>        Process process = Runtime.getRuntime().exec(command);</a:t>
            </a:r>
            <a:endParaRPr lang="en-US" altLang="zh-CN" sz="1200" b="1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200" b="1">
                <a:latin typeface="Consolas" panose="020B0609020204030204" charset="0"/>
                <a:cs typeface="Consolas" panose="020B0609020204030204" charset="0"/>
              </a:rPr>
              <a:t>        // </a:t>
            </a:r>
            <a:r>
              <a:rPr lang="zh-CN" altLang="en-US" sz="1200" b="1">
                <a:latin typeface="Consolas" panose="020B0609020204030204" charset="0"/>
                <a:cs typeface="Consolas" panose="020B0609020204030204" charset="0"/>
              </a:rPr>
              <a:t>启动独立线程读取进程输出流（日志）</a:t>
            </a:r>
            <a:endParaRPr lang="zh-CN" altLang="en-US" sz="1200" b="1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200" b="1">
                <a:latin typeface="Consolas" panose="020B0609020204030204" charset="0"/>
                <a:cs typeface="Consolas" panose="020B0609020204030204" charset="0"/>
              </a:rPr>
              <a:t>        Thread logThread = new Thread(() -&gt; {</a:t>
            </a:r>
            <a:endParaRPr lang="en-US" altLang="zh-CN" sz="1200" b="1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200" b="1">
                <a:latin typeface="Consolas" panose="020B0609020204030204" charset="0"/>
                <a:cs typeface="Consolas" panose="020B0609020204030204" charset="0"/>
              </a:rPr>
              <a:t>            readStream(process.getInputStream()); // </a:t>
            </a:r>
            <a:r>
              <a:rPr lang="zh-CN" altLang="en-US" sz="1200" b="1">
                <a:latin typeface="Consolas" panose="020B0609020204030204" charset="0"/>
                <a:cs typeface="Consolas" panose="020B0609020204030204" charset="0"/>
              </a:rPr>
              <a:t>实时日志</a:t>
            </a:r>
            <a:endParaRPr lang="zh-CN" altLang="en-US" sz="1200" b="1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200" b="1">
                <a:latin typeface="Consolas" panose="020B0609020204030204" charset="0"/>
                <a:cs typeface="Consolas" panose="020B0609020204030204" charset="0"/>
              </a:rPr>
              <a:t>            readStream(process.getErrorStream()); // </a:t>
            </a:r>
            <a:r>
              <a:rPr lang="zh-CN" altLang="en-US" sz="1200" b="1">
                <a:latin typeface="Consolas" panose="020B0609020204030204" charset="0"/>
                <a:cs typeface="Consolas" panose="020B0609020204030204" charset="0"/>
              </a:rPr>
              <a:t>错误日志</a:t>
            </a:r>
            <a:endParaRPr lang="zh-CN" altLang="en-US" sz="1200" b="1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200" b="1">
                <a:latin typeface="Consolas" panose="020B0609020204030204" charset="0"/>
                <a:cs typeface="Consolas" panose="020B0609020204030204" charset="0"/>
              </a:rPr>
              <a:t>        });</a:t>
            </a:r>
            <a:endParaRPr lang="en-US" altLang="zh-CN" sz="1200" b="1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200" b="1">
                <a:latin typeface="Consolas" panose="020B0609020204030204" charset="0"/>
                <a:cs typeface="Consolas" panose="020B0609020204030204" charset="0"/>
              </a:rPr>
              <a:t>        logThread.start();</a:t>
            </a:r>
            <a:endParaRPr lang="en-US" altLang="zh-CN" sz="1200" b="1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200" b="1">
                <a:latin typeface="Consolas" panose="020B0609020204030204" charset="0"/>
                <a:cs typeface="Consolas" panose="020B0609020204030204" charset="0"/>
              </a:rPr>
              <a:t>        </a:t>
            </a:r>
            <a:endParaRPr lang="en-US" altLang="zh-CN" sz="1200" b="1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200" b="1">
                <a:latin typeface="Consolas" panose="020B0609020204030204" charset="0"/>
                <a:cs typeface="Consolas" panose="020B0609020204030204" charset="0"/>
              </a:rPr>
              <a:t>        </a:t>
            </a:r>
            <a:endParaRPr lang="en-US" altLang="zh-CN" sz="1200" b="1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630670" y="1856740"/>
            <a:ext cx="5059680" cy="46158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200" b="1">
                <a:latin typeface="Consolas" panose="020B0609020204030204" charset="0"/>
                <a:cs typeface="Consolas" panose="020B0609020204030204" charset="0"/>
                <a:sym typeface="+mn-ea"/>
              </a:rPr>
              <a:t>// 5. 等待进程结束，获取退出状态</a:t>
            </a:r>
            <a:endParaRPr lang="en-US" altLang="zh-CN" sz="1200" b="1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200" b="1">
                <a:latin typeface="Consolas" panose="020B0609020204030204" charset="0"/>
                <a:cs typeface="Consolas" panose="020B0609020204030204" charset="0"/>
                <a:sym typeface="+mn-ea"/>
              </a:rPr>
              <a:t>        int exitCode = process.waitFor();</a:t>
            </a:r>
            <a:endParaRPr lang="en-US" altLang="zh-CN" sz="1200" b="1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200" b="1">
                <a:latin typeface="Consolas" panose="020B0609020204030204" charset="0"/>
                <a:cs typeface="Consolas" panose="020B0609020204030204" charset="0"/>
                <a:sym typeface="+mn-ea"/>
              </a:rPr>
              <a:t>        // 6. 上报执行结果给调度中心</a:t>
            </a:r>
            <a:endParaRPr lang="en-US" altLang="zh-CN" sz="1200" b="1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200" b="1">
                <a:latin typeface="Consolas" panose="020B0609020204030204" charset="0"/>
                <a:cs typeface="Consolas" panose="020B0609020204030204" charset="0"/>
                <a:sym typeface="+mn-ea"/>
              </a:rPr>
              <a:t>        if (exitCode == 0) {</a:t>
            </a:r>
            <a:endParaRPr lang="en-US" altLang="zh-CN" sz="1200" b="1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200" b="1">
                <a:latin typeface="Consolas" panose="020B0609020204030204" charset="0"/>
                <a:cs typeface="Consolas" panose="020B0609020204030204" charset="0"/>
                <a:sym typeface="+mn-ea"/>
              </a:rPr>
              <a:t>            updateJobLog(jobId, "SUCCESS", "数据同步完成");</a:t>
            </a:r>
            <a:endParaRPr lang="en-US" altLang="zh-CN" sz="1200" b="1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200" b="1">
                <a:latin typeface="Consolas" panose="020B0609020204030204" charset="0"/>
                <a:cs typeface="Consolas" panose="020B0609020204030204" charset="0"/>
                <a:sym typeface="+mn-ea"/>
              </a:rPr>
              <a:t>            return ReturnT.SUCCESS;</a:t>
            </a:r>
            <a:endParaRPr lang="en-US" altLang="zh-CN" sz="1200" b="1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200" b="1">
                <a:latin typeface="Consolas" panose="020B0609020204030204" charset="0"/>
                <a:cs typeface="Consolas" panose="020B0609020204030204" charset="0"/>
                <a:sym typeface="+mn-ea"/>
              </a:rPr>
              <a:t>        } else {</a:t>
            </a:r>
            <a:endParaRPr lang="en-US" altLang="zh-CN" sz="1200" b="1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200" b="1">
                <a:latin typeface="Consolas" panose="020B0609020204030204" charset="0"/>
                <a:cs typeface="Consolas" panose="020B0609020204030204" charset="0"/>
                <a:sym typeface="+mn-ea"/>
              </a:rPr>
              <a:t>            updateJobLog(jobId, "FAIL", "DataX进程异常退出，代码：" + exitCode);</a:t>
            </a:r>
            <a:endParaRPr lang="en-US" altLang="zh-CN" sz="1200" b="1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200" b="1">
                <a:latin typeface="Consolas" panose="020B0609020204030204" charset="0"/>
                <a:cs typeface="Consolas" panose="020B0609020204030204" charset="0"/>
                <a:sym typeface="+mn-ea"/>
              </a:rPr>
              <a:t>            return ReturnT.FAIL;</a:t>
            </a:r>
            <a:endParaRPr lang="en-US" altLang="zh-CN" sz="1200" b="1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200" b="1">
                <a:latin typeface="Consolas" panose="020B0609020204030204" charset="0"/>
                <a:cs typeface="Consolas" panose="020B0609020204030204" charset="0"/>
                <a:sym typeface="+mn-ea"/>
              </a:rPr>
              <a:t>        }</a:t>
            </a:r>
            <a:endParaRPr lang="en-US" altLang="zh-CN" sz="1200" b="1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200" b="1">
                <a:latin typeface="Consolas" panose="020B0609020204030204" charset="0"/>
                <a:cs typeface="Consolas" panose="020B0609020204030204" charset="0"/>
                <a:sym typeface="+mn-ea"/>
              </a:rPr>
              <a:t>    }</a:t>
            </a:r>
            <a:endParaRPr lang="en-US" altLang="zh-CN" sz="1200" b="1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200" b="1">
                <a:latin typeface="Consolas" panose="020B0609020204030204" charset="0"/>
                <a:cs typeface="Consolas" panose="020B0609020204030204" charset="0"/>
                <a:sym typeface="+mn-ea"/>
              </a:rPr>
              <a:t>    // 辅助方法：读取进程输出流</a:t>
            </a:r>
            <a:endParaRPr lang="en-US" altLang="zh-CN" sz="1200" b="1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200" b="1">
                <a:latin typeface="Consolas" panose="020B0609020204030204" charset="0"/>
                <a:cs typeface="Consolas" panose="020B0609020204030204" charset="0"/>
                <a:sym typeface="+mn-ea"/>
              </a:rPr>
              <a:t>    void readStream(InputStream input) {</a:t>
            </a:r>
            <a:endParaRPr lang="en-US" altLang="zh-CN" sz="1200" b="1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200" b="1">
                <a:latin typeface="Consolas" panose="020B0609020204030204" charset="0"/>
                <a:cs typeface="Consolas" panose="020B0609020204030204" charset="0"/>
                <a:sym typeface="+mn-ea"/>
              </a:rPr>
              <a:t>        // 将流内容实时写入数据库或日志文件，供Web界面查看</a:t>
            </a:r>
            <a:endParaRPr lang="en-US" altLang="zh-CN" sz="1200" b="1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200" b="1">
                <a:latin typeface="Consolas" panose="020B0609020204030204" charset="0"/>
                <a:cs typeface="Consolas" panose="020B0609020204030204" charset="0"/>
                <a:sym typeface="+mn-ea"/>
              </a:rPr>
              <a:t>    }</a:t>
            </a:r>
            <a:endParaRPr lang="en-US" altLang="zh-CN" sz="1200" b="1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200" b="1">
                <a:latin typeface="Consolas" panose="020B0609020204030204" charset="0"/>
                <a:cs typeface="Consolas" panose="020B0609020204030204" charset="0"/>
                <a:sym typeface="+mn-ea"/>
              </a:rPr>
              <a:t>}</a:t>
            </a:r>
            <a:endParaRPr lang="en-US" altLang="zh-CN" sz="1200" b="1">
              <a:latin typeface="Consolas" panose="020B0609020204030204" charset="0"/>
              <a:cs typeface="Consolas" panose="020B0609020204030204" charset="0"/>
            </a:endParaRPr>
          </a:p>
          <a:p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>
            <p:custDataLst>
              <p:tags r:id="rId1"/>
            </p:custDataLst>
          </p:nvPr>
        </p:nvSpPr>
        <p:spPr>
          <a:xfrm rot="9240000">
            <a:off x="10078541" y="6207703"/>
            <a:ext cx="2421265" cy="103250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3813" h="1626">
                <a:moveTo>
                  <a:pt x="721" y="0"/>
                </a:moveTo>
                <a:lnTo>
                  <a:pt x="3813" y="1508"/>
                </a:lnTo>
                <a:lnTo>
                  <a:pt x="3783" y="1569"/>
                </a:lnTo>
                <a:lnTo>
                  <a:pt x="3776" y="1570"/>
                </a:lnTo>
                <a:cubicBezTo>
                  <a:pt x="3317" y="1606"/>
                  <a:pt x="2824" y="1626"/>
                  <a:pt x="2313" y="1626"/>
                </a:cubicBezTo>
                <a:cubicBezTo>
                  <a:pt x="1486" y="1626"/>
                  <a:pt x="710" y="1574"/>
                  <a:pt x="42" y="1484"/>
                </a:cubicBezTo>
                <a:lnTo>
                  <a:pt x="0" y="1479"/>
                </a:lnTo>
                <a:lnTo>
                  <a:pt x="721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1575" y="617993"/>
            <a:ext cx="10969200" cy="491272"/>
          </a:xfrm>
        </p:spPr>
        <p:txBody>
          <a:bodyPr/>
          <a:lstStyle/>
          <a:p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2.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实时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进行数据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同步</a:t>
            </a:r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228600" y="594360"/>
            <a:ext cx="144000" cy="57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05" y="1612265"/>
            <a:ext cx="6363970" cy="5384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630" y="2386330"/>
            <a:ext cx="4906645" cy="33623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096000" y="2480945"/>
            <a:ext cx="5483860" cy="3149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None/>
            </a:pPr>
            <a:r>
              <a:rPr lang="zh-CN" altLang="en-US" sz="2400">
                <a:sym typeface="+mn-ea"/>
              </a:rPr>
              <a:t>注意：</a:t>
            </a:r>
            <a:endParaRPr lang="zh-CN" altLang="en-US" sz="2400">
              <a:solidFill>
                <a:schemeClr val="tx1"/>
              </a:solidFill>
            </a:endParaRPr>
          </a:p>
          <a:p>
            <a:pPr algn="l">
              <a:buClrTx/>
              <a:buSzTx/>
              <a:buNone/>
            </a:pPr>
            <a:r>
              <a:rPr lang="en-US" altLang="zh-CN" sz="2400">
                <a:sym typeface="+mn-ea"/>
              </a:rPr>
              <a:t>1.</a:t>
            </a:r>
            <a:r>
              <a:rPr lang="zh-CN" altLang="en-US" sz="2400">
                <a:sym typeface="+mn-ea"/>
              </a:rPr>
              <a:t>Cron表达式: "0</a:t>
            </a:r>
            <a:r>
              <a:rPr lang="en-US" altLang="zh-CN" sz="2400">
                <a:sym typeface="+mn-ea"/>
              </a:rPr>
              <a:t>0</a:t>
            </a:r>
            <a:r>
              <a:rPr lang="zh-CN" altLang="en-US" sz="2400">
                <a:sym typeface="+mn-ea"/>
              </a:rPr>
              <a:t> </a:t>
            </a:r>
            <a:r>
              <a:rPr lang="en-US" altLang="zh-CN" sz="2400">
                <a:sym typeface="+mn-ea"/>
              </a:rPr>
              <a:t>0</a:t>
            </a:r>
            <a:r>
              <a:rPr lang="zh-CN" altLang="en-US" sz="2400">
                <a:sym typeface="+mn-ea"/>
              </a:rPr>
              <a:t>0 </a:t>
            </a:r>
            <a:r>
              <a:rPr lang="en-US" altLang="zh-CN" sz="2400">
                <a:sym typeface="+mn-ea"/>
              </a:rPr>
              <a:t>0</a:t>
            </a:r>
            <a:r>
              <a:rPr lang="zh-CN" altLang="en-US" sz="2400">
                <a:sym typeface="+mn-ea"/>
              </a:rPr>
              <a:t>2 * * ?</a:t>
            </a:r>
            <a:r>
              <a:rPr lang="en-US" altLang="zh-CN" sz="2400">
                <a:sym typeface="+mn-ea"/>
              </a:rPr>
              <a:t> *</a:t>
            </a:r>
            <a:r>
              <a:rPr lang="zh-CN" altLang="en-US" sz="2400">
                <a:sym typeface="+mn-ea"/>
              </a:rPr>
              <a:t>" 表示每天凌晨2点执行</a:t>
            </a:r>
            <a:endParaRPr lang="zh-CN" altLang="en-US" sz="2400">
              <a:solidFill>
                <a:schemeClr val="tx1"/>
              </a:solidFill>
            </a:endParaRPr>
          </a:p>
          <a:p>
            <a:pPr algn="l">
              <a:buClrTx/>
              <a:buSzTx/>
              <a:buNone/>
            </a:pPr>
            <a:r>
              <a:rPr lang="en-US" altLang="zh-CN" sz="2400">
                <a:sym typeface="+mn-ea"/>
              </a:rPr>
              <a:t>2.</a:t>
            </a:r>
            <a:r>
              <a:rPr lang="zh-CN" altLang="en-US" sz="2400">
                <a:sym typeface="+mn-ea"/>
              </a:rPr>
              <a:t>时区统一使用 Asia/Shanghai</a:t>
            </a:r>
            <a:endParaRPr lang="zh-CN" altLang="en-US" sz="2400">
              <a:solidFill>
                <a:schemeClr val="tx1"/>
              </a:solidFill>
            </a:endParaRPr>
          </a:p>
          <a:p>
            <a:pPr algn="l">
              <a:buClrTx/>
              <a:buSzTx/>
              <a:buNone/>
            </a:pPr>
            <a:r>
              <a:rPr lang="en-US" altLang="zh-CN" sz="2400">
                <a:sym typeface="+mn-ea"/>
              </a:rPr>
              <a:t>3.</a:t>
            </a:r>
            <a:r>
              <a:rPr lang="zh-CN" altLang="en-US" sz="2400">
                <a:sym typeface="+mn-ea"/>
              </a:rPr>
              <a:t>支持动态更新调度配置</a:t>
            </a:r>
            <a:endParaRPr lang="zh-CN" altLang="en-US" sz="2400">
              <a:solidFill>
                <a:schemeClr val="tx1"/>
              </a:solidFill>
            </a:endParaRPr>
          </a:p>
          <a:p>
            <a:pPr algn="l">
              <a:buClrTx/>
              <a:buSzTx/>
              <a:buNone/>
            </a:pPr>
            <a:r>
              <a:rPr lang="en-US" altLang="zh-CN" sz="2400">
                <a:sym typeface="+mn-ea"/>
              </a:rPr>
              <a:t>4.</a:t>
            </a:r>
            <a:r>
              <a:rPr lang="zh-CN" altLang="en-US" sz="2400">
                <a:sym typeface="+mn-ea"/>
              </a:rPr>
              <a:t>应用启动时自动加载所有定时任务</a:t>
            </a:r>
            <a:endParaRPr lang="zh-CN" altLang="en-US" sz="2400">
              <a:solidFill>
                <a:schemeClr val="tx1"/>
              </a:solidFill>
            </a:endParaRPr>
          </a:p>
          <a:p>
            <a:endParaRPr lang="zh-CN" altLang="en-US"/>
          </a:p>
        </p:txBody>
      </p:sp>
    </p:spTree>
    <p:custDataLst>
      <p:tags r:id="rId6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>
            <p:custDataLst>
              <p:tags r:id="rId1"/>
            </p:custDataLst>
          </p:nvPr>
        </p:nvSpPr>
        <p:spPr>
          <a:xfrm rot="9240000">
            <a:off x="10078541" y="6207703"/>
            <a:ext cx="2421265" cy="103250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3813" h="1626">
                <a:moveTo>
                  <a:pt x="721" y="0"/>
                </a:moveTo>
                <a:lnTo>
                  <a:pt x="3813" y="1508"/>
                </a:lnTo>
                <a:lnTo>
                  <a:pt x="3783" y="1569"/>
                </a:lnTo>
                <a:lnTo>
                  <a:pt x="3776" y="1570"/>
                </a:lnTo>
                <a:cubicBezTo>
                  <a:pt x="3317" y="1606"/>
                  <a:pt x="2824" y="1626"/>
                  <a:pt x="2313" y="1626"/>
                </a:cubicBezTo>
                <a:cubicBezTo>
                  <a:pt x="1486" y="1626"/>
                  <a:pt x="710" y="1574"/>
                  <a:pt x="42" y="1484"/>
                </a:cubicBezTo>
                <a:lnTo>
                  <a:pt x="0" y="1479"/>
                </a:lnTo>
                <a:lnTo>
                  <a:pt x="721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1575" y="617993"/>
            <a:ext cx="10969200" cy="491272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3.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冲突处理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228600" y="594360"/>
            <a:ext cx="144000" cy="57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11505" y="1170305"/>
            <a:ext cx="10052685" cy="5145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/>
              <a:t>1</a:t>
            </a:r>
            <a:r>
              <a:rPr lang="zh-CN" altLang="en-US" sz="2400"/>
              <a:t>.</a:t>
            </a:r>
            <a:r>
              <a:rPr lang="zh-CN" altLang="en-US" sz="2400"/>
              <a:t>运行报表</a:t>
            </a:r>
            <a:endParaRPr lang="zh-CN" altLang="en-US" sz="2400"/>
          </a:p>
          <a:p>
            <a:endParaRPr lang="zh-CN" altLang="en-US" sz="2400"/>
          </a:p>
          <a:p>
            <a:endParaRPr lang="zh-CN" altLang="en-US" sz="2400"/>
          </a:p>
          <a:p>
            <a:endParaRPr lang="zh-CN" altLang="en-US" sz="2400"/>
          </a:p>
          <a:p>
            <a:endParaRPr lang="zh-CN" altLang="en-US" sz="2400"/>
          </a:p>
          <a:p>
            <a:endParaRPr lang="zh-CN" altLang="en-US" sz="2400"/>
          </a:p>
          <a:p>
            <a:endParaRPr lang="zh-CN" altLang="en-US" sz="2400"/>
          </a:p>
          <a:p>
            <a:endParaRPr lang="zh-CN" altLang="en-US" sz="2400"/>
          </a:p>
          <a:p>
            <a:endParaRPr lang="zh-CN" altLang="en-US" sz="2400"/>
          </a:p>
          <a:p>
            <a:endParaRPr lang="zh-CN" altLang="en-US" sz="2400"/>
          </a:p>
          <a:p>
            <a:r>
              <a:rPr lang="zh-CN" altLang="en-US" sz="2400"/>
              <a:t>实时监控数据同步是否出现</a:t>
            </a:r>
            <a:r>
              <a:rPr lang="zh-CN" altLang="en-US" sz="2400"/>
              <a:t>异常</a:t>
            </a:r>
            <a:endParaRPr lang="zh-CN" altLang="en-US" sz="2400"/>
          </a:p>
          <a:p>
            <a:endParaRPr lang="zh-CN" altLang="en-US" sz="2400"/>
          </a:p>
          <a:p>
            <a:endParaRPr lang="zh-CN" altLang="en-US" sz="2400"/>
          </a:p>
          <a:p>
            <a:endParaRPr lang="zh-CN" altLang="en-US" sz="2400"/>
          </a:p>
          <a:p>
            <a:endParaRPr lang="zh-CN" altLang="en-US" sz="2400"/>
          </a:p>
          <a:p>
            <a:endParaRPr lang="zh-CN" altLang="en-US" sz="2400"/>
          </a:p>
          <a:p>
            <a:endParaRPr lang="zh-CN" altLang="en-US" sz="2400"/>
          </a:p>
          <a:p>
            <a:endParaRPr lang="zh-CN" altLang="en-US" sz="2400"/>
          </a:p>
          <a:p>
            <a:endParaRPr lang="zh-CN" altLang="en-US" sz="240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05" y="1731010"/>
            <a:ext cx="9293860" cy="309943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>
            <p:custDataLst>
              <p:tags r:id="rId1"/>
            </p:custDataLst>
          </p:nvPr>
        </p:nvSpPr>
        <p:spPr>
          <a:xfrm rot="9240000">
            <a:off x="10078541" y="6207703"/>
            <a:ext cx="2421265" cy="103250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3813" h="1626">
                <a:moveTo>
                  <a:pt x="721" y="0"/>
                </a:moveTo>
                <a:lnTo>
                  <a:pt x="3813" y="1508"/>
                </a:lnTo>
                <a:lnTo>
                  <a:pt x="3783" y="1569"/>
                </a:lnTo>
                <a:lnTo>
                  <a:pt x="3776" y="1570"/>
                </a:lnTo>
                <a:cubicBezTo>
                  <a:pt x="3317" y="1606"/>
                  <a:pt x="2824" y="1626"/>
                  <a:pt x="2313" y="1626"/>
                </a:cubicBezTo>
                <a:cubicBezTo>
                  <a:pt x="1486" y="1626"/>
                  <a:pt x="710" y="1574"/>
                  <a:pt x="42" y="1484"/>
                </a:cubicBezTo>
                <a:lnTo>
                  <a:pt x="0" y="1479"/>
                </a:lnTo>
                <a:lnTo>
                  <a:pt x="721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1575" y="617993"/>
            <a:ext cx="10969200" cy="491272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3.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冲突处理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228600" y="594360"/>
            <a:ext cx="144000" cy="57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11505" y="1170305"/>
            <a:ext cx="10052685" cy="422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/>
              <a:t>2</a:t>
            </a:r>
            <a:r>
              <a:rPr lang="zh-CN" altLang="en-US" sz="2400"/>
              <a:t>.提供报警</a:t>
            </a:r>
            <a:r>
              <a:rPr lang="zh-CN" altLang="en-US" sz="2400"/>
              <a:t>邮件</a:t>
            </a:r>
            <a:endParaRPr lang="zh-CN" altLang="en-US" sz="2400"/>
          </a:p>
          <a:p>
            <a:endParaRPr lang="zh-CN" altLang="en-US" sz="2400"/>
          </a:p>
          <a:p>
            <a:endParaRPr lang="zh-CN" altLang="en-US" sz="2400"/>
          </a:p>
          <a:p>
            <a:endParaRPr lang="zh-CN" altLang="en-US" sz="2400"/>
          </a:p>
          <a:p>
            <a:endParaRPr lang="zh-CN" altLang="en-US" sz="2400"/>
          </a:p>
          <a:p>
            <a:endParaRPr lang="zh-CN" altLang="en-US" sz="2400"/>
          </a:p>
          <a:p>
            <a:r>
              <a:rPr lang="en-US" altLang="zh-CN" sz="2400">
                <a:sym typeface="+mn-ea"/>
              </a:rPr>
              <a:t>3</a:t>
            </a:r>
            <a:r>
              <a:rPr lang="zh-CN" altLang="en-US" sz="2400">
                <a:sym typeface="+mn-ea"/>
              </a:rPr>
              <a:t>.提供日志可供查看</a:t>
            </a:r>
            <a:endParaRPr lang="en-US" altLang="zh-CN" sz="2400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05" y="1734185"/>
            <a:ext cx="4210050" cy="16002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505" y="3959225"/>
            <a:ext cx="3105150" cy="17907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6555" y="3792855"/>
            <a:ext cx="5568315" cy="170815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>
            <p:custDataLst>
              <p:tags r:id="rId1"/>
            </p:custDataLst>
          </p:nvPr>
        </p:nvSpPr>
        <p:spPr>
          <a:xfrm rot="9240000">
            <a:off x="10078541" y="6207703"/>
            <a:ext cx="2421265" cy="103250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3813" h="1626">
                <a:moveTo>
                  <a:pt x="721" y="0"/>
                </a:moveTo>
                <a:lnTo>
                  <a:pt x="3813" y="1508"/>
                </a:lnTo>
                <a:lnTo>
                  <a:pt x="3783" y="1569"/>
                </a:lnTo>
                <a:lnTo>
                  <a:pt x="3776" y="1570"/>
                </a:lnTo>
                <a:cubicBezTo>
                  <a:pt x="3317" y="1606"/>
                  <a:pt x="2824" y="1626"/>
                  <a:pt x="2313" y="1626"/>
                </a:cubicBezTo>
                <a:cubicBezTo>
                  <a:pt x="1486" y="1626"/>
                  <a:pt x="710" y="1574"/>
                  <a:pt x="42" y="1484"/>
                </a:cubicBezTo>
                <a:lnTo>
                  <a:pt x="0" y="1479"/>
                </a:lnTo>
                <a:lnTo>
                  <a:pt x="721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1575" y="617993"/>
            <a:ext cx="10969200" cy="491272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3.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冲突处理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228600" y="594360"/>
            <a:ext cx="144000" cy="57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11505" y="1170305"/>
            <a:ext cx="10052685" cy="422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/>
              <a:t>4</a:t>
            </a:r>
            <a:r>
              <a:rPr lang="zh-CN" altLang="en-US" sz="2400"/>
              <a:t>.</a:t>
            </a:r>
            <a:r>
              <a:rPr lang="zh-CN" altLang="en-US" sz="2400"/>
              <a:t>解决冲突</a:t>
            </a:r>
            <a:endParaRPr lang="zh-CN" altLang="en-US" sz="2400"/>
          </a:p>
          <a:p>
            <a:endParaRPr lang="zh-CN" altLang="en-US" sz="2400"/>
          </a:p>
          <a:p>
            <a:endParaRPr lang="zh-CN" altLang="en-US" sz="2400"/>
          </a:p>
          <a:p>
            <a:endParaRPr lang="zh-CN" altLang="en-US" sz="2400"/>
          </a:p>
          <a:p>
            <a:endParaRPr lang="zh-CN" altLang="en-US" sz="2400"/>
          </a:p>
          <a:p>
            <a:endParaRPr lang="zh-CN" altLang="en-US" sz="2400"/>
          </a:p>
          <a:p>
            <a:endParaRPr lang="zh-CN" altLang="en-US" sz="24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05" y="1879600"/>
            <a:ext cx="5731510" cy="133223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395" y="3429000"/>
            <a:ext cx="3562350" cy="33147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1075" y="3879215"/>
            <a:ext cx="5286375" cy="184975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19504" y="3160175"/>
            <a:ext cx="10181896" cy="1541033"/>
          </a:xfrm>
        </p:spPr>
        <p:txBody>
          <a:bodyPr wrap="square">
            <a:normAutofit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总结与思考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1019504" y="747588"/>
            <a:ext cx="10181896" cy="2288155"/>
          </a:xfrm>
        </p:spPr>
        <p:txBody>
          <a:bodyPr wrap="square">
            <a:normAutofit/>
          </a:bodyPr>
          <a:lstStyle/>
          <a:p>
            <a:r>
              <a:rPr lang="zh-CN" altLang="en-US">
                <a:latin typeface="+mn-lt"/>
                <a:sym typeface="+mn-lt"/>
              </a:rPr>
              <a:t>第六章</a:t>
            </a:r>
            <a:endParaRPr lang="zh-CN" altLang="en-US" dirty="0">
              <a:latin typeface="+mn-lt"/>
              <a:sym typeface="+mn-lt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>
            <p:custDataLst>
              <p:tags r:id="rId1"/>
            </p:custDataLst>
          </p:nvPr>
        </p:nvSpPr>
        <p:spPr>
          <a:xfrm rot="9240000">
            <a:off x="10078541" y="6207703"/>
            <a:ext cx="2421265" cy="103250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3813" h="1626">
                <a:moveTo>
                  <a:pt x="721" y="0"/>
                </a:moveTo>
                <a:lnTo>
                  <a:pt x="3813" y="1508"/>
                </a:lnTo>
                <a:lnTo>
                  <a:pt x="3783" y="1569"/>
                </a:lnTo>
                <a:lnTo>
                  <a:pt x="3776" y="1570"/>
                </a:lnTo>
                <a:cubicBezTo>
                  <a:pt x="3317" y="1606"/>
                  <a:pt x="2824" y="1626"/>
                  <a:pt x="2313" y="1626"/>
                </a:cubicBezTo>
                <a:cubicBezTo>
                  <a:pt x="1486" y="1626"/>
                  <a:pt x="710" y="1574"/>
                  <a:pt x="42" y="1484"/>
                </a:cubicBezTo>
                <a:lnTo>
                  <a:pt x="0" y="1479"/>
                </a:lnTo>
                <a:lnTo>
                  <a:pt x="721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1575" y="617993"/>
            <a:ext cx="10969200" cy="491272"/>
          </a:xfrm>
        </p:spPr>
        <p:txBody>
          <a:bodyPr/>
          <a:lstStyle/>
          <a:p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1.docker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部署</a:t>
            </a:r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228600" y="594360"/>
            <a:ext cx="144000" cy="57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72745" y="1574800"/>
            <a:ext cx="10125075" cy="47263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 algn="l"/>
            <a:r>
              <a:rPr lang="zh-CN" altLang="en-US" sz="2400"/>
              <a:t>我把我的服务部署到docker容器中遇到了比较大的问题。</a:t>
            </a:r>
            <a:endParaRPr lang="zh-CN" altLang="en-US" sz="2400"/>
          </a:p>
          <a:p>
            <a:pPr indent="457200" algn="l"/>
            <a:r>
              <a:rPr lang="zh-CN" altLang="en-US" sz="2400"/>
              <a:t>1.首先遇到的是MySQL 容器虽然启动了，但数据库服务还没真正 ready（MySQL 初始化要时间），后端太早连接就会被拒绝。我的解决方法是添加了一个等待数据库就绪的脚本，让后端启动前先等mysql端口可用。</a:t>
            </a:r>
            <a:endParaRPr lang="zh-CN" altLang="en-US" sz="2400"/>
          </a:p>
          <a:p>
            <a:pPr indent="457200" algn="l"/>
            <a:r>
              <a:rPr lang="zh-CN" altLang="en-US" sz="2400"/>
              <a:t>2.其次端口冲突/权限：6379、5000 “端口不可用 也是很大的一个难题。导致这个问题的有几个原因端口已被别的进程占用（可能是之前的容器、或 Windows 上别的软件）或 Windows 防火墙/安全软件拦截某些端口绑定。而最简单的方法就是关闭占用 5000 的进程/旧容器。但是有可能这个是windows自己的漏洞，所以我的解决方法是把后端端口改成 18000:5000，基本不可能再撞 Windows 的保留端口。</a:t>
            </a:r>
            <a:endParaRPr lang="zh-CN" altLang="en-US" sz="2400"/>
          </a:p>
          <a:p>
            <a:pPr algn="l"/>
            <a:r>
              <a:rPr lang="zh-CN" altLang="en-US" sz="2400"/>
              <a:t>这样我就解决了我在docker部署中的问题。</a:t>
            </a:r>
            <a:endParaRPr lang="zh-CN" altLang="en-US" sz="2400"/>
          </a:p>
        </p:txBody>
      </p:sp>
    </p:spTree>
    <p:custDataLst>
      <p:tags r:id="rId4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>
            <p:custDataLst>
              <p:tags r:id="rId1"/>
            </p:custDataLst>
          </p:nvPr>
        </p:nvSpPr>
        <p:spPr>
          <a:xfrm rot="9240000">
            <a:off x="10078541" y="6207703"/>
            <a:ext cx="2421265" cy="103250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3813" h="1626">
                <a:moveTo>
                  <a:pt x="721" y="0"/>
                </a:moveTo>
                <a:lnTo>
                  <a:pt x="3813" y="1508"/>
                </a:lnTo>
                <a:lnTo>
                  <a:pt x="3783" y="1569"/>
                </a:lnTo>
                <a:lnTo>
                  <a:pt x="3776" y="1570"/>
                </a:lnTo>
                <a:cubicBezTo>
                  <a:pt x="3317" y="1606"/>
                  <a:pt x="2824" y="1626"/>
                  <a:pt x="2313" y="1626"/>
                </a:cubicBezTo>
                <a:cubicBezTo>
                  <a:pt x="1486" y="1626"/>
                  <a:pt x="710" y="1574"/>
                  <a:pt x="42" y="1484"/>
                </a:cubicBezTo>
                <a:lnTo>
                  <a:pt x="0" y="1479"/>
                </a:lnTo>
                <a:lnTo>
                  <a:pt x="721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1575" y="617993"/>
            <a:ext cx="10969200" cy="491272"/>
          </a:xfrm>
        </p:spPr>
        <p:txBody>
          <a:bodyPr/>
          <a:lstStyle/>
          <a:p>
            <a:r>
              <a:rPr lang="en-US" altLang="zh-CN">
                <a:latin typeface="+mn-lt"/>
                <a:ea typeface="宋体" panose="02010600030101010101" pitchFamily="2" charset="-122"/>
                <a:cs typeface="+mn-ea"/>
                <a:sym typeface="+mn-lt"/>
              </a:rPr>
              <a:t>2.</a:t>
            </a:r>
            <a:r>
              <a:rPr lang="zh-CN" altLang="en-US">
                <a:latin typeface="+mn-lt"/>
                <a:ea typeface="宋体" panose="02010600030101010101" pitchFamily="2" charset="-122"/>
                <a:cs typeface="+mn-ea"/>
                <a:sym typeface="+mn-lt"/>
              </a:rPr>
              <a:t>多数据库同步</a:t>
            </a:r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228600" y="594360"/>
            <a:ext cx="144000" cy="57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72745" y="1574800"/>
            <a:ext cx="10125075" cy="47263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 algn="l"/>
            <a:r>
              <a:rPr lang="zh-CN" altLang="en-US" sz="2400"/>
              <a:t>这个实验我用了三到四个实现多数据库同步的方法。</a:t>
            </a:r>
            <a:endParaRPr lang="zh-CN" altLang="en-US" sz="2400"/>
          </a:p>
          <a:p>
            <a:pPr indent="457200" algn="l"/>
            <a:r>
              <a:rPr lang="en-US" altLang="zh-CN" sz="2400"/>
              <a:t>A.symmetricDS B.</a:t>
            </a:r>
            <a:r>
              <a:rPr lang="en-US" altLang="zh-CN" sz="2400">
                <a:sym typeface="+mn-ea"/>
              </a:rPr>
              <a:t>pangu C.</a:t>
            </a:r>
            <a:r>
              <a:rPr lang="en-US" altLang="zh-CN" sz="2400">
                <a:sym typeface="+mn-ea"/>
              </a:rPr>
              <a:t>python </a:t>
            </a:r>
            <a:r>
              <a:rPr lang="en-US" altLang="zh-CN" sz="2400"/>
              <a:t>D.</a:t>
            </a:r>
            <a:r>
              <a:rPr lang="en-US" altLang="zh-CN" sz="2400">
                <a:sym typeface="+mn-ea"/>
              </a:rPr>
              <a:t>DataX</a:t>
            </a:r>
            <a:endParaRPr lang="en-US" altLang="zh-CN" sz="2400">
              <a:sym typeface="+mn-ea"/>
            </a:endParaRPr>
          </a:p>
          <a:p>
            <a:pPr indent="457200" algn="l"/>
            <a:r>
              <a:rPr lang="zh-CN" altLang="en-US" sz="2400"/>
              <a:t>其中遇到的问题有，（</a:t>
            </a:r>
            <a:r>
              <a:rPr lang="en-US" altLang="zh-CN" sz="2400"/>
              <a:t>1</a:t>
            </a:r>
            <a:r>
              <a:rPr lang="zh-CN" altLang="en-US" sz="2400"/>
              <a:t>）</a:t>
            </a:r>
            <a:r>
              <a:rPr lang="en-US" altLang="zh-CN" sz="2400"/>
              <a:t>datax</a:t>
            </a:r>
            <a:r>
              <a:rPr lang="zh-CN" altLang="en-US" sz="2400"/>
              <a:t>读不到</a:t>
            </a:r>
            <a:r>
              <a:rPr lang="en-US" altLang="zh-CN" sz="2400"/>
              <a:t>mariadb</a:t>
            </a:r>
            <a:r>
              <a:rPr lang="zh-CN" altLang="en-US" sz="2400"/>
              <a:t>的读写文件，因为</a:t>
            </a:r>
            <a:r>
              <a:rPr lang="en-US" altLang="zh-CN" sz="2400"/>
              <a:t>datax</a:t>
            </a:r>
            <a:r>
              <a:rPr lang="zh-CN" altLang="en-US" sz="2400"/>
              <a:t>官方的驱动里面就没有包含</a:t>
            </a:r>
            <a:r>
              <a:rPr lang="en-US" altLang="zh-CN" sz="2400"/>
              <a:t>mariadb</a:t>
            </a:r>
            <a:r>
              <a:rPr lang="zh-CN" altLang="en-US" sz="2400"/>
              <a:t>的读写驱动，我尝试用</a:t>
            </a:r>
            <a:r>
              <a:rPr lang="en-US" altLang="zh-CN" sz="2400"/>
              <a:t>mysql</a:t>
            </a:r>
            <a:r>
              <a:rPr lang="zh-CN" altLang="en-US" sz="2400"/>
              <a:t>的驱动对</a:t>
            </a:r>
            <a:r>
              <a:rPr lang="en-US" altLang="zh-CN" sz="2400"/>
              <a:t>mariadb</a:t>
            </a:r>
            <a:r>
              <a:rPr lang="zh-CN" altLang="en-US" sz="2400"/>
              <a:t>进行读写</a:t>
            </a:r>
            <a:r>
              <a:rPr lang="zh-CN" altLang="en-US" sz="2400"/>
              <a:t>最终得以解决。（</a:t>
            </a:r>
            <a:r>
              <a:rPr lang="en-US" altLang="zh-CN" sz="2400"/>
              <a:t>2</a:t>
            </a:r>
            <a:r>
              <a:rPr lang="zh-CN" altLang="en-US" sz="2400"/>
              <a:t>）</a:t>
            </a:r>
            <a:r>
              <a:rPr lang="en-US" altLang="zh-CN" sz="2400"/>
              <a:t>symmertricds </a:t>
            </a:r>
            <a:r>
              <a:rPr lang="zh-CN" altLang="en-US" sz="2400"/>
              <a:t>读写过程中需要加载</a:t>
            </a:r>
            <a:r>
              <a:rPr lang="en-US" altLang="zh-CN" sz="2400"/>
              <a:t>cof</a:t>
            </a:r>
            <a:r>
              <a:rPr lang="zh-CN" altLang="en-US" sz="2400"/>
              <a:t>里面的数据库配置，但是</a:t>
            </a:r>
            <a:r>
              <a:rPr lang="en-US" altLang="zh-CN" sz="2400"/>
              <a:t>MariaDB </a:t>
            </a:r>
            <a:r>
              <a:rPr lang="zh-CN" altLang="en-US" sz="2400"/>
              <a:t>是</a:t>
            </a:r>
            <a:r>
              <a:rPr lang="en-US" altLang="zh-CN" sz="2400"/>
              <a:t> MySQL </a:t>
            </a:r>
            <a:r>
              <a:rPr lang="zh-CN" altLang="en-US" sz="2400"/>
              <a:t>的一个分支，它们共享许多共同的特性和架构，所以导致无法区别这两个数据库之间的配置文件，导致最后失败。（</a:t>
            </a:r>
            <a:r>
              <a:rPr lang="en-US" altLang="zh-CN" sz="2400"/>
              <a:t>3</a:t>
            </a:r>
            <a:r>
              <a:rPr lang="zh-CN" altLang="en-US" sz="2400"/>
              <a:t>）在基于触发器的同步时候无法解决复杂的错误处理和事务管理。例如同步过程中的触发器执行失败，可能会导致事务回滚，从而影响源数据库的操作和数据一致性。如果没有妥善处理，源数据库和目标数据库的状态可能会变得不一致。</a:t>
            </a:r>
            <a:endParaRPr lang="zh-CN" altLang="en-US" sz="2400"/>
          </a:p>
          <a:p>
            <a:pPr indent="457200" algn="l"/>
            <a:r>
              <a:rPr lang="zh-CN" altLang="en-US" sz="2400"/>
              <a:t>这就是我为什么我使用</a:t>
            </a:r>
            <a:r>
              <a:rPr lang="en-US" altLang="zh-CN" sz="2400"/>
              <a:t>DataX</a:t>
            </a:r>
            <a:r>
              <a:rPr lang="zh-CN" altLang="en-US" sz="2400"/>
              <a:t>的原因。</a:t>
            </a:r>
            <a:endParaRPr lang="zh-CN" altLang="en-US" sz="2400"/>
          </a:p>
          <a:p>
            <a:pPr indent="457200" algn="l"/>
            <a:endParaRPr lang="zh-CN" altLang="en-US" sz="2400"/>
          </a:p>
          <a:p>
            <a:pPr indent="457200" algn="l"/>
            <a:endParaRPr lang="en-US" altLang="zh-CN" sz="2400"/>
          </a:p>
          <a:p>
            <a:pPr indent="457200" algn="l"/>
            <a:endParaRPr lang="en-US" altLang="zh-CN" sz="2400"/>
          </a:p>
          <a:p>
            <a:pPr indent="457200" algn="l"/>
            <a:endParaRPr lang="zh-CN" altLang="en-US" sz="2400"/>
          </a:p>
        </p:txBody>
      </p:sp>
    </p:spTree>
    <p:custDataLst>
      <p:tags r:id="rId4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>
            <p:custDataLst>
              <p:tags r:id="rId1"/>
            </p:custDataLst>
          </p:nvPr>
        </p:nvSpPr>
        <p:spPr>
          <a:xfrm rot="9240000">
            <a:off x="10078541" y="6207703"/>
            <a:ext cx="2421265" cy="103250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3813" h="1626">
                <a:moveTo>
                  <a:pt x="721" y="0"/>
                </a:moveTo>
                <a:lnTo>
                  <a:pt x="3813" y="1508"/>
                </a:lnTo>
                <a:lnTo>
                  <a:pt x="3783" y="1569"/>
                </a:lnTo>
                <a:lnTo>
                  <a:pt x="3776" y="1570"/>
                </a:lnTo>
                <a:cubicBezTo>
                  <a:pt x="3317" y="1606"/>
                  <a:pt x="2824" y="1626"/>
                  <a:pt x="2313" y="1626"/>
                </a:cubicBezTo>
                <a:cubicBezTo>
                  <a:pt x="1486" y="1626"/>
                  <a:pt x="710" y="1574"/>
                  <a:pt x="42" y="1484"/>
                </a:cubicBezTo>
                <a:lnTo>
                  <a:pt x="0" y="1479"/>
                </a:lnTo>
                <a:lnTo>
                  <a:pt x="721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1575" y="617993"/>
            <a:ext cx="10969200" cy="491272"/>
          </a:xfrm>
        </p:spPr>
        <p:txBody>
          <a:bodyPr/>
          <a:lstStyle/>
          <a:p>
            <a:r>
              <a:rPr lang="en-US" altLang="zh-CN">
                <a:latin typeface="+mn-lt"/>
                <a:ea typeface="宋体" panose="02010600030101010101" pitchFamily="2" charset="-122"/>
                <a:cs typeface="+mn-ea"/>
                <a:sym typeface="+mn-lt"/>
              </a:rPr>
              <a:t>2.</a:t>
            </a:r>
            <a:r>
              <a:rPr lang="zh-CN" altLang="en-US">
                <a:latin typeface="+mn-lt"/>
                <a:ea typeface="宋体" panose="02010600030101010101" pitchFamily="2" charset="-122"/>
                <a:cs typeface="+mn-ea"/>
                <a:sym typeface="+mn-lt"/>
              </a:rPr>
              <a:t>多数据库同步</a:t>
            </a:r>
            <a:endParaRPr lang="zh-CN" altLang="en-US">
              <a:latin typeface="+mn-lt"/>
              <a:ea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228600" y="594360"/>
            <a:ext cx="144000" cy="57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73380" y="1380490"/>
            <a:ext cx="9601200" cy="48710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 algn="l">
              <a:buClrTx/>
              <a:buSzTx/>
              <a:buNone/>
            </a:pPr>
            <a:r>
              <a:rPr lang="zh-CN" altLang="en-US" sz="2400"/>
              <a:t>在用DataX进行多数据库同步的时候也遇到了一些问题。</a:t>
            </a:r>
            <a:endParaRPr lang="zh-CN" altLang="en-US" sz="2400"/>
          </a:p>
          <a:p>
            <a:pPr indent="457200" algn="l">
              <a:buClrTx/>
              <a:buSzTx/>
              <a:buNone/>
            </a:pPr>
            <a:r>
              <a:rPr lang="zh-CN" altLang="en-US" sz="2400"/>
              <a:t>（</a:t>
            </a:r>
            <a:r>
              <a:rPr lang="en-US" altLang="zh-CN" sz="2400"/>
              <a:t>1</a:t>
            </a:r>
            <a:r>
              <a:rPr lang="zh-CN" altLang="en-US" sz="2400"/>
              <a:t>）</a:t>
            </a:r>
            <a:r>
              <a:rPr lang="en-US" altLang="zh-CN" sz="2400"/>
              <a:t>SQL </a:t>
            </a:r>
            <a:r>
              <a:rPr lang="zh-CN" altLang="en-US" sz="2400"/>
              <a:t>方言不兼容，每个数据库的</a:t>
            </a:r>
            <a:r>
              <a:rPr lang="en-US" altLang="zh-CN" sz="2400"/>
              <a:t>sql</a:t>
            </a:r>
            <a:r>
              <a:rPr lang="zh-CN" altLang="en-US" sz="2400"/>
              <a:t>代码格式都不一样，这导致了同一条</a:t>
            </a:r>
            <a:r>
              <a:rPr lang="en-US" altLang="zh-CN" sz="2400"/>
              <a:t> SQL </a:t>
            </a:r>
            <a:r>
              <a:rPr lang="zh-CN" altLang="en-US" sz="2400"/>
              <a:t>在</a:t>
            </a:r>
            <a:r>
              <a:rPr lang="en-US" altLang="zh-CN" sz="2400"/>
              <a:t> MySQL </a:t>
            </a:r>
            <a:r>
              <a:rPr lang="zh-CN" altLang="en-US" sz="2400"/>
              <a:t>能跑，</a:t>
            </a:r>
            <a:r>
              <a:rPr lang="en-US" altLang="zh-CN" sz="2400"/>
              <a:t>PostgreSQL</a:t>
            </a:r>
            <a:r>
              <a:rPr lang="zh-CN" altLang="en-US" sz="2400"/>
              <a:t>中</a:t>
            </a:r>
            <a:r>
              <a:rPr lang="en-US" altLang="zh-CN" sz="2400"/>
              <a:t> </a:t>
            </a:r>
            <a:r>
              <a:rPr lang="zh-CN" altLang="en-US" sz="2400"/>
              <a:t>直接报错，三写就失败。例：</a:t>
            </a:r>
            <a:r>
              <a:rPr lang="en-US" altLang="zh-CN" sz="2400"/>
              <a:t>Postgresql</a:t>
            </a:r>
            <a:r>
              <a:rPr lang="zh-CN" altLang="en-US" sz="2400"/>
              <a:t>中不能以</a:t>
            </a:r>
            <a:r>
              <a:rPr lang="en-US" altLang="zh-CN" sz="2400"/>
              <a:t>user</a:t>
            </a:r>
            <a:r>
              <a:rPr lang="zh-CN" altLang="en-US" sz="2400"/>
              <a:t>给表命名，导致建表失败，同步任务异常中断，</a:t>
            </a:r>
            <a:r>
              <a:rPr lang="zh-CN" altLang="en-US" sz="2400"/>
              <a:t>甚至更有风险误以为导入成功，实际数据写到别的地方。</a:t>
            </a:r>
            <a:endParaRPr lang="zh-CN" altLang="en-US" sz="2400"/>
          </a:p>
          <a:p>
            <a:pPr indent="457200" algn="l">
              <a:buClrTx/>
              <a:buSzTx/>
              <a:buNone/>
            </a:pPr>
            <a:r>
              <a:rPr lang="zh-CN" altLang="en-US" sz="2400"/>
              <a:t>（</a:t>
            </a:r>
            <a:r>
              <a:rPr lang="en-US" altLang="zh-CN" sz="2400"/>
              <a:t>2</a:t>
            </a:r>
            <a:r>
              <a:rPr lang="zh-CN" altLang="en-US" sz="2400"/>
              <a:t>）也是</a:t>
            </a:r>
            <a:r>
              <a:rPr lang="en-US" altLang="zh-CN" sz="2400"/>
              <a:t>SQL / </a:t>
            </a:r>
            <a:r>
              <a:rPr lang="zh-CN" altLang="en-US" sz="2400"/>
              <a:t>语义差异，导致主键重复，进而导致触发器和函数不同步，最后导致数据异常。</a:t>
            </a:r>
            <a:endParaRPr lang="zh-CN" altLang="en-US" sz="2400"/>
          </a:p>
          <a:p>
            <a:pPr indent="457200" algn="l">
              <a:buClrTx/>
              <a:buSzTx/>
              <a:buNone/>
            </a:pPr>
            <a:r>
              <a:rPr lang="zh-CN" altLang="en-US" sz="2400"/>
              <a:t>（</a:t>
            </a:r>
            <a:r>
              <a:rPr lang="en-US" altLang="zh-CN" sz="2400"/>
              <a:t>3</a:t>
            </a:r>
            <a:r>
              <a:rPr lang="zh-CN" altLang="en-US" sz="2400"/>
              <a:t>）单机多线程架构下，大数据量同步易成为性能瓶颈，同时高并发读写会短时间内对源库和目标库造成较大</a:t>
            </a:r>
            <a:r>
              <a:rPr lang="en-US" altLang="zh-CN" sz="2400"/>
              <a:t>CPU</a:t>
            </a:r>
            <a:r>
              <a:rPr lang="zh-CN" altLang="en-US" sz="2400"/>
              <a:t>和</a:t>
            </a:r>
            <a:r>
              <a:rPr lang="en-US" altLang="zh-CN" sz="2400"/>
              <a:t>I/O</a:t>
            </a:r>
            <a:r>
              <a:rPr lang="zh-CN" altLang="en-US" sz="2400"/>
              <a:t>压力。导致与运行同步时</a:t>
            </a:r>
            <a:r>
              <a:rPr lang="zh-CN" altLang="en-US" sz="2400"/>
              <a:t>电脑经常会死机。</a:t>
            </a:r>
            <a:endParaRPr lang="zh-CN" altLang="en-US" sz="2400"/>
          </a:p>
          <a:p>
            <a:pPr indent="457200" algn="l">
              <a:buClrTx/>
              <a:buSzTx/>
              <a:buNone/>
            </a:pPr>
            <a:r>
              <a:rPr lang="zh-CN" altLang="en-US" sz="2400"/>
              <a:t>（</a:t>
            </a:r>
            <a:r>
              <a:rPr lang="en-US" altLang="zh-CN" sz="2400"/>
              <a:t>4</a:t>
            </a:r>
            <a:r>
              <a:rPr lang="zh-CN" altLang="en-US" sz="2400"/>
              <a:t>）原生</a:t>
            </a:r>
            <a:r>
              <a:rPr lang="en-US" altLang="zh-CN" sz="2400"/>
              <a:t>DataX</a:t>
            </a:r>
            <a:r>
              <a:rPr lang="zh-CN" altLang="en-US" sz="2400"/>
              <a:t>缺乏任务调度和可视化监控。需依赖外部系统（如</a:t>
            </a:r>
            <a:r>
              <a:rPr lang="en-US" altLang="zh-CN" sz="2400"/>
              <a:t>DataX-Web</a:t>
            </a:r>
            <a:r>
              <a:rPr lang="zh-CN" altLang="en-US" sz="2400"/>
              <a:t>）实现定时触发、失败告警和运行状态的可视化管理。</a:t>
            </a:r>
            <a:endParaRPr lang="zh-CN" altLang="en-US" sz="2400"/>
          </a:p>
          <a:p>
            <a:pPr indent="457200" algn="l">
              <a:buClrTx/>
              <a:buSzTx/>
              <a:buNone/>
            </a:pPr>
            <a:endParaRPr lang="zh-CN" altLang="en-US" sz="2400"/>
          </a:p>
        </p:txBody>
      </p:sp>
    </p:spTree>
    <p:custDataLst>
      <p:tags r:id="rId4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>
            <p:custDataLst>
              <p:tags r:id="rId1"/>
            </p:custDataLst>
          </p:nvPr>
        </p:nvSpPr>
        <p:spPr>
          <a:xfrm rot="9240000">
            <a:off x="10078541" y="6207703"/>
            <a:ext cx="2421265" cy="103250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3813" h="1626">
                <a:moveTo>
                  <a:pt x="721" y="0"/>
                </a:moveTo>
                <a:lnTo>
                  <a:pt x="3813" y="1508"/>
                </a:lnTo>
                <a:lnTo>
                  <a:pt x="3783" y="1569"/>
                </a:lnTo>
                <a:lnTo>
                  <a:pt x="3776" y="1570"/>
                </a:lnTo>
                <a:cubicBezTo>
                  <a:pt x="3317" y="1606"/>
                  <a:pt x="2824" y="1626"/>
                  <a:pt x="2313" y="1626"/>
                </a:cubicBezTo>
                <a:cubicBezTo>
                  <a:pt x="1486" y="1626"/>
                  <a:pt x="710" y="1574"/>
                  <a:pt x="42" y="1484"/>
                </a:cubicBezTo>
                <a:lnTo>
                  <a:pt x="0" y="1479"/>
                </a:lnTo>
                <a:lnTo>
                  <a:pt x="721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1575" y="617993"/>
            <a:ext cx="10969200" cy="491272"/>
          </a:xfrm>
        </p:spPr>
        <p:txBody>
          <a:bodyPr/>
          <a:lstStyle/>
          <a:p>
            <a:r>
              <a:rPr lang="en-US">
                <a:latin typeface="+mn-lt"/>
                <a:ea typeface="宋体" panose="02010600030101010101" pitchFamily="2" charset="-122"/>
                <a:cs typeface="+mn-ea"/>
                <a:sym typeface="+mn-lt"/>
              </a:rPr>
              <a:t>3.</a:t>
            </a:r>
            <a:r>
              <a:rPr lang="zh-CN" altLang="en-US">
                <a:latin typeface="+mn-lt"/>
                <a:ea typeface="宋体" panose="02010600030101010101" pitchFamily="2" charset="-122"/>
                <a:cs typeface="+mn-ea"/>
                <a:sym typeface="+mn-lt"/>
              </a:rPr>
              <a:t>启示</a:t>
            </a:r>
            <a:endParaRPr lang="zh-CN" altLang="en-US">
              <a:latin typeface="+mn-lt"/>
              <a:ea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228600" y="594360"/>
            <a:ext cx="144000" cy="57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11505" y="1553210"/>
            <a:ext cx="10968355" cy="46691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 algn="l">
              <a:buClrTx/>
              <a:buSzTx/>
              <a:buNone/>
            </a:pPr>
            <a:r>
              <a:rPr lang="zh-CN" altLang="en-US" sz="2400"/>
              <a:t>1.这个实验让我知道DataX的“框架+插件”架构证明了用同一套技术栈处理主流异构数据库同步是可行的。它通过为每个数据库提供专用的Reader/Writer插件，抽象了底层差异，让开发者能以几乎相同的配置模式操作这三种数据库，极大降低了技术复杂性和维护成本。</a:t>
            </a:r>
            <a:endParaRPr lang="zh-CN" altLang="en-US" sz="2400"/>
          </a:p>
          <a:p>
            <a:pPr indent="457200" algn="l">
              <a:buClrTx/>
              <a:buSzTx/>
              <a:buNone/>
            </a:pPr>
            <a:r>
              <a:rPr lang="zh-CN" altLang="en-US" sz="2400"/>
              <a:t>2.这三种数据库的核心数据类型和SQL语法存在差异，同步成功的第一步是进行精确的数据类型映射。必须在配置文件中仔细定义字段类型转换规则，避免精度丢失或插入失败，这要求实施者对各数据库的数据模型有深入理解</a:t>
            </a:r>
            <a:endParaRPr lang="zh-CN" altLang="en-US" sz="2400"/>
          </a:p>
          <a:p>
            <a:pPr indent="457200" algn="l">
              <a:buClrTx/>
              <a:buSzTx/>
              <a:buNone/>
            </a:pPr>
            <a:r>
              <a:rPr lang="zh-CN" altLang="en-US" sz="2400"/>
              <a:t>3.MySQL与MariaDB高度兼容，通常可互用插件。所以，</a:t>
            </a:r>
            <a:r>
              <a:rPr lang="zh-CN" altLang="en-US" sz="2400"/>
              <a:t>对于协议兼容的数据库，可以最大化复用插件与配置，显著减少适配工作量。但实践中仍需注意它们之间细微的版本差异和特性区别，在关键业务上需进行充分测试。</a:t>
            </a:r>
            <a:endParaRPr lang="zh-CN" altLang="en-US" sz="2400"/>
          </a:p>
        </p:txBody>
      </p:sp>
    </p:spTree>
    <p:custDataLst>
      <p:tags r:id="rId4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512900" y="1220789"/>
            <a:ext cx="10515000" cy="2642462"/>
          </a:xfrm>
        </p:spPr>
        <p:txBody>
          <a:bodyPr wrap="square">
            <a:normAutofit/>
          </a:bodyPr>
          <a:lstStyle/>
          <a:p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感谢老师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观看</a:t>
            </a:r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UNIT_TYPE" val="i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TYPE" val="b"/>
  <p:tag name="KSO_WM_UNIT_INDEX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UNIT_TYPE" val="i"/>
  <p:tag name="KSO_WM_UNIT_INDEX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15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5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5"/>
</p:tagLst>
</file>

<file path=ppt/tags/tag2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UNIT_TYPE" val="i"/>
  <p:tag name="KSO_WM_UNIT_INDEX" val="1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1819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TEMPLATE_CATEGORY" val="custom"/>
  <p:tag name="KSO_WM_TEMPLATE_INDEX" val="20231819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1819"/>
  <p:tag name="KSO_WM_TEMPLATE_THUMBS_INDEX" val="1、9"/>
</p:tagLst>
</file>

<file path=ppt/tags/tag3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1819_1*a*1"/>
  <p:tag name="KSO_WM_TEMPLATE_CATEGORY" val="custom"/>
  <p:tag name="KSO_WM_TEMPLATE_INDEX" val="20231819"/>
  <p:tag name="KSO_WM_UNIT_LAYERLEVEL" val="1"/>
  <p:tag name="KSO_WM_TAG_VERSION" val="3.0"/>
  <p:tag name="KSO_WM_BEAUTIFY_FLAG" val="#wm#"/>
  <p:tag name="KSO_WM_UNIT_PRESET_TEXT" val="单击此处&#10;添加文档标题"/>
</p:tagLst>
</file>

<file path=ppt/tags/tag37.xml><?xml version="1.0" encoding="utf-8"?>
<p:tagLst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1819_1*f*4"/>
  <p:tag name="KSO_WM_TEMPLATE_CATEGORY" val="custom"/>
  <p:tag name="KSO_WM_TEMPLATE_INDEX" val="20231819"/>
  <p:tag name="KSO_WM_UNIT_LAYERLEVEL" val="1"/>
  <p:tag name="KSO_WM_TAG_VERSION" val="3.0"/>
  <p:tag name="KSO_WM_BEAUTIFY_FLAG" val="#wm#"/>
  <p:tag name="KSO_WM_UNIT_PRESET_TEXT" val="汇报人：WPS"/>
</p:tagLst>
</file>

<file path=ppt/tags/tag38.xml><?xml version="1.0" encoding="utf-8"?>
<p:tagLst xmlns:p="http://schemas.openxmlformats.org/presentationml/2006/main">
  <p:tag name="KSO_WM_SLIDE_ID" val="custom20231819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1819"/>
  <p:tag name="KSO_WM_SLIDE_LAYOUT" val="a_b_f"/>
  <p:tag name="KSO_WM_SLIDE_LAYOUT_CNT" val="1_1_1"/>
  <p:tag name="KSO_WM_SLIDE_TYPE" val="title"/>
  <p:tag name="KSO_WM_SLIDE_SUBTYPE" val="pureTxt"/>
  <p:tag name="KSO_WM_TEMPLATE_THUMBS_INDEX" val="1、9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1819_6*a*1"/>
  <p:tag name="KSO_WM_TEMPLATE_CATEGORY" val="custom"/>
  <p:tag name="KSO_WM_TEMPLATE_INDEX" val="20231819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NOCLEAR" val="0"/>
  <p:tag name="KSO_WM_UNIT_VALUE" val="3"/>
  <p:tag name="KSO_WM_UNIT_TYPE" val="a"/>
  <p:tag name="KSO_WM_UNIT_INDEX" val="1"/>
  <p:tag name="KSO_WM_DIAGRAM_GROUP_CODE" val="l1-1"/>
  <p:tag name="KSO_WM_UNIT_PRESET_TEXT" val="目录"/>
</p:tagLst>
</file>

<file path=ppt/tags/tag4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custom5_6*l_h_i*1_1_1"/>
  <p:tag name="KSO_WM_TEMPLATE_CATEGORY" val="custom"/>
  <p:tag name="KSO_WM_TEMPLATE_INDEX" val="5"/>
  <p:tag name="KSO_WM_UNIT_LAYERLEVEL" val="1_1_1"/>
  <p:tag name="KSO_WM_TAG_VERSION" val="3.0"/>
  <p:tag name="KSO_WM_UNIT_TYPE" val="l_h_i"/>
  <p:tag name="KSO_WM_UNIT_INDEX" val="1_1_1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20.53913385826775,&quot;left&quot;:377.91850393700787,&quot;top&quot;:65.23047244094488,&quot;width&quot;:397.2128346456693}"/>
  <p:tag name="KSO_WM_DIAGRAM_COLOR_MATCH_VALUE" val="{&quot;shape&quot;:{&quot;fill&quot;:{&quot;solid&quot;:{&quot;brightness&quot;:0.800000011920929,&quot;colorType&quot;:1,&quot;foreColorIndex&quot;:10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5_6*l_h_i*1_1_2"/>
  <p:tag name="KSO_WM_TEMPLATE_CATEGORY" val="custom"/>
  <p:tag name="KSO_WM_TEMPLATE_INDEX" val="5"/>
  <p:tag name="KSO_WM_UNIT_LAYERLEVEL" val="1_1_1"/>
  <p:tag name="KSO_WM_TAG_VERSION" val="3.0"/>
  <p:tag name="KSO_WM_BEAUTIFY_FLAG" val="#wm#"/>
  <p:tag name="KSO_WM_UNIT_TYPE" val="l_h_i"/>
  <p:tag name="KSO_WM_UNIT_INDEX" val="1_1_2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20.53913385826775,&quot;left&quot;:377.91850393700787,&quot;top&quot;:65.23047244094488,&quot;width&quot;:397.2128346456693}"/>
  <p:tag name="KSO_WM_DIAGRAM_COLOR_MATCH_VALUE" val="{&quot;shape&quot;:{&quot;fill&quot;:{&quot;type&quot;:0},&quot;glow&quot;:{&quot;colorType&quot;:0},&quot;line&quot;:{&quot;solidLine&quot;:{&quot;brightness&quot;:0.800000011920929,&quot;colorType&quot;:1,&quot;foreColorIndex&quot;:10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3"/>
  <p:tag name="KSO_WM_UNIT_ID" val="custom5_6*l_h_i*1_1_3"/>
  <p:tag name="KSO_WM_TEMPLATE_CATEGORY" val="custom"/>
  <p:tag name="KSO_WM_TEMPLATE_INDEX" val="5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PRESET_TEXT" val="壹"/>
  <p:tag name="KSO_WM_DIAGRAM_MAX_ITEMCNT" val="6"/>
  <p:tag name="KSO_WM_DIAGRAM_MIN_ITEMCNT" val="2"/>
  <p:tag name="KSO_WM_DIAGRAM_VIRTUALLY_FRAME" val="{&quot;height&quot;:320.53913385826775,&quot;left&quot;:377.91850393700787,&quot;top&quot;:65.23047244094488,&quot;width&quot;:397.21283464566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custom5_6*l_h_a*1_1_1"/>
  <p:tag name="KSO_WM_TEMPLATE_CATEGORY" val="custom"/>
  <p:tag name="KSO_WM_TEMPLATE_INDEX" val="5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PRESET_TEXT" val="单击添加目录项标题"/>
  <p:tag name="KSO_WM_DIAGRAM_MAX_ITEMCNT" val="6"/>
  <p:tag name="KSO_WM_DIAGRAM_MIN_ITEMCNT" val="2"/>
  <p:tag name="KSO_WM_DIAGRAM_VIRTUALLY_FRAME" val="{&quot;height&quot;:320.53913385826775,&quot;left&quot;:377.91850393700787,&quot;top&quot;:65.23047244094488,&quot;width&quot;:397.21283464566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custom5_6*l_h_i*1_2_1"/>
  <p:tag name="KSO_WM_TEMPLATE_CATEGORY" val="custom"/>
  <p:tag name="KSO_WM_TEMPLATE_INDEX" val="5"/>
  <p:tag name="KSO_WM_UNIT_LAYERLEVEL" val="1_1_1"/>
  <p:tag name="KSO_WM_TAG_VERSION" val="3.0"/>
  <p:tag name="KSO_WM_UNIT_TYPE" val="l_h_i"/>
  <p:tag name="KSO_WM_UNIT_INDEX" val="1_2_1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20.53913385826775,&quot;left&quot;:377.91850393700787,&quot;top&quot;:65.23047244094488,&quot;width&quot;:397.2128346456693}"/>
  <p:tag name="KSO_WM_DIAGRAM_COLOR_MATCH_VALUE" val="{&quot;shape&quot;:{&quot;fill&quot;:{&quot;solid&quot;:{&quot;brightness&quot;:0.800000011920929,&quot;colorType&quot;:1,&quot;foreColorIndex&quot;:10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5_6*l_h_i*1_2_2"/>
  <p:tag name="KSO_WM_TEMPLATE_CATEGORY" val="custom"/>
  <p:tag name="KSO_WM_TEMPLATE_INDEX" val="5"/>
  <p:tag name="KSO_WM_UNIT_LAYERLEVEL" val="1_1_1"/>
  <p:tag name="KSO_WM_TAG_VERSION" val="3.0"/>
  <p:tag name="KSO_WM_BEAUTIFY_FLAG" val="#wm#"/>
  <p:tag name="KSO_WM_UNIT_TYPE" val="l_h_i"/>
  <p:tag name="KSO_WM_UNIT_INDEX" val="1_2_2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20.53913385826775,&quot;left&quot;:377.91850393700787,&quot;top&quot;:65.23047244094488,&quot;width&quot;:397.2128346456693}"/>
  <p:tag name="KSO_WM_DIAGRAM_COLOR_MATCH_VALUE" val="{&quot;shape&quot;:{&quot;fill&quot;:{&quot;type&quot;:0},&quot;glow&quot;:{&quot;colorType&quot;:0},&quot;line&quot;:{&quot;solidLine&quot;:{&quot;brightness&quot;:0.800000011920929,&quot;colorType&quot;:1,&quot;foreColorIndex&quot;:10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3"/>
  <p:tag name="KSO_WM_UNIT_ID" val="custom5_6*l_h_i*1_2_3"/>
  <p:tag name="KSO_WM_TEMPLATE_CATEGORY" val="custom"/>
  <p:tag name="KSO_WM_TEMPLATE_INDEX" val="5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PRESET_TEXT" val="贰"/>
  <p:tag name="KSO_WM_DIAGRAM_MAX_ITEMCNT" val="6"/>
  <p:tag name="KSO_WM_DIAGRAM_MIN_ITEMCNT" val="2"/>
  <p:tag name="KSO_WM_DIAGRAM_VIRTUALLY_FRAME" val="{&quot;height&quot;:320.53913385826775,&quot;left&quot;:377.91850393700787,&quot;top&quot;:65.23047244094488,&quot;width&quot;:397.21283464566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custom5_6*l_h_a*1_2_1"/>
  <p:tag name="KSO_WM_TEMPLATE_CATEGORY" val="custom"/>
  <p:tag name="KSO_WM_TEMPLATE_INDEX" val="5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PRESET_TEXT" val="单击添加目录项标题"/>
  <p:tag name="KSO_WM_DIAGRAM_MAX_ITEMCNT" val="6"/>
  <p:tag name="KSO_WM_DIAGRAM_MIN_ITEMCNT" val="2"/>
  <p:tag name="KSO_WM_DIAGRAM_VIRTUALLY_FRAME" val="{&quot;height&quot;:320.53913385826775,&quot;left&quot;:377.91850393700787,&quot;top&quot;:65.23047244094488,&quot;width&quot;:397.21283464566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custom5_6*l_h_i*1_3_1"/>
  <p:tag name="KSO_WM_TEMPLATE_CATEGORY" val="custom"/>
  <p:tag name="KSO_WM_TEMPLATE_INDEX" val="5"/>
  <p:tag name="KSO_WM_UNIT_LAYERLEVEL" val="1_1_1"/>
  <p:tag name="KSO_WM_TAG_VERSION" val="3.0"/>
  <p:tag name="KSO_WM_UNIT_TYPE" val="l_h_i"/>
  <p:tag name="KSO_WM_UNIT_INDEX" val="1_3_1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20.53913385826775,&quot;left&quot;:377.91850393700787,&quot;top&quot;:65.23047244094488,&quot;width&quot;:397.2128346456693}"/>
  <p:tag name="KSO_WM_DIAGRAM_COLOR_MATCH_VALUE" val="{&quot;shape&quot;:{&quot;fill&quot;:{&quot;solid&quot;:{&quot;brightness&quot;:0.800000011920929,&quot;colorType&quot;:1,&quot;foreColorIndex&quot;:10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5_6*l_h_i*1_3_2"/>
  <p:tag name="KSO_WM_TEMPLATE_CATEGORY" val="custom"/>
  <p:tag name="KSO_WM_TEMPLATE_INDEX" val="5"/>
  <p:tag name="KSO_WM_UNIT_LAYERLEVEL" val="1_1_1"/>
  <p:tag name="KSO_WM_TAG_VERSION" val="3.0"/>
  <p:tag name="KSO_WM_BEAUTIFY_FLAG" val="#wm#"/>
  <p:tag name="KSO_WM_UNIT_TYPE" val="l_h_i"/>
  <p:tag name="KSO_WM_UNIT_INDEX" val="1_3_2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20.53913385826775,&quot;left&quot;:377.91850393700787,&quot;top&quot;:65.23047244094488,&quot;width&quot;:397.2128346456693}"/>
  <p:tag name="KSO_WM_DIAGRAM_COLOR_MATCH_VALUE" val="{&quot;shape&quot;:{&quot;fill&quot;:{&quot;type&quot;:0},&quot;glow&quot;:{&quot;colorType&quot;:0},&quot;line&quot;:{&quot;solidLine&quot;:{&quot;brightness&quot;:0.800000011920929,&quot;colorType&quot;:1,&quot;foreColorIndex&quot;:10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3"/>
  <p:tag name="KSO_WM_UNIT_ID" val="custom5_6*l_h_i*1_3_3"/>
  <p:tag name="KSO_WM_TEMPLATE_CATEGORY" val="custom"/>
  <p:tag name="KSO_WM_TEMPLATE_INDEX" val="5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PRESET_TEXT" val="叁"/>
  <p:tag name="KSO_WM_DIAGRAM_MAX_ITEMCNT" val="6"/>
  <p:tag name="KSO_WM_DIAGRAM_MIN_ITEMCNT" val="2"/>
  <p:tag name="KSO_WM_DIAGRAM_VIRTUALLY_FRAME" val="{&quot;height&quot;:320.53913385826775,&quot;left&quot;:377.91850393700787,&quot;top&quot;:65.23047244094488,&quot;width&quot;:397.21283464566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5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custom5_6*l_h_a*1_3_1"/>
  <p:tag name="KSO_WM_TEMPLATE_CATEGORY" val="custom"/>
  <p:tag name="KSO_WM_TEMPLATE_INDEX" val="5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PRESET_TEXT" val="单击添加目录项标题"/>
  <p:tag name="KSO_WM_DIAGRAM_MAX_ITEMCNT" val="6"/>
  <p:tag name="KSO_WM_DIAGRAM_MIN_ITEMCNT" val="2"/>
  <p:tag name="KSO_WM_DIAGRAM_VIRTUALLY_FRAME" val="{&quot;height&quot;:320.53913385826775,&quot;left&quot;:377.91850393700787,&quot;top&quot;:65.23047244094488,&quot;width&quot;:397.21283464566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5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custom5_6*l_h_i*1_4_1"/>
  <p:tag name="KSO_WM_TEMPLATE_CATEGORY" val="custom"/>
  <p:tag name="KSO_WM_TEMPLATE_INDEX" val="5"/>
  <p:tag name="KSO_WM_UNIT_LAYERLEVEL" val="1_1_1"/>
  <p:tag name="KSO_WM_TAG_VERSION" val="3.0"/>
  <p:tag name="KSO_WM_UNIT_TYPE" val="l_h_i"/>
  <p:tag name="KSO_WM_UNIT_INDEX" val="1_4_1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20.53913385826775,&quot;left&quot;:377.91850393700787,&quot;top&quot;:65.23047244094488,&quot;width&quot;:397.2128346456693}"/>
  <p:tag name="KSO_WM_DIAGRAM_COLOR_MATCH_VALUE" val="{&quot;shape&quot;:{&quot;fill&quot;:{&quot;solid&quot;:{&quot;brightness&quot;:0.800000011920929,&quot;colorType&quot;:1,&quot;foreColorIndex&quot;:10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5_6*l_h_i*1_4_2"/>
  <p:tag name="KSO_WM_TEMPLATE_CATEGORY" val="custom"/>
  <p:tag name="KSO_WM_TEMPLATE_INDEX" val="5"/>
  <p:tag name="KSO_WM_UNIT_LAYERLEVEL" val="1_1_1"/>
  <p:tag name="KSO_WM_TAG_VERSION" val="3.0"/>
  <p:tag name="KSO_WM_BEAUTIFY_FLAG" val="#wm#"/>
  <p:tag name="KSO_WM_UNIT_TYPE" val="l_h_i"/>
  <p:tag name="KSO_WM_UNIT_INDEX" val="1_4_2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20.53913385826775,&quot;left&quot;:377.91850393700787,&quot;top&quot;:65.23047244094488,&quot;width&quot;:397.2128346456693}"/>
  <p:tag name="KSO_WM_DIAGRAM_COLOR_MATCH_VALUE" val="{&quot;shape&quot;:{&quot;fill&quot;:{&quot;type&quot;:0},&quot;glow&quot;:{&quot;colorType&quot;:0},&quot;line&quot;:{&quot;solidLine&quot;:{&quot;brightness&quot;:0.800000011920929,&quot;colorType&quot;:1,&quot;foreColorIndex&quot;:10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3"/>
  <p:tag name="KSO_WM_UNIT_ID" val="custom5_6*l_h_i*1_4_3"/>
  <p:tag name="KSO_WM_TEMPLATE_CATEGORY" val="custom"/>
  <p:tag name="KSO_WM_TEMPLATE_INDEX" val="5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PRESET_TEXT" val="肆"/>
  <p:tag name="KSO_WM_DIAGRAM_MAX_ITEMCNT" val="6"/>
  <p:tag name="KSO_WM_DIAGRAM_MIN_ITEMCNT" val="2"/>
  <p:tag name="KSO_WM_DIAGRAM_VIRTUALLY_FRAME" val="{&quot;height&quot;:320.53913385826775,&quot;left&quot;:377.91850393700787,&quot;top&quot;:65.23047244094488,&quot;width&quot;:397.21283464566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5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custom5_6*l_h_a*1_4_1"/>
  <p:tag name="KSO_WM_TEMPLATE_CATEGORY" val="custom"/>
  <p:tag name="KSO_WM_TEMPLATE_INDEX" val="5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PRESET_TEXT" val="单击添加目录项标题"/>
  <p:tag name="KSO_WM_DIAGRAM_MAX_ITEMCNT" val="6"/>
  <p:tag name="KSO_WM_DIAGRAM_MIN_ITEMCNT" val="2"/>
  <p:tag name="KSO_WM_DIAGRAM_VIRTUALLY_FRAME" val="{&quot;height&quot;:320.53913385826775,&quot;left&quot;:377.91850393700787,&quot;top&quot;:65.23047244094488,&quot;width&quot;:397.21283464566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5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custom5_6*l_h_i*1_5_1"/>
  <p:tag name="KSO_WM_TEMPLATE_CATEGORY" val="custom"/>
  <p:tag name="KSO_WM_TEMPLATE_INDEX" val="5"/>
  <p:tag name="KSO_WM_UNIT_LAYERLEVEL" val="1_1_1"/>
  <p:tag name="KSO_WM_TAG_VERSION" val="3.0"/>
  <p:tag name="KSO_WM_UNIT_TYPE" val="l_h_i"/>
  <p:tag name="KSO_WM_UNIT_INDEX" val="1_5_1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20.53913385826775,&quot;left&quot;:377.91850393700787,&quot;top&quot;:65.23047244094488,&quot;width&quot;:397.2128346456693}"/>
  <p:tag name="KSO_WM_DIAGRAM_COLOR_MATCH_VALUE" val="{&quot;shape&quot;:{&quot;fill&quot;:{&quot;solid&quot;:{&quot;brightness&quot;:0.800000011920929,&quot;colorType&quot;:1,&quot;foreColorIndex&quot;:10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5_6*l_h_i*1_5_2"/>
  <p:tag name="KSO_WM_TEMPLATE_CATEGORY" val="custom"/>
  <p:tag name="KSO_WM_TEMPLATE_INDEX" val="5"/>
  <p:tag name="KSO_WM_UNIT_LAYERLEVEL" val="1_1_1"/>
  <p:tag name="KSO_WM_TAG_VERSION" val="3.0"/>
  <p:tag name="KSO_WM_BEAUTIFY_FLAG" val="#wm#"/>
  <p:tag name="KSO_WM_UNIT_TYPE" val="l_h_i"/>
  <p:tag name="KSO_WM_UNIT_INDEX" val="1_5_2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20.53913385826775,&quot;left&quot;:377.91850393700787,&quot;top&quot;:65.23047244094488,&quot;width&quot;:397.2128346456693}"/>
  <p:tag name="KSO_WM_DIAGRAM_COLOR_MATCH_VALUE" val="{&quot;shape&quot;:{&quot;fill&quot;:{&quot;type&quot;:0},&quot;glow&quot;:{&quot;colorType&quot;:0},&quot;line&quot;:{&quot;solidLine&quot;:{&quot;brightness&quot;:0.800000011920929,&quot;colorType&quot;:1,&quot;foreColorIndex&quot;:10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5_3"/>
  <p:tag name="KSO_WM_UNIT_ID" val="custom5_6*l_h_i*1_5_3"/>
  <p:tag name="KSO_WM_TEMPLATE_CATEGORY" val="custom"/>
  <p:tag name="KSO_WM_TEMPLATE_INDEX" val="5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PRESET_TEXT" val="伍"/>
  <p:tag name="KSO_WM_DIAGRAM_MAX_ITEMCNT" val="6"/>
  <p:tag name="KSO_WM_DIAGRAM_MIN_ITEMCNT" val="2"/>
  <p:tag name="KSO_WM_DIAGRAM_VIRTUALLY_FRAME" val="{&quot;height&quot;:320.53913385826775,&quot;left&quot;:377.91850393700787,&quot;top&quot;:65.23047244094488,&quot;width&quot;:397.21283464566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5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5_1"/>
  <p:tag name="KSO_WM_UNIT_ID" val="custom5_6*l_h_a*1_5_1"/>
  <p:tag name="KSO_WM_TEMPLATE_CATEGORY" val="custom"/>
  <p:tag name="KSO_WM_TEMPLATE_INDEX" val="5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PRESET_TEXT" val="单击添加目录项标题"/>
  <p:tag name="KSO_WM_DIAGRAM_MAX_ITEMCNT" val="6"/>
  <p:tag name="KSO_WM_DIAGRAM_MIN_ITEMCNT" val="2"/>
  <p:tag name="KSO_WM_DIAGRAM_VIRTUALLY_FRAME" val="{&quot;height&quot;:320.53913385826775,&quot;left&quot;:377.91850393700787,&quot;top&quot;:65.23047244094488,&quot;width&quot;:397.21283464566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6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custom5_6*l_h_i*1_6_1"/>
  <p:tag name="KSO_WM_TEMPLATE_CATEGORY" val="custom"/>
  <p:tag name="KSO_WM_TEMPLATE_INDEX" val="5"/>
  <p:tag name="KSO_WM_UNIT_LAYERLEVEL" val="1_1_1"/>
  <p:tag name="KSO_WM_TAG_VERSION" val="3.0"/>
  <p:tag name="KSO_WM_UNIT_TYPE" val="l_h_i"/>
  <p:tag name="KSO_WM_UNIT_INDEX" val="1_6_1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20.53913385826775,&quot;left&quot;:377.91850393700787,&quot;top&quot;:65.23047244094488,&quot;width&quot;:397.2128346456693}"/>
  <p:tag name="KSO_WM_DIAGRAM_COLOR_MATCH_VALUE" val="{&quot;shape&quot;:{&quot;fill&quot;:{&quot;solid&quot;:{&quot;brightness&quot;:0.800000011920929,&quot;colorType&quot;:1,&quot;foreColorIndex&quot;:10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5_6*l_h_i*1_6_2"/>
  <p:tag name="KSO_WM_TEMPLATE_CATEGORY" val="custom"/>
  <p:tag name="KSO_WM_TEMPLATE_INDEX" val="5"/>
  <p:tag name="KSO_WM_UNIT_LAYERLEVEL" val="1_1_1"/>
  <p:tag name="KSO_WM_TAG_VERSION" val="3.0"/>
  <p:tag name="KSO_WM_BEAUTIFY_FLAG" val="#wm#"/>
  <p:tag name="KSO_WM_UNIT_TYPE" val="l_h_i"/>
  <p:tag name="KSO_WM_UNIT_INDEX" val="1_6_2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20.53913385826775,&quot;left&quot;:377.91850393700787,&quot;top&quot;:65.23047244094488,&quot;width&quot;:397.2128346456693}"/>
  <p:tag name="KSO_WM_DIAGRAM_COLOR_MATCH_VALUE" val="{&quot;shape&quot;:{&quot;fill&quot;:{&quot;type&quot;:0},&quot;glow&quot;:{&quot;colorType&quot;:0},&quot;line&quot;:{&quot;solidLine&quot;:{&quot;brightness&quot;:0.800000011920929,&quot;colorType&quot;:1,&quot;foreColorIndex&quot;:10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6_3"/>
  <p:tag name="KSO_WM_UNIT_ID" val="custom5_6*l_h_i*1_6_3"/>
  <p:tag name="KSO_WM_TEMPLATE_CATEGORY" val="custom"/>
  <p:tag name="KSO_WM_TEMPLATE_INDEX" val="5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PRESET_TEXT" val="陆"/>
  <p:tag name="KSO_WM_DIAGRAM_MAX_ITEMCNT" val="6"/>
  <p:tag name="KSO_WM_DIAGRAM_MIN_ITEMCNT" val="2"/>
  <p:tag name="KSO_WM_DIAGRAM_VIRTUALLY_FRAME" val="{&quot;height&quot;:320.53913385826775,&quot;left&quot;:377.91850393700787,&quot;top&quot;:65.23047244094488,&quot;width&quot;:397.21283464566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6_1"/>
  <p:tag name="KSO_WM_UNIT_ID" val="custom5_6*l_h_a*1_6_1"/>
  <p:tag name="KSO_WM_TEMPLATE_CATEGORY" val="custom"/>
  <p:tag name="KSO_WM_TEMPLATE_INDEX" val="5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PRESET_TEXT" val="单击添加目录项标题"/>
  <p:tag name="KSO_WM_DIAGRAM_MAX_ITEMCNT" val="6"/>
  <p:tag name="KSO_WM_DIAGRAM_MIN_ITEMCNT" val="2"/>
  <p:tag name="KSO_WM_DIAGRAM_VIRTUALLY_FRAME" val="{&quot;height&quot;:320.53913385826775,&quot;left&quot;:377.91850393700787,&quot;top&quot;:65.23047244094488,&quot;width&quot;:397.21283464566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64.xml><?xml version="1.0" encoding="utf-8"?>
<p:tagLst xmlns:p="http://schemas.openxmlformats.org/presentationml/2006/main">
  <p:tag name="KSO_WM_SLIDE_ID" val="custom20231819_6"/>
  <p:tag name="KSO_WM_TEMPLATE_SUBCATEGORY" val="29"/>
  <p:tag name="KSO_WM_TEMPLATE_MASTER_TYPE" val="0"/>
  <p:tag name="KSO_WM_TEMPLATE_COLOR_TYPE" val="0"/>
  <p:tag name="KSO_WM_SLIDE_ITEM_CNT" val="6"/>
  <p:tag name="KSO_WM_SLIDE_INDEX" val="6"/>
  <p:tag name="KSO_WM_TAG_VERSION" val="3.0"/>
  <p:tag name="KSO_WM_BEAUTIFY_FLAG" val="#wm#"/>
  <p:tag name="KSO_WM_TEMPLATE_CATEGORY" val="custom"/>
  <p:tag name="KSO_WM_TEMPLATE_INDEX" val="20231819"/>
  <p:tag name="KSO_WM_SLIDE_LAYOUT" val="a_l"/>
  <p:tag name="KSO_WM_SLIDE_LAYOUT_CNT" val="1_1"/>
  <p:tag name="KSO_WM_SLIDE_TYPE" val="contents"/>
  <p:tag name="KSO_WM_SLIDE_SUBTYPE" val="diag"/>
  <p:tag name="KSO_WM_DIAGRAM_GROUP_CODE" val="l1-1"/>
  <p:tag name="KSO_WM_SLIDE_DIAGTYPE" val="l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1819_7*a*1"/>
  <p:tag name="KSO_WM_TEMPLATE_CATEGORY" val="custom"/>
  <p:tag name="KSO_WM_TEMPLATE_INDEX" val="2023181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添加章节标题"/>
</p:tagLst>
</file>

<file path=ppt/tags/tag66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1819_7*e*1"/>
  <p:tag name="KSO_WM_TEMPLATE_CATEGORY" val="custom"/>
  <p:tag name="KSO_WM_TEMPLATE_INDEX" val="20231819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  <p:tag name="KSO_WM_UNIT_PRESET_TEXT" val="第一章"/>
</p:tagLst>
</file>

<file path=ppt/tags/tag67.xml><?xml version="1.0" encoding="utf-8"?>
<p:tagLst xmlns:p="http://schemas.openxmlformats.org/presentationml/2006/main">
  <p:tag name="KSO_WM_SLIDE_ID" val="custom20231819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1819"/>
  <p:tag name="KSO_WM_SLIDE_TYPE" val="sectionTitle"/>
  <p:tag name="KSO_WM_SLIDE_SUBTYPE" val="pureTxt"/>
  <p:tag name="KSO_WM_SLIDE_LAYOUT" val="a_e"/>
  <p:tag name="KSO_WM_SLIDE_LAYOUT_CNT" val="1_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1278_1*i*1"/>
  <p:tag name="KSO_WM_TEMPLATE_CATEGORY" val="custom"/>
  <p:tag name="KSO_WM_TEMPLATE_INDEX" val="20231278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PRESET_TEXT" val="单击此处添加标题"/>
  <p:tag name="KSO_WM_TEMPLATE_INDEX" val="20231278"/>
  <p:tag name="KSO_WM_UNIT_ID" val="custom20231278_1*a*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1278_1*i*2"/>
  <p:tag name="KSO_WM_TEMPLATE_CATEGORY" val="custom"/>
  <p:tag name="KSO_WM_TEMPLATE_INDEX" val="20231278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SPECIAL_SOURCE" val="bdnull"/>
  <p:tag name="KSO_WM_TEMPLATE_MASTER_TYPE" val="0"/>
  <p:tag name="KSO_WM_TEMPLATE_COLOR_TYPE" val="0"/>
  <p:tag name="KSO_WM_SLIDE_TYPE" val="text"/>
  <p:tag name="KSO_WM_SLIDE_SUBTYPE" val="picTxt"/>
  <p:tag name="KSO_WM_SLIDE_SIZE" val="965*528"/>
  <p:tag name="KSO_WM_SLIDE_POSITION" val="18*41"/>
  <p:tag name="KSO_WM_SLIDE_LAYOUT" val="a_b_β"/>
  <p:tag name="KSO_WM_SLIDE_LAYOUT_CNT" val="1_1_1"/>
  <p:tag name="KSO_WM_TEMPLATE_INDEX" val="20231278"/>
  <p:tag name="KSO_WM_TEMPLATE_SUBCATEGORY" val="0"/>
  <p:tag name="KSO_WM_SLIDE_INDEX" val="1"/>
  <p:tag name="KSO_WM_TAG_VERSION" val="3.0"/>
  <p:tag name="KSO_WM_SLIDE_ID" val="custom20231278_1"/>
  <p:tag name="KSO_WM_SLIDE_ITEM_CNT" val="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1278_1*i*1"/>
  <p:tag name="KSO_WM_TEMPLATE_CATEGORY" val="custom"/>
  <p:tag name="KSO_WM_TEMPLATE_INDEX" val="20231278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PRESET_TEXT" val="单击此处添加标题"/>
  <p:tag name="KSO_WM_TEMPLATE_INDEX" val="20231278"/>
  <p:tag name="KSO_WM_UNIT_ID" val="custom20231278_1*a*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1278_1*i*2"/>
  <p:tag name="KSO_WM_TEMPLATE_CATEGORY" val="custom"/>
  <p:tag name="KSO_WM_TEMPLATE_INDEX" val="20231278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SPECIAL_SOURCE" val="bdnull"/>
  <p:tag name="KSO_WM_TEMPLATE_MASTER_TYPE" val="0"/>
  <p:tag name="KSO_WM_TEMPLATE_COLOR_TYPE" val="0"/>
  <p:tag name="KSO_WM_SLIDE_TYPE" val="text"/>
  <p:tag name="KSO_WM_SLIDE_SUBTYPE" val="picTxt"/>
  <p:tag name="KSO_WM_SLIDE_SIZE" val="965*528"/>
  <p:tag name="KSO_WM_SLIDE_POSITION" val="18*41"/>
  <p:tag name="KSO_WM_SLIDE_LAYOUT" val="a_b_β"/>
  <p:tag name="KSO_WM_SLIDE_LAYOUT_CNT" val="1_1_1"/>
  <p:tag name="KSO_WM_TEMPLATE_INDEX" val="20231278"/>
  <p:tag name="KSO_WM_TEMPLATE_SUBCATEGORY" val="0"/>
  <p:tag name="KSO_WM_SLIDE_INDEX" val="1"/>
  <p:tag name="KSO_WM_TAG_VERSION" val="3.0"/>
  <p:tag name="KSO_WM_SLIDE_ID" val="custom20231278_1"/>
  <p:tag name="KSO_WM_SLIDE_ITEM_CNT" val="1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1819_7*a*1"/>
  <p:tag name="KSO_WM_TEMPLATE_CATEGORY" val="custom"/>
  <p:tag name="KSO_WM_TEMPLATE_INDEX" val="2023181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添加章节标题"/>
</p:tagLst>
</file>

<file path=ppt/tags/tag77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1819_7*e*1"/>
  <p:tag name="KSO_WM_TEMPLATE_CATEGORY" val="custom"/>
  <p:tag name="KSO_WM_TEMPLATE_INDEX" val="20231819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  <p:tag name="KSO_WM_UNIT_PRESET_TEXT" val="第一章"/>
</p:tagLst>
</file>

<file path=ppt/tags/tag78.xml><?xml version="1.0" encoding="utf-8"?>
<p:tagLst xmlns:p="http://schemas.openxmlformats.org/presentationml/2006/main">
  <p:tag name="KSO_WM_SLIDE_ID" val="custom20231819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1819"/>
  <p:tag name="KSO_WM_SLIDE_TYPE" val="sectionTitle"/>
  <p:tag name="KSO_WM_SLIDE_SUBTYPE" val="pureTxt"/>
  <p:tag name="KSO_WM_SLIDE_LAYOUT" val="a_e"/>
  <p:tag name="KSO_WM_SLIDE_LAYOUT_CNT" val="1_1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1278_1*i*1"/>
  <p:tag name="KSO_WM_TEMPLATE_CATEGORY" val="custom"/>
  <p:tag name="KSO_WM_TEMPLATE_INDEX" val="20231278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PRESET_TEXT" val="单击此处添加标题"/>
  <p:tag name="KSO_WM_TEMPLATE_INDEX" val="20231278"/>
  <p:tag name="KSO_WM_UNIT_ID" val="custom20231278_1*a*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1278_1*i*2"/>
  <p:tag name="KSO_WM_TEMPLATE_CATEGORY" val="custom"/>
  <p:tag name="KSO_WM_TEMPLATE_INDEX" val="20231278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SPECIAL_SOURCE" val="bdnull"/>
  <p:tag name="KSO_WM_TEMPLATE_MASTER_TYPE" val="0"/>
  <p:tag name="KSO_WM_TEMPLATE_COLOR_TYPE" val="0"/>
  <p:tag name="KSO_WM_SLIDE_TYPE" val="text"/>
  <p:tag name="KSO_WM_SLIDE_SUBTYPE" val="picTxt"/>
  <p:tag name="KSO_WM_SLIDE_SIZE" val="965*528"/>
  <p:tag name="KSO_WM_SLIDE_POSITION" val="18*41"/>
  <p:tag name="KSO_WM_SLIDE_LAYOUT" val="a_b_β"/>
  <p:tag name="KSO_WM_SLIDE_LAYOUT_CNT" val="1_1_1"/>
  <p:tag name="KSO_WM_TEMPLATE_INDEX" val="20231278"/>
  <p:tag name="KSO_WM_TEMPLATE_SUBCATEGORY" val="0"/>
  <p:tag name="KSO_WM_SLIDE_INDEX" val="1"/>
  <p:tag name="KSO_WM_TAG_VERSION" val="3.0"/>
  <p:tag name="KSO_WM_SLIDE_ID" val="custom20231278_1"/>
  <p:tag name="KSO_WM_SLIDE_ITEM_CNT" val="1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1278_1*i*1"/>
  <p:tag name="KSO_WM_TEMPLATE_CATEGORY" val="custom"/>
  <p:tag name="KSO_WM_TEMPLATE_INDEX" val="20231278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1278_1*i*2"/>
  <p:tag name="KSO_WM_TEMPLATE_CATEGORY" val="custom"/>
  <p:tag name="KSO_WM_TEMPLATE_INDEX" val="20231278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PRESET_TEXT" val="单击此处添加标题"/>
  <p:tag name="KSO_WM_TEMPLATE_INDEX" val="20231278"/>
  <p:tag name="KSO_WM_UNIT_ID" val="custom20231278_1*a*1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SPECIAL_SOURCE" val="bdnull"/>
  <p:tag name="KSO_WM_TEMPLATE_MASTER_TYPE" val="0"/>
  <p:tag name="KSO_WM_TEMPLATE_COLOR_TYPE" val="0"/>
  <p:tag name="KSO_WM_SLIDE_TYPE" val="text"/>
  <p:tag name="KSO_WM_SLIDE_SUBTYPE" val="picTxt"/>
  <p:tag name="KSO_WM_SLIDE_SIZE" val="965*528"/>
  <p:tag name="KSO_WM_SLIDE_POSITION" val="18*41"/>
  <p:tag name="KSO_WM_SLIDE_LAYOUT" val="a_b_β"/>
  <p:tag name="KSO_WM_SLIDE_LAYOUT_CNT" val="1_1_1"/>
  <p:tag name="KSO_WM_TEMPLATE_INDEX" val="20231278"/>
  <p:tag name="KSO_WM_TEMPLATE_SUBCATEGORY" val="0"/>
  <p:tag name="KSO_WM_SLIDE_INDEX" val="1"/>
  <p:tag name="KSO_WM_TAG_VERSION" val="3.0"/>
  <p:tag name="KSO_WM_SLIDE_ID" val="custom20231278_1"/>
  <p:tag name="KSO_WM_SLIDE_ITEM_CNT" val="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1278_1*i*1"/>
  <p:tag name="KSO_WM_TEMPLATE_CATEGORY" val="custom"/>
  <p:tag name="KSO_WM_TEMPLATE_INDEX" val="20231278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PRESET_TEXT" val="单击此处添加标题"/>
  <p:tag name="KSO_WM_TEMPLATE_INDEX" val="20231278"/>
  <p:tag name="KSO_WM_UNIT_ID" val="custom20231278_1*a*1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1278_1*i*2"/>
  <p:tag name="KSO_WM_TEMPLATE_CATEGORY" val="custom"/>
  <p:tag name="KSO_WM_TEMPLATE_INDEX" val="20231278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SPECIAL_SOURCE" val="bdnull"/>
  <p:tag name="KSO_WM_TEMPLATE_MASTER_TYPE" val="0"/>
  <p:tag name="KSO_WM_TEMPLATE_COLOR_TYPE" val="0"/>
  <p:tag name="KSO_WM_SLIDE_TYPE" val="text"/>
  <p:tag name="KSO_WM_SLIDE_SUBTYPE" val="picTxt"/>
  <p:tag name="KSO_WM_SLIDE_SIZE" val="965*528"/>
  <p:tag name="KSO_WM_SLIDE_POSITION" val="18*41"/>
  <p:tag name="KSO_WM_SLIDE_LAYOUT" val="a_b_β"/>
  <p:tag name="KSO_WM_SLIDE_LAYOUT_CNT" val="1_1_1"/>
  <p:tag name="KSO_WM_TEMPLATE_INDEX" val="20231278"/>
  <p:tag name="KSO_WM_TEMPLATE_SUBCATEGORY" val="0"/>
  <p:tag name="KSO_WM_SLIDE_INDEX" val="1"/>
  <p:tag name="KSO_WM_TAG_VERSION" val="3.0"/>
  <p:tag name="KSO_WM_SLIDE_ID" val="custom20231278_1"/>
  <p:tag name="KSO_WM_SLIDE_ITEM_CNT" val="1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1819_7*a*1"/>
  <p:tag name="KSO_WM_TEMPLATE_CATEGORY" val="custom"/>
  <p:tag name="KSO_WM_TEMPLATE_INDEX" val="2023181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添加章节标题"/>
</p:tagLst>
</file>

<file path=ppt/tags/tag92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1819_7*e*1"/>
  <p:tag name="KSO_WM_TEMPLATE_CATEGORY" val="custom"/>
  <p:tag name="KSO_WM_TEMPLATE_INDEX" val="20231819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  <p:tag name="KSO_WM_UNIT_PRESET_TEXT" val="第一章"/>
</p:tagLst>
</file>

<file path=ppt/tags/tag93.xml><?xml version="1.0" encoding="utf-8"?>
<p:tagLst xmlns:p="http://schemas.openxmlformats.org/presentationml/2006/main">
  <p:tag name="KSO_WM_SLIDE_ID" val="custom20231819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1819"/>
  <p:tag name="KSO_WM_SLIDE_TYPE" val="sectionTitle"/>
  <p:tag name="KSO_WM_SLIDE_SUBTYPE" val="pureTxt"/>
  <p:tag name="KSO_WM_SLIDE_LAYOUT" val="a_e"/>
  <p:tag name="KSO_WM_SLIDE_LAYOUT_CNT" val="1_1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1278_1*i*1"/>
  <p:tag name="KSO_WM_TEMPLATE_CATEGORY" val="custom"/>
  <p:tag name="KSO_WM_TEMPLATE_INDEX" val="20231278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PRESET_TEXT" val="单击此处添加标题"/>
  <p:tag name="KSO_WM_TEMPLATE_INDEX" val="20231278"/>
  <p:tag name="KSO_WM_UNIT_ID" val="custom20231278_1*a*1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1278_1*i*2"/>
  <p:tag name="KSO_WM_TEMPLATE_CATEGORY" val="custom"/>
  <p:tag name="KSO_WM_TEMPLATE_INDEX" val="20231278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BEAUTIFY_FLAG" val="#wm#"/>
  <p:tag name="KSO_WM_TEMPLATE_CATEGORY" val="custom"/>
  <p:tag name="KSO_WM_SPECIAL_SOURCE" val="bdnull"/>
  <p:tag name="KSO_WM_TEMPLATE_MASTER_TYPE" val="0"/>
  <p:tag name="KSO_WM_TEMPLATE_COLOR_TYPE" val="0"/>
  <p:tag name="KSO_WM_SLIDE_TYPE" val="text"/>
  <p:tag name="KSO_WM_SLIDE_SUBTYPE" val="picTxt"/>
  <p:tag name="KSO_WM_SLIDE_SIZE" val="965*528"/>
  <p:tag name="KSO_WM_SLIDE_POSITION" val="18*41"/>
  <p:tag name="KSO_WM_SLIDE_LAYOUT" val="a_b_β"/>
  <p:tag name="KSO_WM_SLIDE_LAYOUT_CNT" val="1_1_1"/>
  <p:tag name="KSO_WM_TEMPLATE_INDEX" val="20231278"/>
  <p:tag name="KSO_WM_TEMPLATE_SUBCATEGORY" val="0"/>
  <p:tag name="KSO_WM_SLIDE_INDEX" val="1"/>
  <p:tag name="KSO_WM_TAG_VERSION" val="3.0"/>
  <p:tag name="KSO_WM_SLIDE_ID" val="custom20231278_1"/>
  <p:tag name="KSO_WM_SLIDE_ITEM_CNT" val="1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1278_1*i*1"/>
  <p:tag name="KSO_WM_TEMPLATE_CATEGORY" val="custom"/>
  <p:tag name="KSO_WM_TEMPLATE_INDEX" val="20231278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PRESET_TEXT" val="单击此处添加标题"/>
  <p:tag name="KSO_WM_TEMPLATE_INDEX" val="20231278"/>
  <p:tag name="KSO_WM_UNIT_ID" val="custom20231278_1*a*1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1278_1*i*2"/>
  <p:tag name="KSO_WM_TEMPLATE_CATEGORY" val="custom"/>
  <p:tag name="KSO_WM_TEMPLATE_INDEX" val="20231278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BEAUTIFY_FLAG" val="#wm#"/>
  <p:tag name="KSO_WM_TEMPLATE_CATEGORY" val="custom"/>
  <p:tag name="KSO_WM_SPECIAL_SOURCE" val="bdnull"/>
  <p:tag name="KSO_WM_TEMPLATE_MASTER_TYPE" val="0"/>
  <p:tag name="KSO_WM_TEMPLATE_COLOR_TYPE" val="0"/>
  <p:tag name="KSO_WM_SLIDE_TYPE" val="text"/>
  <p:tag name="KSO_WM_SLIDE_SUBTYPE" val="picTxt"/>
  <p:tag name="KSO_WM_SLIDE_SIZE" val="965*528"/>
  <p:tag name="KSO_WM_SLIDE_POSITION" val="18*41"/>
  <p:tag name="KSO_WM_SLIDE_LAYOUT" val="a_b_β"/>
  <p:tag name="KSO_WM_SLIDE_LAYOUT_CNT" val="1_1_1"/>
  <p:tag name="KSO_WM_TEMPLATE_INDEX" val="20231278"/>
  <p:tag name="KSO_WM_TEMPLATE_SUBCATEGORY" val="0"/>
  <p:tag name="KSO_WM_SLIDE_INDEX" val="1"/>
  <p:tag name="KSO_WM_TAG_VERSION" val="3.0"/>
  <p:tag name="KSO_WM_SLIDE_ID" val="custom20231278_1"/>
  <p:tag name="KSO_WM_SLIDE_ITEM_CNT" val="1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1278_1*i*1"/>
  <p:tag name="KSO_WM_TEMPLATE_CATEGORY" val="custom"/>
  <p:tag name="KSO_WM_TEMPLATE_INDEX" val="20231278"/>
  <p:tag name="KSO_WM_UNIT_LAYERLEVEL" val="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PRESET_TEXT" val="单击此处添加标题"/>
  <p:tag name="KSO_WM_TEMPLATE_INDEX" val="20231278"/>
  <p:tag name="KSO_WM_UNIT_ID" val="custom20231278_1*a*1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1278_1*i*2"/>
  <p:tag name="KSO_WM_TEMPLATE_CATEGORY" val="custom"/>
  <p:tag name="KSO_WM_TEMPLATE_INDEX" val="20231278"/>
  <p:tag name="KSO_WM_UNIT_LAYERLEVEL" val="1"/>
  <p:tag name="KSO_WM_TAG_VERSION" val="3.0"/>
  <p:tag name="KSO_WM_BEAUTIFY_FLAG" val="#wm#"/>
</p:tagLst>
</file>

<file path=ppt/tags/tag105.xml><?xml version="1.0" encoding="utf-8"?>
<p:tagLst xmlns:p="http://schemas.openxmlformats.org/presentationml/2006/main">
  <p:tag name="KSO_WM_BEAUTIFY_FLAG" val="#wm#"/>
  <p:tag name="KSO_WM_TEMPLATE_CATEGORY" val="custom"/>
  <p:tag name="KSO_WM_SPECIAL_SOURCE" val="bdnull"/>
  <p:tag name="KSO_WM_TEMPLATE_MASTER_TYPE" val="0"/>
  <p:tag name="KSO_WM_TEMPLATE_COLOR_TYPE" val="0"/>
  <p:tag name="KSO_WM_SLIDE_TYPE" val="text"/>
  <p:tag name="KSO_WM_SLIDE_SUBTYPE" val="picTxt"/>
  <p:tag name="KSO_WM_SLIDE_SIZE" val="965*528"/>
  <p:tag name="KSO_WM_SLIDE_POSITION" val="18*41"/>
  <p:tag name="KSO_WM_SLIDE_LAYOUT" val="a_b_β"/>
  <p:tag name="KSO_WM_SLIDE_LAYOUT_CNT" val="1_1_1"/>
  <p:tag name="KSO_WM_TEMPLATE_INDEX" val="20231278"/>
  <p:tag name="KSO_WM_TEMPLATE_SUBCATEGORY" val="0"/>
  <p:tag name="KSO_WM_SLIDE_INDEX" val="1"/>
  <p:tag name="KSO_WM_TAG_VERSION" val="3.0"/>
  <p:tag name="KSO_WM_SLIDE_ID" val="custom20231278_1"/>
  <p:tag name="KSO_WM_SLIDE_ITEM_CNT" val="1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1819_7*a*1"/>
  <p:tag name="KSO_WM_TEMPLATE_CATEGORY" val="custom"/>
  <p:tag name="KSO_WM_TEMPLATE_INDEX" val="2023181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添加章节标题"/>
</p:tagLst>
</file>

<file path=ppt/tags/tag107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1819_7*e*1"/>
  <p:tag name="KSO_WM_TEMPLATE_CATEGORY" val="custom"/>
  <p:tag name="KSO_WM_TEMPLATE_INDEX" val="20231819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  <p:tag name="KSO_WM_UNIT_PRESET_TEXT" val="第一章"/>
</p:tagLst>
</file>

<file path=ppt/tags/tag108.xml><?xml version="1.0" encoding="utf-8"?>
<p:tagLst xmlns:p="http://schemas.openxmlformats.org/presentationml/2006/main">
  <p:tag name="KSO_WM_SLIDE_ID" val="custom20231819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1819"/>
  <p:tag name="KSO_WM_SLIDE_TYPE" val="sectionTitle"/>
  <p:tag name="KSO_WM_SLIDE_SUBTYPE" val="pureTxt"/>
  <p:tag name="KSO_WM_SLIDE_LAYOUT" val="a_e"/>
  <p:tag name="KSO_WM_SLIDE_LAYOUT_CNT" val="1_1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1278_1*i*2"/>
  <p:tag name="KSO_WM_TEMPLATE_CATEGORY" val="custom"/>
  <p:tag name="KSO_WM_TEMPLATE_INDEX" val="20231278"/>
  <p:tag name="KSO_WM_UNIT_LAYERLEVEL" val="1"/>
  <p:tag name="KSO_WM_TAG_VERSION" val="3.0"/>
  <p:tag name="KSO_WM_BEAUTIFY_FLAG" val="#wm#"/>
</p:tagLst>
</file>

<file path=ppt/tags/tag11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PRESET_TEXT" val="单击此处添加标题"/>
  <p:tag name="KSO_WM_TEMPLATE_INDEX" val="20231278"/>
  <p:tag name="KSO_WM_UNIT_ID" val="custom20231278_1*a*1"/>
</p:tagLst>
</file>

<file path=ppt/tags/tag111.xml><?xml version="1.0" encoding="utf-8"?>
<p:tagLst xmlns:p="http://schemas.openxmlformats.org/presentationml/2006/main">
  <p:tag name="KSO_WM_BEAUTIFY_FLAG" val="#wm#"/>
  <p:tag name="KSO_WM_TEMPLATE_CATEGORY" val="custom"/>
  <p:tag name="KSO_WM_SPECIAL_SOURCE" val="bdnull"/>
  <p:tag name="KSO_WM_TEMPLATE_MASTER_TYPE" val="0"/>
  <p:tag name="KSO_WM_TEMPLATE_COLOR_TYPE" val="0"/>
  <p:tag name="KSO_WM_SLIDE_TYPE" val="text"/>
  <p:tag name="KSO_WM_SLIDE_SUBTYPE" val="picTxt"/>
  <p:tag name="KSO_WM_SLIDE_SIZE" val="965*528"/>
  <p:tag name="KSO_WM_SLIDE_POSITION" val="18*41"/>
  <p:tag name="KSO_WM_SLIDE_LAYOUT" val="a_b_β"/>
  <p:tag name="KSO_WM_SLIDE_LAYOUT_CNT" val="1_1_1"/>
  <p:tag name="KSO_WM_TEMPLATE_INDEX" val="20231278"/>
  <p:tag name="KSO_WM_TEMPLATE_SUBCATEGORY" val="0"/>
  <p:tag name="KSO_WM_SLIDE_INDEX" val="1"/>
  <p:tag name="KSO_WM_TAG_VERSION" val="3.0"/>
  <p:tag name="KSO_WM_SLIDE_ID" val="custom20231278_1"/>
  <p:tag name="KSO_WM_SLIDE_ITEM_CNT" val="1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1278_1*i*1"/>
  <p:tag name="KSO_WM_TEMPLATE_CATEGORY" val="custom"/>
  <p:tag name="KSO_WM_TEMPLATE_INDEX" val="20231278"/>
  <p:tag name="KSO_WM_UNIT_LAYERLEVEL" val="1"/>
  <p:tag name="KSO_WM_TAG_VERSION" val="3.0"/>
  <p:tag name="KSO_WM_BEAUTIFY_FLAG" val="#wm#"/>
</p:tagLst>
</file>

<file path=ppt/tags/tag11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PRESET_TEXT" val="单击此处添加标题"/>
  <p:tag name="KSO_WM_TEMPLATE_INDEX" val="20231278"/>
  <p:tag name="KSO_WM_UNIT_ID" val="custom20231278_1*a*1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1278_1*i*2"/>
  <p:tag name="KSO_WM_TEMPLATE_CATEGORY" val="custom"/>
  <p:tag name="KSO_WM_TEMPLATE_INDEX" val="20231278"/>
  <p:tag name="KSO_WM_UNIT_LAYERLEVEL" val="1"/>
  <p:tag name="KSO_WM_TAG_VERSION" val="3.0"/>
  <p:tag name="KSO_WM_BEAUTIFY_FLAG" val="#wm#"/>
</p:tagLst>
</file>

<file path=ppt/tags/tag115.xml><?xml version="1.0" encoding="utf-8"?>
<p:tagLst xmlns:p="http://schemas.openxmlformats.org/presentationml/2006/main">
  <p:tag name="KSO_WM_BEAUTIFY_FLAG" val="#wm#"/>
  <p:tag name="KSO_WM_TEMPLATE_CATEGORY" val="custom"/>
  <p:tag name="KSO_WM_SPECIAL_SOURCE" val="bdnull"/>
  <p:tag name="KSO_WM_TEMPLATE_MASTER_TYPE" val="0"/>
  <p:tag name="KSO_WM_TEMPLATE_COLOR_TYPE" val="0"/>
  <p:tag name="KSO_WM_SLIDE_TYPE" val="text"/>
  <p:tag name="KSO_WM_SLIDE_SUBTYPE" val="picTxt"/>
  <p:tag name="KSO_WM_SLIDE_SIZE" val="965*528"/>
  <p:tag name="KSO_WM_SLIDE_POSITION" val="18*41"/>
  <p:tag name="KSO_WM_SLIDE_LAYOUT" val="a_b_β"/>
  <p:tag name="KSO_WM_SLIDE_LAYOUT_CNT" val="1_1_1"/>
  <p:tag name="KSO_WM_TEMPLATE_INDEX" val="20231278"/>
  <p:tag name="KSO_WM_TEMPLATE_SUBCATEGORY" val="0"/>
  <p:tag name="KSO_WM_SLIDE_INDEX" val="1"/>
  <p:tag name="KSO_WM_TAG_VERSION" val="3.0"/>
  <p:tag name="KSO_WM_SLIDE_ID" val="custom20231278_1"/>
  <p:tag name="KSO_WM_SLIDE_ITEM_CNT" val="1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1278_1*i*1"/>
  <p:tag name="KSO_WM_TEMPLATE_CATEGORY" val="custom"/>
  <p:tag name="KSO_WM_TEMPLATE_INDEX" val="20231278"/>
  <p:tag name="KSO_WM_UNIT_LAYERLEVEL" val="1"/>
  <p:tag name="KSO_WM_TAG_VERSION" val="3.0"/>
  <p:tag name="KSO_WM_BEAUTIFY_FLAG" val="#wm#"/>
</p:tagLst>
</file>

<file path=ppt/tags/tag11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PRESET_TEXT" val="单击此处添加标题"/>
  <p:tag name="KSO_WM_TEMPLATE_INDEX" val="20231278"/>
  <p:tag name="KSO_WM_UNIT_ID" val="custom20231278_1*a*1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1278_1*i*2"/>
  <p:tag name="KSO_WM_TEMPLATE_CATEGORY" val="custom"/>
  <p:tag name="KSO_WM_TEMPLATE_INDEX" val="20231278"/>
  <p:tag name="KSO_WM_UNIT_LAYERLEVEL" val="1"/>
  <p:tag name="KSO_WM_TAG_VERSION" val="3.0"/>
  <p:tag name="KSO_WM_BEAUTIFY_FLAG" val="#wm#"/>
</p:tagLst>
</file>

<file path=ppt/tags/tag119.xml><?xml version="1.0" encoding="utf-8"?>
<p:tagLst xmlns:p="http://schemas.openxmlformats.org/presentationml/2006/main">
  <p:tag name="KSO_WM_BEAUTIFY_FLAG" val="#wm#"/>
  <p:tag name="KSO_WM_TEMPLATE_CATEGORY" val="custom"/>
  <p:tag name="KSO_WM_SPECIAL_SOURCE" val="bdnull"/>
  <p:tag name="KSO_WM_TEMPLATE_MASTER_TYPE" val="0"/>
  <p:tag name="KSO_WM_TEMPLATE_COLOR_TYPE" val="0"/>
  <p:tag name="KSO_WM_SLIDE_TYPE" val="text"/>
  <p:tag name="KSO_WM_SLIDE_SUBTYPE" val="picTxt"/>
  <p:tag name="KSO_WM_SLIDE_SIZE" val="965*528"/>
  <p:tag name="KSO_WM_SLIDE_POSITION" val="18*41"/>
  <p:tag name="KSO_WM_SLIDE_LAYOUT" val="a_b_β"/>
  <p:tag name="KSO_WM_SLIDE_LAYOUT_CNT" val="1_1_1"/>
  <p:tag name="KSO_WM_TEMPLATE_INDEX" val="20231278"/>
  <p:tag name="KSO_WM_TEMPLATE_SUBCATEGORY" val="0"/>
  <p:tag name="KSO_WM_SLIDE_INDEX" val="1"/>
  <p:tag name="KSO_WM_TAG_VERSION" val="3.0"/>
  <p:tag name="KSO_WM_SLIDE_ID" val="custom20231278_1"/>
  <p:tag name="KSO_WM_SLIDE_ITEM_CNT" val="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1278_1*i*1"/>
  <p:tag name="KSO_WM_TEMPLATE_CATEGORY" val="custom"/>
  <p:tag name="KSO_WM_TEMPLATE_INDEX" val="20231278"/>
  <p:tag name="KSO_WM_UNIT_LAYERLEVEL" val="1"/>
  <p:tag name="KSO_WM_TAG_VERSION" val="3.0"/>
  <p:tag name="KSO_WM_BEAUTIFY_FLAG" val="#wm#"/>
</p:tagLst>
</file>

<file path=ppt/tags/tag12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PRESET_TEXT" val="单击此处添加标题"/>
  <p:tag name="KSO_WM_TEMPLATE_INDEX" val="20231278"/>
  <p:tag name="KSO_WM_UNIT_ID" val="custom20231278_1*a*1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1278_1*i*2"/>
  <p:tag name="KSO_WM_TEMPLATE_CATEGORY" val="custom"/>
  <p:tag name="KSO_WM_TEMPLATE_INDEX" val="20231278"/>
  <p:tag name="KSO_WM_UNIT_LAYERLEVEL" val="1"/>
  <p:tag name="KSO_WM_TAG_VERSION" val="3.0"/>
  <p:tag name="KSO_WM_BEAUTIFY_FLAG" val="#wm#"/>
</p:tagLst>
</file>

<file path=ppt/tags/tag123.xml><?xml version="1.0" encoding="utf-8"?>
<p:tagLst xmlns:p="http://schemas.openxmlformats.org/presentationml/2006/main">
  <p:tag name="KSO_WM_BEAUTIFY_FLAG" val="#wm#"/>
  <p:tag name="KSO_WM_TEMPLATE_CATEGORY" val="custom"/>
  <p:tag name="KSO_WM_SPECIAL_SOURCE" val="bdnull"/>
  <p:tag name="KSO_WM_TEMPLATE_MASTER_TYPE" val="0"/>
  <p:tag name="KSO_WM_TEMPLATE_COLOR_TYPE" val="0"/>
  <p:tag name="KSO_WM_SLIDE_TYPE" val="text"/>
  <p:tag name="KSO_WM_SLIDE_SUBTYPE" val="picTxt"/>
  <p:tag name="KSO_WM_SLIDE_SIZE" val="965*528"/>
  <p:tag name="KSO_WM_SLIDE_POSITION" val="18*41"/>
  <p:tag name="KSO_WM_SLIDE_LAYOUT" val="a_b_β"/>
  <p:tag name="KSO_WM_SLIDE_LAYOUT_CNT" val="1_1_1"/>
  <p:tag name="KSO_WM_TEMPLATE_INDEX" val="20231278"/>
  <p:tag name="KSO_WM_TEMPLATE_SUBCATEGORY" val="0"/>
  <p:tag name="KSO_WM_SLIDE_INDEX" val="1"/>
  <p:tag name="KSO_WM_TAG_VERSION" val="3.0"/>
  <p:tag name="KSO_WM_SLIDE_ID" val="custom20231278_1"/>
  <p:tag name="KSO_WM_SLIDE_ITEM_CNT" val="1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1278_1*i*1"/>
  <p:tag name="KSO_WM_TEMPLATE_CATEGORY" val="custom"/>
  <p:tag name="KSO_WM_TEMPLATE_INDEX" val="20231278"/>
  <p:tag name="KSO_WM_UNIT_LAYERLEVEL" val="1"/>
  <p:tag name="KSO_WM_TAG_VERSION" val="3.0"/>
  <p:tag name="KSO_WM_BEAUTIFY_FLAG" val="#wm#"/>
</p:tagLst>
</file>

<file path=ppt/tags/tag12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PRESET_TEXT" val="单击此处添加标题"/>
  <p:tag name="KSO_WM_TEMPLATE_INDEX" val="20231278"/>
  <p:tag name="KSO_WM_UNIT_ID" val="custom20231278_1*a*1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1278_1*i*2"/>
  <p:tag name="KSO_WM_TEMPLATE_CATEGORY" val="custom"/>
  <p:tag name="KSO_WM_TEMPLATE_INDEX" val="20231278"/>
  <p:tag name="KSO_WM_UNIT_LAYERLEVEL" val="1"/>
  <p:tag name="KSO_WM_TAG_VERSION" val="3.0"/>
  <p:tag name="KSO_WM_BEAUTIFY_FLAG" val="#wm#"/>
</p:tagLst>
</file>

<file path=ppt/tags/tag127.xml><?xml version="1.0" encoding="utf-8"?>
<p:tagLst xmlns:p="http://schemas.openxmlformats.org/presentationml/2006/main">
  <p:tag name="KSO_WM_BEAUTIFY_FLAG" val="#wm#"/>
  <p:tag name="KSO_WM_TEMPLATE_CATEGORY" val="custom"/>
  <p:tag name="KSO_WM_SPECIAL_SOURCE" val="bdnull"/>
  <p:tag name="KSO_WM_TEMPLATE_MASTER_TYPE" val="0"/>
  <p:tag name="KSO_WM_TEMPLATE_COLOR_TYPE" val="0"/>
  <p:tag name="KSO_WM_SLIDE_TYPE" val="text"/>
  <p:tag name="KSO_WM_SLIDE_SUBTYPE" val="picTxt"/>
  <p:tag name="KSO_WM_SLIDE_SIZE" val="965*528"/>
  <p:tag name="KSO_WM_SLIDE_POSITION" val="18*41"/>
  <p:tag name="KSO_WM_SLIDE_LAYOUT" val="a_b_β"/>
  <p:tag name="KSO_WM_SLIDE_LAYOUT_CNT" val="1_1_1"/>
  <p:tag name="KSO_WM_TEMPLATE_INDEX" val="20231278"/>
  <p:tag name="KSO_WM_TEMPLATE_SUBCATEGORY" val="0"/>
  <p:tag name="KSO_WM_SLIDE_INDEX" val="1"/>
  <p:tag name="KSO_WM_TAG_VERSION" val="3.0"/>
  <p:tag name="KSO_WM_SLIDE_ID" val="custom20231278_1"/>
  <p:tag name="KSO_WM_SLIDE_ITEM_CNT" val="1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1278_1*i*1"/>
  <p:tag name="KSO_WM_TEMPLATE_CATEGORY" val="custom"/>
  <p:tag name="KSO_WM_TEMPLATE_INDEX" val="20231278"/>
  <p:tag name="KSO_WM_UNIT_LAYERLEVEL" val="1"/>
  <p:tag name="KSO_WM_TAG_VERSION" val="3.0"/>
  <p:tag name="KSO_WM_BEAUTIFY_FLAG" val="#wm#"/>
</p:tagLst>
</file>

<file path=ppt/tags/tag12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PRESET_TEXT" val="单击此处添加标题"/>
  <p:tag name="KSO_WM_TEMPLATE_INDEX" val="20231278"/>
  <p:tag name="KSO_WM_UNIT_ID" val="custom20231278_1*a*1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1278_1*i*2"/>
  <p:tag name="KSO_WM_TEMPLATE_CATEGORY" val="custom"/>
  <p:tag name="KSO_WM_TEMPLATE_INDEX" val="20231278"/>
  <p:tag name="KSO_WM_UNIT_LAYERLEVEL" val="1"/>
  <p:tag name="KSO_WM_TAG_VERSION" val="3.0"/>
  <p:tag name="KSO_WM_BEAUTIFY_FLAG" val="#wm#"/>
</p:tagLst>
</file>

<file path=ppt/tags/tag131.xml><?xml version="1.0" encoding="utf-8"?>
<p:tagLst xmlns:p="http://schemas.openxmlformats.org/presentationml/2006/main">
  <p:tag name="KSO_WM_BEAUTIFY_FLAG" val="#wm#"/>
  <p:tag name="KSO_WM_TEMPLATE_CATEGORY" val="custom"/>
  <p:tag name="KSO_WM_SPECIAL_SOURCE" val="bdnull"/>
  <p:tag name="KSO_WM_TEMPLATE_MASTER_TYPE" val="0"/>
  <p:tag name="KSO_WM_TEMPLATE_COLOR_TYPE" val="0"/>
  <p:tag name="KSO_WM_SLIDE_TYPE" val="text"/>
  <p:tag name="KSO_WM_SLIDE_SUBTYPE" val="picTxt"/>
  <p:tag name="KSO_WM_SLIDE_SIZE" val="965*528"/>
  <p:tag name="KSO_WM_SLIDE_POSITION" val="18*41"/>
  <p:tag name="KSO_WM_SLIDE_LAYOUT" val="a_b_β"/>
  <p:tag name="KSO_WM_SLIDE_LAYOUT_CNT" val="1_1_1"/>
  <p:tag name="KSO_WM_TEMPLATE_INDEX" val="20231278"/>
  <p:tag name="KSO_WM_TEMPLATE_SUBCATEGORY" val="0"/>
  <p:tag name="KSO_WM_SLIDE_INDEX" val="1"/>
  <p:tag name="KSO_WM_TAG_VERSION" val="3.0"/>
  <p:tag name="KSO_WM_SLIDE_ID" val="custom20231278_1"/>
  <p:tag name="KSO_WM_SLIDE_ITEM_CNT" val="1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1278_1*i*1"/>
  <p:tag name="KSO_WM_TEMPLATE_CATEGORY" val="custom"/>
  <p:tag name="KSO_WM_TEMPLATE_INDEX" val="20231278"/>
  <p:tag name="KSO_WM_UNIT_LAYERLEVEL" val="1"/>
  <p:tag name="KSO_WM_TAG_VERSION" val="3.0"/>
  <p:tag name="KSO_WM_BEAUTIFY_FLAG" val="#wm#"/>
</p:tagLst>
</file>

<file path=ppt/tags/tag13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PRESET_TEXT" val="单击此处添加标题"/>
  <p:tag name="KSO_WM_TEMPLATE_INDEX" val="20231278"/>
  <p:tag name="KSO_WM_UNIT_ID" val="custom20231278_1*a*1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1278_1*i*2"/>
  <p:tag name="KSO_WM_TEMPLATE_CATEGORY" val="custom"/>
  <p:tag name="KSO_WM_TEMPLATE_INDEX" val="20231278"/>
  <p:tag name="KSO_WM_UNIT_LAYERLEVEL" val="1"/>
  <p:tag name="KSO_WM_TAG_VERSION" val="3.0"/>
  <p:tag name="KSO_WM_BEAUTIFY_FLAG" val="#wm#"/>
</p:tagLst>
</file>

<file path=ppt/tags/tag135.xml><?xml version="1.0" encoding="utf-8"?>
<p:tagLst xmlns:p="http://schemas.openxmlformats.org/presentationml/2006/main">
  <p:tag name="KSO_WM_BEAUTIFY_FLAG" val="#wm#"/>
  <p:tag name="KSO_WM_TEMPLATE_CATEGORY" val="custom"/>
  <p:tag name="KSO_WM_SPECIAL_SOURCE" val="bdnull"/>
  <p:tag name="KSO_WM_TEMPLATE_MASTER_TYPE" val="0"/>
  <p:tag name="KSO_WM_TEMPLATE_COLOR_TYPE" val="0"/>
  <p:tag name="KSO_WM_SLIDE_TYPE" val="text"/>
  <p:tag name="KSO_WM_SLIDE_SUBTYPE" val="picTxt"/>
  <p:tag name="KSO_WM_SLIDE_SIZE" val="965*528"/>
  <p:tag name="KSO_WM_SLIDE_POSITION" val="18*41"/>
  <p:tag name="KSO_WM_SLIDE_LAYOUT" val="a_b_β"/>
  <p:tag name="KSO_WM_SLIDE_LAYOUT_CNT" val="1_1_1"/>
  <p:tag name="KSO_WM_TEMPLATE_INDEX" val="20231278"/>
  <p:tag name="KSO_WM_TEMPLATE_SUBCATEGORY" val="0"/>
  <p:tag name="KSO_WM_SLIDE_INDEX" val="1"/>
  <p:tag name="KSO_WM_TAG_VERSION" val="3.0"/>
  <p:tag name="KSO_WM_SLIDE_ID" val="custom20231278_1"/>
  <p:tag name="KSO_WM_SLIDE_ITEM_CNT" val="1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1278_1*i*1"/>
  <p:tag name="KSO_WM_TEMPLATE_CATEGORY" val="custom"/>
  <p:tag name="KSO_WM_TEMPLATE_INDEX" val="20231278"/>
  <p:tag name="KSO_WM_UNIT_LAYERLEVEL" val="1"/>
  <p:tag name="KSO_WM_TAG_VERSION" val="3.0"/>
  <p:tag name="KSO_WM_BEAUTIFY_FLAG" val="#wm#"/>
</p:tagLst>
</file>

<file path=ppt/tags/tag13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PRESET_TEXT" val="单击此处添加标题"/>
  <p:tag name="KSO_WM_TEMPLATE_INDEX" val="20231278"/>
  <p:tag name="KSO_WM_UNIT_ID" val="custom20231278_1*a*1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1278_1*i*2"/>
  <p:tag name="KSO_WM_TEMPLATE_CATEGORY" val="custom"/>
  <p:tag name="KSO_WM_TEMPLATE_INDEX" val="20231278"/>
  <p:tag name="KSO_WM_UNIT_LAYERLEVEL" val="1"/>
  <p:tag name="KSO_WM_TAG_VERSION" val="3.0"/>
  <p:tag name="KSO_WM_BEAUTIFY_FLAG" val="#wm#"/>
</p:tagLst>
</file>

<file path=ppt/tags/tag139.xml><?xml version="1.0" encoding="utf-8"?>
<p:tagLst xmlns:p="http://schemas.openxmlformats.org/presentationml/2006/main">
  <p:tag name="KSO_WM_BEAUTIFY_FLAG" val="#wm#"/>
  <p:tag name="KSO_WM_TEMPLATE_CATEGORY" val="custom"/>
  <p:tag name="KSO_WM_SPECIAL_SOURCE" val="bdnull"/>
  <p:tag name="KSO_WM_TEMPLATE_MASTER_TYPE" val="0"/>
  <p:tag name="KSO_WM_TEMPLATE_COLOR_TYPE" val="0"/>
  <p:tag name="KSO_WM_SLIDE_TYPE" val="text"/>
  <p:tag name="KSO_WM_SLIDE_SUBTYPE" val="picTxt"/>
  <p:tag name="KSO_WM_SLIDE_SIZE" val="965*528"/>
  <p:tag name="KSO_WM_SLIDE_POSITION" val="18*41"/>
  <p:tag name="KSO_WM_SLIDE_LAYOUT" val="a_b_β"/>
  <p:tag name="KSO_WM_SLIDE_LAYOUT_CNT" val="1_1_1"/>
  <p:tag name="KSO_WM_TEMPLATE_INDEX" val="20231278"/>
  <p:tag name="KSO_WM_TEMPLATE_SUBCATEGORY" val="0"/>
  <p:tag name="KSO_WM_SLIDE_INDEX" val="1"/>
  <p:tag name="KSO_WM_TAG_VERSION" val="3.0"/>
  <p:tag name="KSO_WM_SLIDE_ID" val="custom20231278_1"/>
  <p:tag name="KSO_WM_SLIDE_ITEM_CNT" val="1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1278_1*i*1"/>
  <p:tag name="KSO_WM_TEMPLATE_CATEGORY" val="custom"/>
  <p:tag name="KSO_WM_TEMPLATE_INDEX" val="20231278"/>
  <p:tag name="KSO_WM_UNIT_LAYERLEVEL" val="1"/>
  <p:tag name="KSO_WM_TAG_VERSION" val="3.0"/>
  <p:tag name="KSO_WM_BEAUTIFY_FLAG" val="#wm#"/>
</p:tagLst>
</file>

<file path=ppt/tags/tag14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PRESET_TEXT" val="单击此处添加标题"/>
  <p:tag name="KSO_WM_TEMPLATE_INDEX" val="20231278"/>
  <p:tag name="KSO_WM_UNIT_ID" val="custom20231278_1*a*1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1278_1*i*2"/>
  <p:tag name="KSO_WM_TEMPLATE_CATEGORY" val="custom"/>
  <p:tag name="KSO_WM_TEMPLATE_INDEX" val="20231278"/>
  <p:tag name="KSO_WM_UNIT_LAYERLEVEL" val="1"/>
  <p:tag name="KSO_WM_TAG_VERSION" val="3.0"/>
  <p:tag name="KSO_WM_BEAUTIFY_FLAG" val="#wm#"/>
</p:tagLst>
</file>

<file path=ppt/tags/tag143.xml><?xml version="1.0" encoding="utf-8"?>
<p:tagLst xmlns:p="http://schemas.openxmlformats.org/presentationml/2006/main">
  <p:tag name="KSO_WM_BEAUTIFY_FLAG" val="#wm#"/>
  <p:tag name="KSO_WM_TEMPLATE_CATEGORY" val="custom"/>
  <p:tag name="KSO_WM_SPECIAL_SOURCE" val="bdnull"/>
  <p:tag name="KSO_WM_TEMPLATE_MASTER_TYPE" val="0"/>
  <p:tag name="KSO_WM_TEMPLATE_COLOR_TYPE" val="0"/>
  <p:tag name="KSO_WM_SLIDE_TYPE" val="text"/>
  <p:tag name="KSO_WM_SLIDE_SUBTYPE" val="picTxt"/>
  <p:tag name="KSO_WM_SLIDE_SIZE" val="965*528"/>
  <p:tag name="KSO_WM_SLIDE_POSITION" val="18*41"/>
  <p:tag name="KSO_WM_SLIDE_LAYOUT" val="a_b_β"/>
  <p:tag name="KSO_WM_SLIDE_LAYOUT_CNT" val="1_1_1"/>
  <p:tag name="KSO_WM_TEMPLATE_INDEX" val="20231278"/>
  <p:tag name="KSO_WM_TEMPLATE_SUBCATEGORY" val="0"/>
  <p:tag name="KSO_WM_SLIDE_INDEX" val="1"/>
  <p:tag name="KSO_WM_TAG_VERSION" val="3.0"/>
  <p:tag name="KSO_WM_SLIDE_ID" val="custom20231278_1"/>
  <p:tag name="KSO_WM_SLIDE_ITEM_CNT" val="1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1819_7*a*1"/>
  <p:tag name="KSO_WM_TEMPLATE_CATEGORY" val="custom"/>
  <p:tag name="KSO_WM_TEMPLATE_INDEX" val="2023181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添加章节标题"/>
</p:tagLst>
</file>

<file path=ppt/tags/tag145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1819_7*e*1"/>
  <p:tag name="KSO_WM_TEMPLATE_CATEGORY" val="custom"/>
  <p:tag name="KSO_WM_TEMPLATE_INDEX" val="20231819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  <p:tag name="KSO_WM_UNIT_PRESET_TEXT" val="第一章"/>
</p:tagLst>
</file>

<file path=ppt/tags/tag146.xml><?xml version="1.0" encoding="utf-8"?>
<p:tagLst xmlns:p="http://schemas.openxmlformats.org/presentationml/2006/main">
  <p:tag name="KSO_WM_SLIDE_ID" val="custom20231819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1819"/>
  <p:tag name="KSO_WM_SLIDE_TYPE" val="sectionTitle"/>
  <p:tag name="KSO_WM_SLIDE_SUBTYPE" val="pureTxt"/>
  <p:tag name="KSO_WM_SLIDE_LAYOUT" val="a_e"/>
  <p:tag name="KSO_WM_SLIDE_LAYOUT_CNT" val="1_1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1278_1*i*1"/>
  <p:tag name="KSO_WM_TEMPLATE_CATEGORY" val="custom"/>
  <p:tag name="KSO_WM_TEMPLATE_INDEX" val="20231278"/>
  <p:tag name="KSO_WM_UNIT_LAYERLEVEL" val="1"/>
  <p:tag name="KSO_WM_TAG_VERSION" val="3.0"/>
  <p:tag name="KSO_WM_BEAUTIFY_FLAG" val="#wm#"/>
</p:tagLst>
</file>

<file path=ppt/tags/tag14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PRESET_TEXT" val="单击此处添加标题"/>
  <p:tag name="KSO_WM_TEMPLATE_INDEX" val="20231278"/>
  <p:tag name="KSO_WM_UNIT_ID" val="custom20231278_1*a*1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1278_1*i*2"/>
  <p:tag name="KSO_WM_TEMPLATE_CATEGORY" val="custom"/>
  <p:tag name="KSO_WM_TEMPLATE_INDEX" val="20231278"/>
  <p:tag name="KSO_WM_UNIT_LAYERLEVEL" val="1"/>
  <p:tag name="KSO_WM_TAG_VERSION" val="3.0"/>
  <p:tag name="KSO_WM_BEAUTIFY_FLAG" val="#wm#"/>
</p:tagLst>
</file>

<file path=ppt/tags/tag150.xml><?xml version="1.0" encoding="utf-8"?>
<p:tagLst xmlns:p="http://schemas.openxmlformats.org/presentationml/2006/main">
  <p:tag name="KSO_WM_BEAUTIFY_FLAG" val="#wm#"/>
  <p:tag name="KSO_WM_TEMPLATE_CATEGORY" val="custom"/>
  <p:tag name="KSO_WM_SPECIAL_SOURCE" val="bdnull"/>
  <p:tag name="KSO_WM_TEMPLATE_MASTER_TYPE" val="0"/>
  <p:tag name="KSO_WM_TEMPLATE_COLOR_TYPE" val="0"/>
  <p:tag name="KSO_WM_SLIDE_TYPE" val="text"/>
  <p:tag name="KSO_WM_SLIDE_SUBTYPE" val="picTxt"/>
  <p:tag name="KSO_WM_SLIDE_SIZE" val="965*528"/>
  <p:tag name="KSO_WM_SLIDE_POSITION" val="18*41"/>
  <p:tag name="KSO_WM_SLIDE_LAYOUT" val="a_b_β"/>
  <p:tag name="KSO_WM_SLIDE_LAYOUT_CNT" val="1_1_1"/>
  <p:tag name="KSO_WM_TEMPLATE_INDEX" val="20231278"/>
  <p:tag name="KSO_WM_TEMPLATE_SUBCATEGORY" val="0"/>
  <p:tag name="KSO_WM_SLIDE_INDEX" val="1"/>
  <p:tag name="KSO_WM_TAG_VERSION" val="3.0"/>
  <p:tag name="KSO_WM_SLIDE_ID" val="custom20231278_1"/>
  <p:tag name="KSO_WM_SLIDE_ITEM_CNT" val="1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1278_1*i*1"/>
  <p:tag name="KSO_WM_TEMPLATE_CATEGORY" val="custom"/>
  <p:tag name="KSO_WM_TEMPLATE_INDEX" val="20231278"/>
  <p:tag name="KSO_WM_UNIT_LAYERLEVEL" val="1"/>
  <p:tag name="KSO_WM_TAG_VERSION" val="3.0"/>
  <p:tag name="KSO_WM_BEAUTIFY_FLAG" val="#wm#"/>
</p:tagLst>
</file>

<file path=ppt/tags/tag15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PRESET_TEXT" val="单击此处添加标题"/>
  <p:tag name="KSO_WM_TEMPLATE_INDEX" val="20231278"/>
  <p:tag name="KSO_WM_UNIT_ID" val="custom20231278_1*a*1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1278_1*i*2"/>
  <p:tag name="KSO_WM_TEMPLATE_CATEGORY" val="custom"/>
  <p:tag name="KSO_WM_TEMPLATE_INDEX" val="20231278"/>
  <p:tag name="KSO_WM_UNIT_LAYERLEVEL" val="1"/>
  <p:tag name="KSO_WM_TAG_VERSION" val="3.0"/>
  <p:tag name="KSO_WM_BEAUTIFY_FLAG" val="#wm#"/>
</p:tagLst>
</file>

<file path=ppt/tags/tag154.xml><?xml version="1.0" encoding="utf-8"?>
<p:tagLst xmlns:p="http://schemas.openxmlformats.org/presentationml/2006/main">
  <p:tag name="KSO_WM_BEAUTIFY_FLAG" val="#wm#"/>
  <p:tag name="KSO_WM_TEMPLATE_CATEGORY" val="custom"/>
  <p:tag name="KSO_WM_SPECIAL_SOURCE" val="bdnull"/>
  <p:tag name="KSO_WM_TEMPLATE_MASTER_TYPE" val="0"/>
  <p:tag name="KSO_WM_TEMPLATE_COLOR_TYPE" val="0"/>
  <p:tag name="KSO_WM_SLIDE_TYPE" val="text"/>
  <p:tag name="KSO_WM_SLIDE_SUBTYPE" val="picTxt"/>
  <p:tag name="KSO_WM_SLIDE_SIZE" val="965*528"/>
  <p:tag name="KSO_WM_SLIDE_POSITION" val="18*41"/>
  <p:tag name="KSO_WM_SLIDE_LAYOUT" val="a_b_β"/>
  <p:tag name="KSO_WM_SLIDE_LAYOUT_CNT" val="1_1_1"/>
  <p:tag name="KSO_WM_TEMPLATE_INDEX" val="20231278"/>
  <p:tag name="KSO_WM_TEMPLATE_SUBCATEGORY" val="0"/>
  <p:tag name="KSO_WM_SLIDE_INDEX" val="1"/>
  <p:tag name="KSO_WM_TAG_VERSION" val="3.0"/>
  <p:tag name="KSO_WM_SLIDE_ID" val="custom20231278_1"/>
  <p:tag name="KSO_WM_SLIDE_ITEM_CNT" val="1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1278_1*i*1"/>
  <p:tag name="KSO_WM_TEMPLATE_CATEGORY" val="custom"/>
  <p:tag name="KSO_WM_TEMPLATE_INDEX" val="20231278"/>
  <p:tag name="KSO_WM_UNIT_LAYERLEVEL" val="1"/>
  <p:tag name="KSO_WM_TAG_VERSION" val="3.0"/>
  <p:tag name="KSO_WM_BEAUTIFY_FLAG" val="#wm#"/>
</p:tagLst>
</file>

<file path=ppt/tags/tag15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PRESET_TEXT" val="单击此处添加标题"/>
  <p:tag name="KSO_WM_TEMPLATE_INDEX" val="20231278"/>
  <p:tag name="KSO_WM_UNIT_ID" val="custom20231278_1*a*1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1278_1*i*2"/>
  <p:tag name="KSO_WM_TEMPLATE_CATEGORY" val="custom"/>
  <p:tag name="KSO_WM_TEMPLATE_INDEX" val="20231278"/>
  <p:tag name="KSO_WM_UNIT_LAYERLEVEL" val="1"/>
  <p:tag name="KSO_WM_TAG_VERSION" val="3.0"/>
  <p:tag name="KSO_WM_BEAUTIFY_FLAG" val="#wm#"/>
</p:tagLst>
</file>

<file path=ppt/tags/tag158.xml><?xml version="1.0" encoding="utf-8"?>
<p:tagLst xmlns:p="http://schemas.openxmlformats.org/presentationml/2006/main">
  <p:tag name="KSO_WM_BEAUTIFY_FLAG" val="#wm#"/>
  <p:tag name="KSO_WM_TEMPLATE_CATEGORY" val="custom"/>
  <p:tag name="KSO_WM_SPECIAL_SOURCE" val="bdnull"/>
  <p:tag name="KSO_WM_TEMPLATE_MASTER_TYPE" val="0"/>
  <p:tag name="KSO_WM_TEMPLATE_COLOR_TYPE" val="0"/>
  <p:tag name="KSO_WM_SLIDE_TYPE" val="text"/>
  <p:tag name="KSO_WM_SLIDE_SUBTYPE" val="picTxt"/>
  <p:tag name="KSO_WM_SLIDE_SIZE" val="965*528"/>
  <p:tag name="KSO_WM_SLIDE_POSITION" val="18*41"/>
  <p:tag name="KSO_WM_SLIDE_LAYOUT" val="a_b_β"/>
  <p:tag name="KSO_WM_SLIDE_LAYOUT_CNT" val="1_1_1"/>
  <p:tag name="KSO_WM_TEMPLATE_INDEX" val="20231278"/>
  <p:tag name="KSO_WM_TEMPLATE_SUBCATEGORY" val="0"/>
  <p:tag name="KSO_WM_SLIDE_INDEX" val="1"/>
  <p:tag name="KSO_WM_TAG_VERSION" val="3.0"/>
  <p:tag name="KSO_WM_SLIDE_ID" val="custom20231278_1"/>
  <p:tag name="KSO_WM_SLIDE_ITEM_CNT" val="1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1278_1*i*1"/>
  <p:tag name="KSO_WM_TEMPLATE_CATEGORY" val="custom"/>
  <p:tag name="KSO_WM_TEMPLATE_INDEX" val="20231278"/>
  <p:tag name="KSO_WM_UNIT_LAYERLEVEL" val="1"/>
  <p:tag name="KSO_WM_TAG_VERSION" val="3.0"/>
  <p:tag name="KSO_WM_BEAUTIFY_FLAG" val="#wm#"/>
</p:tagLst>
</file>

<file path=ppt/tags/tag16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PRESET_TEXT" val="单击此处添加标题"/>
  <p:tag name="KSO_WM_TEMPLATE_INDEX" val="20231278"/>
  <p:tag name="KSO_WM_UNIT_ID" val="custom20231278_1*a*1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1278_1*i*2"/>
  <p:tag name="KSO_WM_TEMPLATE_CATEGORY" val="custom"/>
  <p:tag name="KSO_WM_TEMPLATE_INDEX" val="20231278"/>
  <p:tag name="KSO_WM_UNIT_LAYERLEVEL" val="1"/>
  <p:tag name="KSO_WM_TAG_VERSION" val="3.0"/>
  <p:tag name="KSO_WM_BEAUTIFY_FLAG" val="#wm#"/>
</p:tagLst>
</file>

<file path=ppt/tags/tag162.xml><?xml version="1.0" encoding="utf-8"?>
<p:tagLst xmlns:p="http://schemas.openxmlformats.org/presentationml/2006/main">
  <p:tag name="KSO_WM_BEAUTIFY_FLAG" val="#wm#"/>
  <p:tag name="KSO_WM_TEMPLATE_CATEGORY" val="custom"/>
  <p:tag name="KSO_WM_SPECIAL_SOURCE" val="bdnull"/>
  <p:tag name="KSO_WM_TEMPLATE_MASTER_TYPE" val="0"/>
  <p:tag name="KSO_WM_TEMPLATE_COLOR_TYPE" val="0"/>
  <p:tag name="KSO_WM_SLIDE_TYPE" val="text"/>
  <p:tag name="KSO_WM_SLIDE_SUBTYPE" val="picTxt"/>
  <p:tag name="KSO_WM_SLIDE_SIZE" val="965*528"/>
  <p:tag name="KSO_WM_SLIDE_POSITION" val="18*41"/>
  <p:tag name="KSO_WM_SLIDE_LAYOUT" val="a_b_β"/>
  <p:tag name="KSO_WM_SLIDE_LAYOUT_CNT" val="1_1_1"/>
  <p:tag name="KSO_WM_TEMPLATE_INDEX" val="20231278"/>
  <p:tag name="KSO_WM_TEMPLATE_SUBCATEGORY" val="0"/>
  <p:tag name="KSO_WM_SLIDE_INDEX" val="1"/>
  <p:tag name="KSO_WM_TAG_VERSION" val="3.0"/>
  <p:tag name="KSO_WM_SLIDE_ID" val="custom20231278_1"/>
  <p:tag name="KSO_WM_SLIDE_ITEM_CNT" val="1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1278_1*i*1"/>
  <p:tag name="KSO_WM_TEMPLATE_CATEGORY" val="custom"/>
  <p:tag name="KSO_WM_TEMPLATE_INDEX" val="20231278"/>
  <p:tag name="KSO_WM_UNIT_LAYERLEVEL" val="1"/>
  <p:tag name="KSO_WM_TAG_VERSION" val="3.0"/>
  <p:tag name="KSO_WM_BEAUTIFY_FLAG" val="#wm#"/>
</p:tagLst>
</file>

<file path=ppt/tags/tag1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PRESET_TEXT" val="单击此处添加标题"/>
  <p:tag name="KSO_WM_TEMPLATE_INDEX" val="20231278"/>
  <p:tag name="KSO_WM_UNIT_ID" val="custom20231278_1*a*1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1278_1*i*2"/>
  <p:tag name="KSO_WM_TEMPLATE_CATEGORY" val="custom"/>
  <p:tag name="KSO_WM_TEMPLATE_INDEX" val="20231278"/>
  <p:tag name="KSO_WM_UNIT_LAYERLEVEL" val="1"/>
  <p:tag name="KSO_WM_TAG_VERSION" val="3.0"/>
  <p:tag name="KSO_WM_BEAUTIFY_FLAG" val="#wm#"/>
</p:tagLst>
</file>

<file path=ppt/tags/tag166.xml><?xml version="1.0" encoding="utf-8"?>
<p:tagLst xmlns:p="http://schemas.openxmlformats.org/presentationml/2006/main">
  <p:tag name="KSO_WM_BEAUTIFY_FLAG" val="#wm#"/>
  <p:tag name="KSO_WM_TEMPLATE_CATEGORY" val="custom"/>
  <p:tag name="KSO_WM_SPECIAL_SOURCE" val="bdnull"/>
  <p:tag name="KSO_WM_TEMPLATE_MASTER_TYPE" val="0"/>
  <p:tag name="KSO_WM_TEMPLATE_COLOR_TYPE" val="0"/>
  <p:tag name="KSO_WM_SLIDE_TYPE" val="text"/>
  <p:tag name="KSO_WM_SLIDE_SUBTYPE" val="picTxt"/>
  <p:tag name="KSO_WM_SLIDE_SIZE" val="965*528"/>
  <p:tag name="KSO_WM_SLIDE_POSITION" val="18*41"/>
  <p:tag name="KSO_WM_SLIDE_LAYOUT" val="a_b_β"/>
  <p:tag name="KSO_WM_SLIDE_LAYOUT_CNT" val="1_1_1"/>
  <p:tag name="KSO_WM_TEMPLATE_INDEX" val="20231278"/>
  <p:tag name="KSO_WM_TEMPLATE_SUBCATEGORY" val="0"/>
  <p:tag name="KSO_WM_SLIDE_INDEX" val="1"/>
  <p:tag name="KSO_WM_TAG_VERSION" val="3.0"/>
  <p:tag name="KSO_WM_SLIDE_ID" val="custom20231278_1"/>
  <p:tag name="KSO_WM_SLIDE_ITEM_CNT" val="1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1278_1*i*1"/>
  <p:tag name="KSO_WM_TEMPLATE_CATEGORY" val="custom"/>
  <p:tag name="KSO_WM_TEMPLATE_INDEX" val="20231278"/>
  <p:tag name="KSO_WM_UNIT_LAYERLEVEL" val="1"/>
  <p:tag name="KSO_WM_TAG_VERSION" val="3.0"/>
  <p:tag name="KSO_WM_BEAUTIFY_FLAG" val="#wm#"/>
</p:tagLst>
</file>

<file path=ppt/tags/tag16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PRESET_TEXT" val="单击此处添加标题"/>
  <p:tag name="KSO_WM_TEMPLATE_INDEX" val="20231278"/>
  <p:tag name="KSO_WM_UNIT_ID" val="custom20231278_1*a*1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1278_1*i*2"/>
  <p:tag name="KSO_WM_TEMPLATE_CATEGORY" val="custom"/>
  <p:tag name="KSO_WM_TEMPLATE_INDEX" val="20231278"/>
  <p:tag name="KSO_WM_UNIT_LAYERLEVEL" val="1"/>
  <p:tag name="KSO_WM_TAG_VERSION" val="3.0"/>
  <p:tag name="KSO_WM_BEAUTIFY_FLAG" val="#wm#"/>
</p:tagLst>
</file>

<file path=ppt/tags/tag170.xml><?xml version="1.0" encoding="utf-8"?>
<p:tagLst xmlns:p="http://schemas.openxmlformats.org/presentationml/2006/main">
  <p:tag name="KSO_WM_BEAUTIFY_FLAG" val="#wm#"/>
  <p:tag name="KSO_WM_TEMPLATE_CATEGORY" val="custom"/>
  <p:tag name="KSO_WM_SPECIAL_SOURCE" val="bdnull"/>
  <p:tag name="KSO_WM_TEMPLATE_MASTER_TYPE" val="0"/>
  <p:tag name="KSO_WM_TEMPLATE_COLOR_TYPE" val="0"/>
  <p:tag name="KSO_WM_SLIDE_TYPE" val="text"/>
  <p:tag name="KSO_WM_SLIDE_SUBTYPE" val="picTxt"/>
  <p:tag name="KSO_WM_SLIDE_SIZE" val="965*528"/>
  <p:tag name="KSO_WM_SLIDE_POSITION" val="18*41"/>
  <p:tag name="KSO_WM_SLIDE_LAYOUT" val="a_b_β"/>
  <p:tag name="KSO_WM_SLIDE_LAYOUT_CNT" val="1_1_1"/>
  <p:tag name="KSO_WM_TEMPLATE_INDEX" val="20231278"/>
  <p:tag name="KSO_WM_TEMPLATE_SUBCATEGORY" val="0"/>
  <p:tag name="KSO_WM_SLIDE_INDEX" val="1"/>
  <p:tag name="KSO_WM_TAG_VERSION" val="3.0"/>
  <p:tag name="KSO_WM_SLIDE_ID" val="custom20231278_1"/>
  <p:tag name="KSO_WM_SLIDE_ITEM_CNT" val="1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1278_1*i*1"/>
  <p:tag name="KSO_WM_TEMPLATE_CATEGORY" val="custom"/>
  <p:tag name="KSO_WM_TEMPLATE_INDEX" val="20231278"/>
  <p:tag name="KSO_WM_UNIT_LAYERLEVEL" val="1"/>
  <p:tag name="KSO_WM_TAG_VERSION" val="3.0"/>
  <p:tag name="KSO_WM_BEAUTIFY_FLAG" val="#wm#"/>
</p:tagLst>
</file>

<file path=ppt/tags/tag17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PRESET_TEXT" val="单击此处添加标题"/>
  <p:tag name="KSO_WM_TEMPLATE_INDEX" val="20231278"/>
  <p:tag name="KSO_WM_UNIT_ID" val="custom20231278_1*a*1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1278_1*i*2"/>
  <p:tag name="KSO_WM_TEMPLATE_CATEGORY" val="custom"/>
  <p:tag name="KSO_WM_TEMPLATE_INDEX" val="20231278"/>
  <p:tag name="KSO_WM_UNIT_LAYERLEVEL" val="1"/>
  <p:tag name="KSO_WM_TAG_VERSION" val="3.0"/>
  <p:tag name="KSO_WM_BEAUTIFY_FLAG" val="#wm#"/>
</p:tagLst>
</file>

<file path=ppt/tags/tag174.xml><?xml version="1.0" encoding="utf-8"?>
<p:tagLst xmlns:p="http://schemas.openxmlformats.org/presentationml/2006/main">
  <p:tag name="KSO_WM_BEAUTIFY_FLAG" val="#wm#"/>
  <p:tag name="KSO_WM_TEMPLATE_CATEGORY" val="custom"/>
  <p:tag name="KSO_WM_SPECIAL_SOURCE" val="bdnull"/>
  <p:tag name="KSO_WM_TEMPLATE_MASTER_TYPE" val="0"/>
  <p:tag name="KSO_WM_TEMPLATE_COLOR_TYPE" val="0"/>
  <p:tag name="KSO_WM_SLIDE_TYPE" val="text"/>
  <p:tag name="KSO_WM_SLIDE_SUBTYPE" val="picTxt"/>
  <p:tag name="KSO_WM_SLIDE_SIZE" val="965*528"/>
  <p:tag name="KSO_WM_SLIDE_POSITION" val="18*41"/>
  <p:tag name="KSO_WM_SLIDE_LAYOUT" val="a_b_β"/>
  <p:tag name="KSO_WM_SLIDE_LAYOUT_CNT" val="1_1_1"/>
  <p:tag name="KSO_WM_TEMPLATE_INDEX" val="20231278"/>
  <p:tag name="KSO_WM_TEMPLATE_SUBCATEGORY" val="0"/>
  <p:tag name="KSO_WM_SLIDE_INDEX" val="1"/>
  <p:tag name="KSO_WM_TAG_VERSION" val="3.0"/>
  <p:tag name="KSO_WM_SLIDE_ID" val="custom20231278_1"/>
  <p:tag name="KSO_WM_SLIDE_ITEM_CNT" val="1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1819_7*a*1"/>
  <p:tag name="KSO_WM_TEMPLATE_CATEGORY" val="custom"/>
  <p:tag name="KSO_WM_TEMPLATE_INDEX" val="2023181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添加章节标题"/>
</p:tagLst>
</file>

<file path=ppt/tags/tag176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1819_7*e*1"/>
  <p:tag name="KSO_WM_TEMPLATE_CATEGORY" val="custom"/>
  <p:tag name="KSO_WM_TEMPLATE_INDEX" val="20231819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  <p:tag name="KSO_WM_UNIT_PRESET_TEXT" val="第一章"/>
</p:tagLst>
</file>

<file path=ppt/tags/tag177.xml><?xml version="1.0" encoding="utf-8"?>
<p:tagLst xmlns:p="http://schemas.openxmlformats.org/presentationml/2006/main">
  <p:tag name="KSO_WM_SLIDE_ID" val="custom20231819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1819"/>
  <p:tag name="KSO_WM_SLIDE_TYPE" val="sectionTitle"/>
  <p:tag name="KSO_WM_SLIDE_SUBTYPE" val="pureTxt"/>
  <p:tag name="KSO_WM_SLIDE_LAYOUT" val="a_e"/>
  <p:tag name="KSO_WM_SLIDE_LAYOUT_CNT" val="1_1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1278_1*i*1"/>
  <p:tag name="KSO_WM_TEMPLATE_CATEGORY" val="custom"/>
  <p:tag name="KSO_WM_TEMPLATE_INDEX" val="20231278"/>
  <p:tag name="KSO_WM_UNIT_LAYERLEVEL" val="1"/>
  <p:tag name="KSO_WM_TAG_VERSION" val="3.0"/>
  <p:tag name="KSO_WM_BEAUTIFY_FLAG" val="#wm#"/>
</p:tagLst>
</file>

<file path=ppt/tags/tag17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PRESET_TEXT" val="单击此处添加标题"/>
  <p:tag name="KSO_WM_TEMPLATE_INDEX" val="20231278"/>
  <p:tag name="KSO_WM_UNIT_ID" val="custom20231278_1*a*1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1278_1*i*2"/>
  <p:tag name="KSO_WM_TEMPLATE_CATEGORY" val="custom"/>
  <p:tag name="KSO_WM_TEMPLATE_INDEX" val="20231278"/>
  <p:tag name="KSO_WM_UNIT_LAYERLEVEL" val="1"/>
  <p:tag name="KSO_WM_TAG_VERSION" val="3.0"/>
  <p:tag name="KSO_WM_BEAUTIFY_FLAG" val="#wm#"/>
</p:tagLst>
</file>

<file path=ppt/tags/tag181.xml><?xml version="1.0" encoding="utf-8"?>
<p:tagLst xmlns:p="http://schemas.openxmlformats.org/presentationml/2006/main">
  <p:tag name="KSO_WM_BEAUTIFY_FLAG" val="#wm#"/>
  <p:tag name="KSO_WM_TEMPLATE_CATEGORY" val="custom"/>
  <p:tag name="KSO_WM_SPECIAL_SOURCE" val="bdnull"/>
  <p:tag name="KSO_WM_TEMPLATE_MASTER_TYPE" val="0"/>
  <p:tag name="KSO_WM_TEMPLATE_COLOR_TYPE" val="0"/>
  <p:tag name="KSO_WM_SLIDE_TYPE" val="text"/>
  <p:tag name="KSO_WM_SLIDE_SUBTYPE" val="picTxt"/>
  <p:tag name="KSO_WM_SLIDE_SIZE" val="965*528"/>
  <p:tag name="KSO_WM_SLIDE_POSITION" val="18*41"/>
  <p:tag name="KSO_WM_SLIDE_LAYOUT" val="a_b_β"/>
  <p:tag name="KSO_WM_SLIDE_LAYOUT_CNT" val="1_1_1"/>
  <p:tag name="KSO_WM_TEMPLATE_INDEX" val="20231278"/>
  <p:tag name="KSO_WM_TEMPLATE_SUBCATEGORY" val="0"/>
  <p:tag name="KSO_WM_SLIDE_INDEX" val="1"/>
  <p:tag name="KSO_WM_TAG_VERSION" val="3.0"/>
  <p:tag name="KSO_WM_SLIDE_ID" val="custom20231278_1"/>
  <p:tag name="KSO_WM_SLIDE_ITEM_CNT" val="1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1278_1*i*1"/>
  <p:tag name="KSO_WM_TEMPLATE_CATEGORY" val="custom"/>
  <p:tag name="KSO_WM_TEMPLATE_INDEX" val="20231278"/>
  <p:tag name="KSO_WM_UNIT_LAYERLEVEL" val="1"/>
  <p:tag name="KSO_WM_TAG_VERSION" val="3.0"/>
  <p:tag name="KSO_WM_BEAUTIFY_FLAG" val="#wm#"/>
</p:tagLst>
</file>

<file path=ppt/tags/tag18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PRESET_TEXT" val="单击此处添加标题"/>
  <p:tag name="KSO_WM_TEMPLATE_INDEX" val="20231278"/>
  <p:tag name="KSO_WM_UNIT_ID" val="custom20231278_1*a*1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1278_1*i*2"/>
  <p:tag name="KSO_WM_TEMPLATE_CATEGORY" val="custom"/>
  <p:tag name="KSO_WM_TEMPLATE_INDEX" val="20231278"/>
  <p:tag name="KSO_WM_UNIT_LAYERLEVEL" val="1"/>
  <p:tag name="KSO_WM_TAG_VERSION" val="3.0"/>
  <p:tag name="KSO_WM_BEAUTIFY_FLAG" val="#wm#"/>
</p:tagLst>
</file>

<file path=ppt/tags/tag185.xml><?xml version="1.0" encoding="utf-8"?>
<p:tagLst xmlns:p="http://schemas.openxmlformats.org/presentationml/2006/main">
  <p:tag name="KSO_WM_BEAUTIFY_FLAG" val="#wm#"/>
  <p:tag name="KSO_WM_TEMPLATE_CATEGORY" val="custom"/>
  <p:tag name="KSO_WM_SPECIAL_SOURCE" val="bdnull"/>
  <p:tag name="KSO_WM_TEMPLATE_MASTER_TYPE" val="0"/>
  <p:tag name="KSO_WM_TEMPLATE_COLOR_TYPE" val="0"/>
  <p:tag name="KSO_WM_SLIDE_TYPE" val="text"/>
  <p:tag name="KSO_WM_SLIDE_SUBTYPE" val="picTxt"/>
  <p:tag name="KSO_WM_SLIDE_SIZE" val="965*528"/>
  <p:tag name="KSO_WM_SLIDE_POSITION" val="18*41"/>
  <p:tag name="KSO_WM_SLIDE_LAYOUT" val="a_b_β"/>
  <p:tag name="KSO_WM_SLIDE_LAYOUT_CNT" val="1_1_1"/>
  <p:tag name="KSO_WM_TEMPLATE_INDEX" val="20231278"/>
  <p:tag name="KSO_WM_TEMPLATE_SUBCATEGORY" val="0"/>
  <p:tag name="KSO_WM_SLIDE_INDEX" val="1"/>
  <p:tag name="KSO_WM_TAG_VERSION" val="3.0"/>
  <p:tag name="KSO_WM_SLIDE_ID" val="custom20231278_1"/>
  <p:tag name="KSO_WM_SLIDE_ITEM_CNT" val="1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1278_1*i*1"/>
  <p:tag name="KSO_WM_TEMPLATE_CATEGORY" val="custom"/>
  <p:tag name="KSO_WM_TEMPLATE_INDEX" val="20231278"/>
  <p:tag name="KSO_WM_UNIT_LAYERLEVEL" val="1"/>
  <p:tag name="KSO_WM_TAG_VERSION" val="3.0"/>
  <p:tag name="KSO_WM_BEAUTIFY_FLAG" val="#wm#"/>
</p:tagLst>
</file>

<file path=ppt/tags/tag18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PRESET_TEXT" val="单击此处添加标题"/>
  <p:tag name="KSO_WM_TEMPLATE_INDEX" val="20231278"/>
  <p:tag name="KSO_WM_UNIT_ID" val="custom20231278_1*a*1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1278_1*i*2"/>
  <p:tag name="KSO_WM_TEMPLATE_CATEGORY" val="custom"/>
  <p:tag name="KSO_WM_TEMPLATE_INDEX" val="20231278"/>
  <p:tag name="KSO_WM_UNIT_LAYERLEVEL" val="1"/>
  <p:tag name="KSO_WM_TAG_VERSION" val="3.0"/>
  <p:tag name="KSO_WM_BEAUTIFY_FLAG" val="#wm#"/>
</p:tagLst>
</file>

<file path=ppt/tags/tag189.xml><?xml version="1.0" encoding="utf-8"?>
<p:tagLst xmlns:p="http://schemas.openxmlformats.org/presentationml/2006/main">
  <p:tag name="KSO_WM_BEAUTIFY_FLAG" val="#wm#"/>
  <p:tag name="KSO_WM_TEMPLATE_CATEGORY" val="custom"/>
  <p:tag name="KSO_WM_SPECIAL_SOURCE" val="bdnull"/>
  <p:tag name="KSO_WM_TEMPLATE_MASTER_TYPE" val="0"/>
  <p:tag name="KSO_WM_TEMPLATE_COLOR_TYPE" val="0"/>
  <p:tag name="KSO_WM_SLIDE_TYPE" val="text"/>
  <p:tag name="KSO_WM_SLIDE_SUBTYPE" val="picTxt"/>
  <p:tag name="KSO_WM_SLIDE_SIZE" val="965*528"/>
  <p:tag name="KSO_WM_SLIDE_POSITION" val="18*41"/>
  <p:tag name="KSO_WM_SLIDE_LAYOUT" val="a_b_β"/>
  <p:tag name="KSO_WM_SLIDE_LAYOUT_CNT" val="1_1_1"/>
  <p:tag name="KSO_WM_TEMPLATE_INDEX" val="20231278"/>
  <p:tag name="KSO_WM_TEMPLATE_SUBCATEGORY" val="0"/>
  <p:tag name="KSO_WM_SLIDE_INDEX" val="1"/>
  <p:tag name="KSO_WM_TAG_VERSION" val="3.0"/>
  <p:tag name="KSO_WM_SLIDE_ID" val="custom20231278_1"/>
  <p:tag name="KSO_WM_SLIDE_ITEM_CNT" val="1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1278_1*i*1"/>
  <p:tag name="KSO_WM_TEMPLATE_CATEGORY" val="custom"/>
  <p:tag name="KSO_WM_TEMPLATE_INDEX" val="20231278"/>
  <p:tag name="KSO_WM_UNIT_LAYERLEVEL" val="1"/>
  <p:tag name="KSO_WM_TAG_VERSION" val="3.0"/>
  <p:tag name="KSO_WM_BEAUTIFY_FLAG" val="#wm#"/>
</p:tagLst>
</file>

<file path=ppt/tags/tag19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PRESET_TEXT" val="单击此处添加标题"/>
  <p:tag name="KSO_WM_TEMPLATE_INDEX" val="20231278"/>
  <p:tag name="KSO_WM_UNIT_ID" val="custom20231278_1*a*1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1278_1*i*2"/>
  <p:tag name="KSO_WM_TEMPLATE_CATEGORY" val="custom"/>
  <p:tag name="KSO_WM_TEMPLATE_INDEX" val="20231278"/>
  <p:tag name="KSO_WM_UNIT_LAYERLEVEL" val="1"/>
  <p:tag name="KSO_WM_TAG_VERSION" val="3.0"/>
  <p:tag name="KSO_WM_BEAUTIFY_FLAG" val="#wm#"/>
</p:tagLst>
</file>

<file path=ppt/tags/tag193.xml><?xml version="1.0" encoding="utf-8"?>
<p:tagLst xmlns:p="http://schemas.openxmlformats.org/presentationml/2006/main">
  <p:tag name="KSO_WM_BEAUTIFY_FLAG" val="#wm#"/>
  <p:tag name="KSO_WM_TEMPLATE_CATEGORY" val="custom"/>
  <p:tag name="KSO_WM_SPECIAL_SOURCE" val="bdnull"/>
  <p:tag name="KSO_WM_TEMPLATE_MASTER_TYPE" val="0"/>
  <p:tag name="KSO_WM_TEMPLATE_COLOR_TYPE" val="0"/>
  <p:tag name="KSO_WM_SLIDE_TYPE" val="text"/>
  <p:tag name="KSO_WM_SLIDE_SUBTYPE" val="picTxt"/>
  <p:tag name="KSO_WM_SLIDE_SIZE" val="965*528"/>
  <p:tag name="KSO_WM_SLIDE_POSITION" val="18*41"/>
  <p:tag name="KSO_WM_SLIDE_LAYOUT" val="a_b_β"/>
  <p:tag name="KSO_WM_SLIDE_LAYOUT_CNT" val="1_1_1"/>
  <p:tag name="KSO_WM_TEMPLATE_INDEX" val="20231278"/>
  <p:tag name="KSO_WM_TEMPLATE_SUBCATEGORY" val="0"/>
  <p:tag name="KSO_WM_SLIDE_INDEX" val="1"/>
  <p:tag name="KSO_WM_TAG_VERSION" val="3.0"/>
  <p:tag name="KSO_WM_SLIDE_ID" val="custom20231278_1"/>
  <p:tag name="KSO_WM_SLIDE_ITEM_CNT" val="1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1819_9*a*1"/>
  <p:tag name="KSO_WM_TEMPLATE_CATEGORY" val="custom"/>
  <p:tag name="KSO_WM_TEMPLATE_INDEX" val="2023181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1"/>
  <p:tag name="KSO_WM_UNIT_TYPE" val="a"/>
  <p:tag name="KSO_WM_UNIT_INDEX" val="1"/>
  <p:tag name="KSO_WM_UNIT_PRESET_TEXT" val="感谢观看"/>
</p:tagLst>
</file>

<file path=ppt/tags/tag195.xml><?xml version="1.0" encoding="utf-8"?>
<p:tagLst xmlns:p="http://schemas.openxmlformats.org/presentationml/2006/main">
  <p:tag name="KSO_WM_SLIDE_ID" val="custom20231819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1819"/>
  <p:tag name="KSO_WM_SLIDE_TYPE" val="endPage"/>
  <p:tag name="KSO_WM_SLIDE_SUBTYPE" val="pureTxt"/>
  <p:tag name="KSO_WM_SLIDE_LAYOUT" val="a_f"/>
  <p:tag name="KSO_WM_SLIDE_LAYOUT_CNT" val="1_1"/>
</p:tagLst>
</file>

<file path=ppt/tags/tag196.xml><?xml version="1.0" encoding="utf-8"?>
<p:tagLst xmlns:p="http://schemas.openxmlformats.org/presentationml/2006/main">
  <p:tag name="COMMONDATA" val="eyJoZGlkIjoiYzIyOTIxZTlhMmQ5NWViN2E5MTk3YTZmZTA1NTdhYzEifQ=="/>
  <p:tag name="commondata" val="eyJoZGlkIjoiODViZmQwYjNiY2EwYTI4N2Q2NWRiMDE2MDM0MTU1YzIifQ=="/>
</p:tagLst>
</file>

<file path=ppt/theme/theme1.xml><?xml version="1.0" encoding="utf-8"?>
<a:theme xmlns:a="http://schemas.openxmlformats.org/drawingml/2006/main" name="Office 主题​​">
  <a:themeElements>
    <a:clrScheme name="自定义 2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3A6584"/>
      </a:accent1>
      <a:accent2>
        <a:srgbClr val="4A90CA"/>
      </a:accent2>
      <a:accent3>
        <a:srgbClr val="438795"/>
      </a:accent3>
      <a:accent4>
        <a:srgbClr val="6084C3"/>
      </a:accent4>
      <a:accent5>
        <a:srgbClr val="BDAE60"/>
      </a:accent5>
      <a:accent6>
        <a:srgbClr val="557B7E"/>
      </a:accent6>
      <a:hlink>
        <a:srgbClr val="304FFE"/>
      </a:hlink>
      <a:folHlink>
        <a:srgbClr val="492067"/>
      </a:folHlink>
    </a:clrScheme>
    <a:fontScheme name="locu1nmn">
      <a:majorFont>
        <a:latin typeface="思源宋体 CN ExtraLight"/>
        <a:ea typeface="思源宋体 CN"/>
        <a:cs typeface=""/>
      </a:majorFont>
      <a:minorFont>
        <a:latin typeface="思源宋体 CN ExtraLight"/>
        <a:ea typeface="思源宋体 C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7573</Words>
  <Application>WPS 演示</Application>
  <PresentationFormat>宽屏</PresentationFormat>
  <Paragraphs>377</Paragraphs>
  <Slides>37</Slides>
  <Notes>40</Notes>
  <HiddenSlides>0</HiddenSlides>
  <MMClips>0</MMClips>
  <ScaleCrop>false</ScaleCrop>
  <HeadingPairs>
    <vt:vector size="8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63" baseType="lpstr">
      <vt:lpstr>Arial</vt:lpstr>
      <vt:lpstr>宋体</vt:lpstr>
      <vt:lpstr>Wingdings</vt:lpstr>
      <vt:lpstr>华文新魏</vt:lpstr>
      <vt:lpstr>思源宋体 CN ExtraLight</vt:lpstr>
      <vt:lpstr>思源宋体 CN</vt:lpstr>
      <vt:lpstr>微软雅黑</vt:lpstr>
      <vt:lpstr>Arial Unicode MS</vt:lpstr>
      <vt:lpstr>等线</vt:lpstr>
      <vt:lpstr>方正宋刻本秀楷简体</vt:lpstr>
      <vt:lpstr>SF UI Display Thin</vt:lpstr>
      <vt:lpstr>Segoe Print</vt:lpstr>
      <vt:lpstr>隶书</vt:lpstr>
      <vt:lpstr>Inter</vt:lpstr>
      <vt:lpstr>华康行楷体 W5</vt:lpstr>
      <vt:lpstr>方正小标宋简体</vt:lpstr>
      <vt:lpstr>华文中宋</vt:lpstr>
      <vt:lpstr>黑体</vt:lpstr>
      <vt:lpstr>Wingdings</vt:lpstr>
      <vt:lpstr>仿宋</vt:lpstr>
      <vt:lpstr>Calibri</vt:lpstr>
      <vt:lpstr>Alibaba PuHuiTi</vt:lpstr>
      <vt:lpstr>quote-cjk-patch</vt:lpstr>
      <vt:lpstr>Consolas</vt:lpstr>
      <vt:lpstr>Office 主题​​</vt:lpstr>
      <vt:lpstr>Visio.Drawing.15</vt:lpstr>
      <vt:lpstr>Multi-Database Real-time Synchronization System DataSyncHub  多数据库实时同步系统</vt:lpstr>
      <vt:lpstr>目录</vt:lpstr>
      <vt:lpstr>节目背景与定位</vt:lpstr>
      <vt:lpstr>节目背景</vt:lpstr>
      <vt:lpstr>节目定位</vt:lpstr>
      <vt:lpstr>形式创新分析                 ——如何打破古今的时空壁垒？</vt:lpstr>
      <vt:lpstr>传统文化传播困境</vt:lpstr>
      <vt:lpstr>戏剧+影视化：让典籍故事从文字符号转为视听实景</vt:lpstr>
      <vt:lpstr>演绎前品析——“嘉宾访谈”</vt:lpstr>
      <vt:lpstr>内容与叙事策略</vt:lpstr>
      <vt:lpstr>选择什么样的典籍故事？</vt:lpstr>
      <vt:lpstr>叙事框架：一条主线串联古今文脉</vt:lpstr>
      <vt:lpstr>情感共鸣：以守护与传承的故事触动人心</vt:lpstr>
      <vt:lpstr>视觉与艺术特色</vt:lpstr>
      <vt:lpstr>视觉盛宴</vt:lpstr>
      <vt:lpstr>视觉艺术如何实现“典籍文化的符号转译”与“沉浸式体验的双重落地”？</vt:lpstr>
      <vt:lpstr>Datax进行多数据库同步的原理</vt:lpstr>
      <vt:lpstr>如何实现Datax的多数库同步</vt:lpstr>
      <vt:lpstr>如何实现Datax的多数库同步</vt:lpstr>
      <vt:lpstr>如何实现Datax的多数库同步</vt:lpstr>
      <vt:lpstr>如何实现Datax的多数库同步</vt:lpstr>
      <vt:lpstr>如何实现Datax的多数库同步</vt:lpstr>
      <vt:lpstr>如何实现Datax的多数库同步</vt:lpstr>
      <vt:lpstr>传播效果与文化影响 ——节目获得了怎样的认可？</vt:lpstr>
      <vt:lpstr>传播效果与文化影响</vt:lpstr>
      <vt:lpstr>1.手动进行数据实时同步</vt:lpstr>
      <vt:lpstr>2.实时进行数据同步</vt:lpstr>
      <vt:lpstr>2.实时进行数据同步</vt:lpstr>
      <vt:lpstr>3.冲突处理</vt:lpstr>
      <vt:lpstr>3.冲突处理</vt:lpstr>
      <vt:lpstr>3.冲突处理</vt:lpstr>
      <vt:lpstr>总结与思考</vt:lpstr>
      <vt:lpstr>从《典籍里的中国》看文化传承的“破圈”之道</vt:lpstr>
      <vt:lpstr>1.docker部署</vt:lpstr>
      <vt:lpstr>古今对话间，典籍焕新生</vt:lpstr>
      <vt:lpstr>2.多数据库同步</vt:lpstr>
      <vt:lpstr>感谢观看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Paryi</cp:lastModifiedBy>
  <cp:revision>180</cp:revision>
  <dcterms:created xsi:type="dcterms:W3CDTF">2019-06-19T02:08:00Z</dcterms:created>
  <dcterms:modified xsi:type="dcterms:W3CDTF">2026-01-08T14:10:12Z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F1044891DAC6474E8A73CEA3069A850C_13</vt:lpwstr>
  </property>
  <property fmtid="{D5CDD505-2E9C-101B-9397-08002B2CF9AE}" pid="4" name="KSOTemplateUUID">
    <vt:lpwstr>v1.0_mb_oS0bOqYSjNntQogW9BZyFw==</vt:lpwstr>
  </property>
</Properties>
</file>